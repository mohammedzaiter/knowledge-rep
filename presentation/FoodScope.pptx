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2.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4BB05BE-E82C-CB6C-90AF-E5F8C50D7528}">
          <p14:sldIdLst>
            <p14:sldId id="256"/>
          </p14:sldIdLst>
        </p14:section>
        <p14:section name="Overview" id="{36D0652F-F2B4-7768-28CE-65C97889664D}">
          <p14:sldIdLst>
            <p14:sldId id="257"/>
          </p14:sldIdLst>
        </p14:section>
        <p14:section name="1 Problem and scope" id="{B23D2013-6032-935D-FF64-BC7571CEA66C}">
          <p14:sldIdLst>
            <p14:sldId id="258"/>
          </p14:sldIdLst>
        </p14:section>
        <p14:section name="2 Data and constraints" id="{324AB812-DAA6-2D41-DCE5-AD1680056DC1}">
          <p14:sldIdLst>
            <p14:sldId id="259"/>
          </p14:sldIdLst>
        </p14:section>
        <p14:section name="3 Ontology" id="{6E62B4B3-9D30-ABA9-B52B-73367E35A0E7}">
          <p14:sldIdLst>
            <p14:sldId id="260"/>
          </p14:sldIdLst>
        </p14:section>
        <p14:section name="4 Validation" id="{8DE290ED-49F6-0F08-0D2E-69E5A430F1E5}">
          <p14:sldIdLst>
            <p14:sldId id="261"/>
          </p14:sldIdLst>
        </p14:section>
        <p14:section name="5 Integration" id="{E54F3D6D-21B6-9A49-37AE-CD4A5F1AE9B6}">
          <p14:sldIdLst>
            <p14:sldId id="262"/>
          </p14:sldIdLst>
        </p14:section>
        <p14:section name="6 Learning" id="{D096BEFA-BA93-3385-94FC-E600A2C5628D}">
          <p14:sldIdLst>
            <p14:sldId id="263"/>
          </p14:sldIdLst>
        </p14:section>
        <p14:section name="7 Access layer" id="{813FA7AC-9357-7BA3-9920-4D1FC56427D3}">
          <p14:sldIdLst>
            <p14:sldId id="264"/>
          </p14:sldIdLst>
        </p14:section>
        <p14:section name="8 Deployment" id="{F8ACF7EA-B2B3-1A23-7435-CB11B0B6BBEA}">
          <p14:sldIdLst>
            <p14:sldId id="265"/>
          </p14:sldIdLst>
        </p14:section>
        <p14:section name="9 Open problem" id="{A06A0D32-FCF0-EBA5-02B0-FFA64960F805}">
          <p14:sldIdLst>
            <p14:sldId id="266"/>
          </p14:sldIdLst>
        </p14:section>
        <p14:section name="Closing" id="{A0FB85CB-CD30-1C41-A80B-46723D1D3206}">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10"/>
  </p:normalViewPr>
  <p:slideViewPr>
    <p:cSldViewPr snapToGrid="0" snapToObjects="1">
      <p:cViewPr varScale="1">
        <p:scale>
          <a:sx n="150" d="100"/>
          <a:sy n="150" d="100"/>
        </p:scale>
        <p:origin x="65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500" b="0" i="0" u="none" strike="noStrike">
                <a:solidFill>
                  <a:srgbClr val="1F4D3A"/>
                </a:solidFill>
                <a:latin typeface="+mn-lt"/>
              </a:defRPr>
            </a:pPr>
            <a:r>
              <a:rPr lang="en-US" sz="1500" b="0" i="0" u="none" strike="noStrike">
                <a:solidFill>
                  <a:srgbClr val="1F4D3A"/>
                </a:solidFill>
                <a:latin typeface="+mn-lt"/>
              </a:rPr>
              <a:t>Foods with no value, by nutrient (of 358)</a:t>
            </a:r>
          </a:p>
        </c:rich>
      </c:tx>
      <c:overlay val="0"/>
    </c:title>
    <c:autoTitleDeleted val="0"/>
    <c:plotArea>
      <c:layout/>
      <c:barChart>
        <c:barDir val="bar"/>
        <c:grouping val="clustered"/>
        <c:varyColors val="0"/>
        <c:ser>
          <c:idx val="0"/>
          <c:order val="0"/>
          <c:tx>
            <c:strRef>
              <c:f>Sheet1!$B$1</c:f>
              <c:strCache>
                <c:ptCount val="1"/>
                <c:pt idx="0">
                  <c:v>Foods with no value</c:v>
                </c:pt>
              </c:strCache>
            </c:strRef>
          </c:tx>
          <c:spPr>
            <a:solidFill>
              <a:srgbClr val="F2994A"/>
            </a:solidFill>
            <a:effectLst/>
          </c:spPr>
          <c:invertIfNegative val="0"/>
          <c:dLbls>
            <c:numFmt formatCode="#,##0" sourceLinked="0"/>
            <c:spPr>
              <a:noFill/>
              <a:ln>
                <a:noFill/>
              </a:ln>
              <a:effectLst/>
            </c:spPr>
            <c:txPr>
              <a:bodyPr/>
              <a:lstStyle/>
              <a:p>
                <a:pPr>
                  <a:defRPr sz="1300" b="0" i="0" u="none" strike="noStrike">
                    <a:solidFill>
                      <a:srgbClr val="1B2A22"/>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sugars</c:v>
                </c:pt>
                <c:pt idx="1">
                  <c:v>fiber</c:v>
                </c:pt>
                <c:pt idx="2">
                  <c:v>sodium</c:v>
                </c:pt>
                <c:pt idx="3">
                  <c:v>carbohydrate</c:v>
                </c:pt>
                <c:pt idx="4">
                  <c:v>protein</c:v>
                </c:pt>
                <c:pt idx="5">
                  <c:v>fat</c:v>
                </c:pt>
              </c:strCache>
            </c:strRef>
          </c:cat>
          <c:val>
            <c:numRef>
              <c:f>Sheet1!$B$2:$B$7</c:f>
              <c:numCache>
                <c:formatCode>General</c:formatCode>
                <c:ptCount val="6"/>
                <c:pt idx="0">
                  <c:v>353</c:v>
                </c:pt>
                <c:pt idx="1">
                  <c:v>177</c:v>
                </c:pt>
                <c:pt idx="2">
                  <c:v>49</c:v>
                </c:pt>
                <c:pt idx="3">
                  <c:v>48</c:v>
                </c:pt>
                <c:pt idx="4">
                  <c:v>12</c:v>
                </c:pt>
                <c:pt idx="5">
                  <c:v>10</c:v>
                </c:pt>
              </c:numCache>
            </c:numRef>
          </c:val>
          <c:extLst>
            <c:ext xmlns:c16="http://schemas.microsoft.com/office/drawing/2014/chart" uri="{C3380CC4-5D6E-409C-BE32-E72D297353CC}">
              <c16:uniqueId val="{00000000-87E6-4108-9BFF-92EBFF4F3073}"/>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B2A22"/>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500" b="0" i="0" u="none" strike="noStrike">
                <a:solidFill>
                  <a:srgbClr val="1F4D3A"/>
                </a:solidFill>
                <a:latin typeface="+mn-lt"/>
              </a:defRPr>
            </a:pPr>
            <a:r>
              <a:rPr lang="en-US" sz="1500" b="0" i="0" u="none" strike="noStrike">
                <a:solidFill>
                  <a:srgbClr val="1F4D3A"/>
                </a:solidFill>
                <a:latin typeface="+mn-lt"/>
              </a:rPr>
              <a:t>Is a food high in fat? PR-AUC, split by category</a:t>
            </a:r>
          </a:p>
        </c:rich>
      </c:tx>
      <c:overlay val="0"/>
    </c:title>
    <c:autoTitleDeleted val="0"/>
    <c:plotArea>
      <c:layout/>
      <c:barChart>
        <c:barDir val="col"/>
        <c:grouping val="clustered"/>
        <c:varyColors val="0"/>
        <c:ser>
          <c:idx val="0"/>
          <c:order val="0"/>
          <c:tx>
            <c:strRef>
              <c:f>Sheet1!$B$1</c:f>
              <c:strCache>
                <c:ptCount val="1"/>
                <c:pt idx="0">
                  <c:v>Logistic regression</c:v>
                </c:pt>
              </c:strCache>
            </c:strRef>
          </c:tx>
          <c:spPr>
            <a:solidFill>
              <a:srgbClr val="5E6E66"/>
            </a:solidFill>
            <a:effectLst/>
          </c:spPr>
          <c:invertIfNegative val="0"/>
          <c:dLbls>
            <c:numFmt formatCode="0.00" sourceLinked="0"/>
            <c:spPr>
              <a:noFill/>
              <a:ln>
                <a:noFill/>
              </a:ln>
              <a:effectLst/>
            </c:spPr>
            <c:txPr>
              <a:bodyPr/>
              <a:lstStyle/>
              <a:p>
                <a:pPr>
                  <a:defRPr sz="1200" b="0" i="0" u="none" strike="noStrike">
                    <a:solidFill>
                      <a:srgbClr val="1B2A22"/>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seed 0</c:v>
                </c:pt>
                <c:pt idx="1">
                  <c:v>seed 1</c:v>
                </c:pt>
                <c:pt idx="2">
                  <c:v>seed 3</c:v>
                </c:pt>
                <c:pt idx="3">
                  <c:v>seed 4</c:v>
                </c:pt>
              </c:strCache>
            </c:strRef>
          </c:cat>
          <c:val>
            <c:numRef>
              <c:f>Sheet1!$B$2:$B$5</c:f>
              <c:numCache>
                <c:formatCode>General</c:formatCode>
                <c:ptCount val="4"/>
                <c:pt idx="0">
                  <c:v>0.16300000000000001</c:v>
                </c:pt>
                <c:pt idx="1">
                  <c:v>0.52300000000000002</c:v>
                </c:pt>
                <c:pt idx="2">
                  <c:v>0.129</c:v>
                </c:pt>
                <c:pt idx="3">
                  <c:v>0.754</c:v>
                </c:pt>
              </c:numCache>
            </c:numRef>
          </c:val>
          <c:extLst>
            <c:ext xmlns:c16="http://schemas.microsoft.com/office/drawing/2014/chart" uri="{C3380CC4-5D6E-409C-BE32-E72D297353CC}">
              <c16:uniqueId val="{00000000-73F4-4E53-BA23-080C8E6D85B4}"/>
            </c:ext>
          </c:extLst>
        </c:ser>
        <c:ser>
          <c:idx val="1"/>
          <c:order val="1"/>
          <c:tx>
            <c:strRef>
              <c:f>Sheet1!$C$1</c:f>
              <c:strCache>
                <c:ptCount val="1"/>
                <c:pt idx="0">
                  <c:v>GraphSAGE</c:v>
                </c:pt>
              </c:strCache>
            </c:strRef>
          </c:tx>
          <c:spPr>
            <a:solidFill>
              <a:srgbClr val="2E7D57"/>
            </a:solidFill>
            <a:effectLst/>
          </c:spPr>
          <c:invertIfNegative val="0"/>
          <c:dLbls>
            <c:numFmt formatCode="0.00" sourceLinked="0"/>
            <c:spPr>
              <a:noFill/>
              <a:ln>
                <a:noFill/>
              </a:ln>
              <a:effectLst/>
            </c:spPr>
            <c:txPr>
              <a:bodyPr/>
              <a:lstStyle/>
              <a:p>
                <a:pPr>
                  <a:defRPr sz="1200" b="0" i="0" u="none" strike="noStrike">
                    <a:solidFill>
                      <a:srgbClr val="1B2A22"/>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seed 0</c:v>
                </c:pt>
                <c:pt idx="1">
                  <c:v>seed 1</c:v>
                </c:pt>
                <c:pt idx="2">
                  <c:v>seed 3</c:v>
                </c:pt>
                <c:pt idx="3">
                  <c:v>seed 4</c:v>
                </c:pt>
              </c:strCache>
            </c:strRef>
          </c:cat>
          <c:val>
            <c:numRef>
              <c:f>Sheet1!$C$2:$C$5</c:f>
              <c:numCache>
                <c:formatCode>General</c:formatCode>
                <c:ptCount val="4"/>
                <c:pt idx="0">
                  <c:v>0.16300000000000001</c:v>
                </c:pt>
                <c:pt idx="1">
                  <c:v>0.86699999999999999</c:v>
                </c:pt>
                <c:pt idx="2">
                  <c:v>0.09</c:v>
                </c:pt>
                <c:pt idx="3">
                  <c:v>0.64100000000000001</c:v>
                </c:pt>
              </c:numCache>
            </c:numRef>
          </c:val>
          <c:extLst>
            <c:ext xmlns:c16="http://schemas.microsoft.com/office/drawing/2014/chart" uri="{C3380CC4-5D6E-409C-BE32-E72D297353CC}">
              <c16:uniqueId val="{00000001-73F4-4E53-BA23-080C8E6D85B4}"/>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B2A22"/>
                </a:solidFill>
                <a:latin typeface="+mn-lt"/>
              </a:defRPr>
            </a:pPr>
            <a:endParaRPr lang="en-US"/>
          </a:p>
        </c:txPr>
        <c:crossAx val="2094734552"/>
        <c:crosses val="autoZero"/>
        <c:auto val="1"/>
        <c:lblAlgn val="ctr"/>
        <c:lblOffset val="100"/>
        <c:noMultiLvlLbl val="1"/>
      </c:catAx>
      <c:valAx>
        <c:axId val="2094734552"/>
        <c:scaling>
          <c:orientation val="minMax"/>
          <c:max val="1"/>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300">
              <a:solidFill>
                <a:srgbClr val="1B2A22"/>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851696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325880"/>
            <a:ext cx="7863840" cy="160020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47472"/>
            <a:ext cx="9052560" cy="640080"/>
          </a:xfrm>
          <a:prstGeom prst="rect">
            <a:avLst/>
          </a:prstGeom>
          <a:noFill/>
          <a:ln/>
        </p:spPr>
        <p:txBody>
          <a:bodyPr wrap="square" rtlCol="0"/>
          <a:lstStyle>
            <a:lvl1pPr marL="0" indent="0" algn="l">
              <a:buNone/>
              <a:defRPr lang="en-US" sz="3400" b="1" dirty="0">
                <a:solidFill>
                  <a:schemeClr val="tx2"/>
                </a:solidFill>
              </a:defRPr>
            </a:lvl1pPr>
          </a:lstStyle>
          <a:p>
            <a:pPr marL="0" indent="0" algn="l">
              <a:buNone/>
            </a:pPr>
            <a:endParaRPr lang="en-US" sz="3400" dirty="0"/>
          </a:p>
        </p:txBody>
      </p:sp>
      <p:sp>
        <p:nvSpPr>
          <p:cNvPr id="3" name="Text 0"/>
          <p:cNvSpPr>
            <a:spLocks noGrp="1"/>
          </p:cNvSpPr>
          <p:nvPr>
            <p:ph type="body" idx="101" hasCustomPrompt="1"/>
          </p:nvPr>
        </p:nvSpPr>
        <p:spPr>
          <a:xfrm>
            <a:off x="548640" y="987552"/>
            <a:ext cx="9326880" cy="411480"/>
          </a:xfrm>
          <a:prstGeom prst="rect">
            <a:avLst/>
          </a:prstGeom>
          <a:noFill/>
          <a:ln/>
        </p:spPr>
        <p:txBody>
          <a:bodyPr wrap="square" rtlCol="0"/>
          <a:lstStyle>
            <a:lvl1pPr marL="0" indent="0">
              <a:buNone/>
              <a:defRPr lang="en-US" sz="1900" dirty="0">
                <a:solidFill>
                  <a:schemeClr val="accent2"/>
                </a:solidFill>
              </a:defRPr>
            </a:lvl1pPr>
          </a:lstStyle>
          <a:p>
            <a:pPr marL="0" indent="0">
              <a:buNone/>
            </a:pPr>
            <a:endParaRPr lang="en-US" sz="1900" dirty="0"/>
          </a:p>
        </p:txBody>
      </p:sp>
      <p:sp>
        <p:nvSpPr>
          <p:cNvPr id="4" name="Text 0"/>
          <p:cNvSpPr/>
          <p:nvPr/>
        </p:nvSpPr>
        <p:spPr>
          <a:xfrm>
            <a:off x="548640" y="6446520"/>
            <a:ext cx="7315200" cy="256032"/>
          </a:xfrm>
          <a:prstGeom prst="rect">
            <a:avLst/>
          </a:prstGeom>
          <a:noFill/>
          <a:ln/>
        </p:spPr>
        <p:txBody>
          <a:bodyPr wrap="square" lIns="0" tIns="0" rIns="0" bIns="0" rtlCol="0" anchor="ctr"/>
          <a:lstStyle/>
          <a:p>
            <a:pPr marL="0" indent="0">
              <a:buNone/>
            </a:pPr>
            <a:r>
              <a:rPr lang="en-US" sz="1000" dirty="0">
                <a:solidFill>
                  <a:schemeClr val="accent5"/>
                </a:solidFill>
              </a:rPr>
              <a:t>FoodScope  ·  Mohammed Zaiter &amp; Ali Tarhini</a:t>
            </a:r>
            <a:endParaRPr lang="en-US" sz="1000" dirty="0"/>
          </a:p>
        </p:txBody>
      </p:sp>
      <p:sp>
        <p:nvSpPr>
          <p:cNvPr id="25" name="Slide Number Placeholder 0"/>
          <p:cNvSpPr>
            <a:spLocks noGrp="1"/>
          </p:cNvSpPr>
          <p:nvPr>
            <p:ph type="sldNum" sz="quarter" idx="4294967295"/>
          </p:nvPr>
        </p:nvSpPr>
        <p:spPr>
          <a:xfrm>
            <a:off x="11183112"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4.png"/><Relationship Id="rId7"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image" Target="../media/image10.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0.pn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19.png"/><Relationship Id="rId5" Type="http://schemas.openxmlformats.org/officeDocument/2006/relationships/image" Target="../media/image8.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3.xml"/><Relationship Id="rId5" Type="http://schemas.openxmlformats.org/officeDocument/2006/relationships/image" Target="../media/image10.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325880"/>
            <a:ext cx="7863840" cy="1600200"/>
          </a:xfrm>
          <a:prstGeom prst="rect">
            <a:avLst/>
          </a:prstGeom>
          <a:noFill/>
          <a:ln/>
        </p:spPr>
        <p:txBody>
          <a:bodyPr wrap="square" lIns="0" tIns="0" rIns="0" bIns="0" rtlCol="0" anchor="b"/>
          <a:lstStyle/>
          <a:p>
            <a:pPr marL="0" indent="0" algn="l">
              <a:buNone/>
            </a:pPr>
            <a:r>
              <a:rPr lang="en-US" sz="4400" b="1" dirty="0">
                <a:solidFill>
                  <a:schemeClr val="bg1"/>
                </a:solidFill>
              </a:rPr>
              <a:t>Knowledge Representation and Reasoning</a:t>
            </a:r>
            <a:endParaRPr lang="en-US" sz="4400" dirty="0"/>
          </a:p>
        </p:txBody>
      </p:sp>
      <p:sp>
        <p:nvSpPr>
          <p:cNvPr id="3" name="a1_master"/>
          <p:cNvSpPr txBox="1"/>
          <p:nvPr/>
        </p:nvSpPr>
        <p:spPr>
          <a:xfrm>
            <a:off x="731520" y="3063240"/>
            <a:ext cx="7498080" cy="457200"/>
          </a:xfrm>
          <a:prstGeom prst="rect">
            <a:avLst/>
          </a:prstGeom>
          <a:noFill/>
          <a:ln/>
        </p:spPr>
        <p:txBody>
          <a:bodyPr wrap="square" lIns="0" tIns="0" rIns="0" bIns="0" rtlCol="0" anchor="t"/>
          <a:lstStyle/>
          <a:p>
            <a:pPr marL="0" indent="0">
              <a:buNone/>
            </a:pPr>
            <a:r>
              <a:rPr lang="en-US" sz="2200" dirty="0">
                <a:solidFill>
                  <a:schemeClr val="accent4"/>
                </a:solidFill>
              </a:rPr>
              <a:t>Master in Artificial Intelligence  ·  Lebanese University</a:t>
            </a:r>
            <a:endParaRPr lang="en-US" sz="2200" dirty="0"/>
          </a:p>
        </p:txBody>
      </p:sp>
      <p:sp>
        <p:nvSpPr>
          <p:cNvPr id="4" name="a2_names"/>
          <p:cNvSpPr txBox="1"/>
          <p:nvPr/>
        </p:nvSpPr>
        <p:spPr>
          <a:xfrm>
            <a:off x="731520" y="3703320"/>
            <a:ext cx="7498080" cy="502920"/>
          </a:xfrm>
          <a:prstGeom prst="rect">
            <a:avLst/>
          </a:prstGeom>
          <a:noFill/>
          <a:ln/>
        </p:spPr>
        <p:txBody>
          <a:bodyPr wrap="square" lIns="0" tIns="0" rIns="0" bIns="0" rtlCol="0" anchor="t"/>
          <a:lstStyle/>
          <a:p>
            <a:pPr marL="0" indent="0">
              <a:buNone/>
            </a:pPr>
            <a:r>
              <a:rPr lang="en-US" sz="2600" b="1" dirty="0">
                <a:solidFill>
                  <a:schemeClr val="bg1"/>
                </a:solidFill>
              </a:rPr>
              <a:t>Mohammed Zaiter   ·   Ali Tarhini</a:t>
            </a:r>
            <a:endParaRPr lang="en-US" sz="2600" dirty="0"/>
          </a:p>
        </p:txBody>
      </p:sp>
      <p:pic>
        <p:nvPicPr>
          <p:cNvPr id="5" name="a3_subject_bg" descr="preencoded.png"/>
          <p:cNvPicPr>
            <a:picLocks noChangeAspect="1"/>
          </p:cNvPicPr>
          <p:nvPr/>
        </p:nvPicPr>
        <p:blipFill>
          <a:blip r:embed="rId3"/>
          <a:stretch>
            <a:fillRect/>
          </a:stretch>
        </p:blipFill>
        <p:spPr>
          <a:xfrm>
            <a:off x="731520" y="4617720"/>
            <a:ext cx="7498080" cy="685800"/>
          </a:xfrm>
          <a:prstGeom prst="rect">
            <a:avLst/>
          </a:prstGeom>
          <a:effectLst>
            <a:outerShdw blurRad="152400" dist="25400" dir="5400000" algn="bl" rotWithShape="0">
              <a:srgbClr val="1B2A22">
                <a:alpha val="30000"/>
              </a:srgbClr>
            </a:outerShdw>
          </a:effectLst>
        </p:spPr>
      </p:pic>
      <p:sp>
        <p:nvSpPr>
          <p:cNvPr id="6" name="a3_subject_tx"/>
          <p:cNvSpPr txBox="1"/>
          <p:nvPr/>
        </p:nvSpPr>
        <p:spPr>
          <a:xfrm>
            <a:off x="1005840" y="4617720"/>
            <a:ext cx="7040880" cy="685800"/>
          </a:xfrm>
          <a:prstGeom prst="rect">
            <a:avLst/>
          </a:prstGeom>
          <a:noFill/>
          <a:ln/>
        </p:spPr>
        <p:txBody>
          <a:bodyPr wrap="square" lIns="0" tIns="0" rIns="0" bIns="0" rtlCol="0" anchor="ctr"/>
          <a:lstStyle/>
          <a:p>
            <a:pPr marL="0" indent="0">
              <a:buNone/>
            </a:pPr>
            <a:r>
              <a:rPr lang="en-US" sz="1600" b="1" dirty="0">
                <a:solidFill>
                  <a:schemeClr val="accent6"/>
                </a:solidFill>
              </a:rPr>
              <a:t>Our project   </a:t>
            </a:r>
            <a:r>
              <a:rPr lang="en-US" sz="1600" dirty="0">
                <a:solidFill>
                  <a:schemeClr val="bg1"/>
                </a:solidFill>
              </a:rPr>
              <a:t>FoodScope: a knowledge graph for food composition data</a:t>
            </a:r>
            <a:endParaRPr lang="en-US" sz="1600" dirty="0"/>
          </a:p>
        </p:txBody>
      </p:sp>
      <p:sp>
        <p:nvSpPr>
          <p:cNvPr id="7" name="a1_ring0_c"/>
          <p:cNvSpPr/>
          <p:nvPr/>
        </p:nvSpPr>
        <p:spPr>
          <a:xfrm>
            <a:off x="8915400" y="1051560"/>
            <a:ext cx="1097280" cy="1097280"/>
          </a:xfrm>
          <a:prstGeom prst="ellipse">
            <a:avLst/>
          </a:prstGeom>
          <a:solidFill>
            <a:schemeClr val="accent4"/>
          </a:solidFill>
          <a:ln/>
          <a:effectLst>
            <a:outerShdw blurRad="101600" dist="25400" dir="5400000" algn="bl" rotWithShape="0">
              <a:srgbClr val="1B2A22">
                <a:alpha val="18000"/>
              </a:srgbClr>
            </a:outerShdw>
          </a:effectLst>
        </p:spPr>
        <p:txBody>
          <a:bodyPr/>
          <a:lstStyle/>
          <a:p>
            <a:endParaRPr lang="en-US"/>
          </a:p>
        </p:txBody>
      </p:sp>
      <p:pic>
        <p:nvPicPr>
          <p:cNvPr id="8" name="a1_ring0_i" descr="preencoded.png"/>
          <p:cNvPicPr>
            <a:picLocks noChangeAspect="1"/>
          </p:cNvPicPr>
          <p:nvPr/>
        </p:nvPicPr>
        <p:blipFill>
          <a:blip r:embed="rId4"/>
          <a:stretch>
            <a:fillRect/>
          </a:stretch>
        </p:blipFill>
        <p:spPr>
          <a:xfrm>
            <a:off x="9189720" y="1325880"/>
            <a:ext cx="548640" cy="548640"/>
          </a:xfrm>
          <a:prstGeom prst="rect">
            <a:avLst/>
          </a:prstGeom>
        </p:spPr>
      </p:pic>
      <p:sp>
        <p:nvSpPr>
          <p:cNvPr id="9" name="a2_ring1_c"/>
          <p:cNvSpPr/>
          <p:nvPr/>
        </p:nvSpPr>
        <p:spPr>
          <a:xfrm>
            <a:off x="10424160" y="1828800"/>
            <a:ext cx="1097280" cy="1097280"/>
          </a:xfrm>
          <a:prstGeom prst="ellipse">
            <a:avLst/>
          </a:prstGeom>
          <a:solidFill>
            <a:schemeClr val="accent2"/>
          </a:solidFill>
          <a:ln/>
          <a:effectLst>
            <a:outerShdw blurRad="101600" dist="25400" dir="5400000" algn="bl" rotWithShape="0">
              <a:srgbClr val="1B2A22">
                <a:alpha val="18000"/>
              </a:srgbClr>
            </a:outerShdw>
          </a:effectLst>
        </p:spPr>
        <p:txBody>
          <a:bodyPr/>
          <a:lstStyle/>
          <a:p>
            <a:endParaRPr lang="en-US"/>
          </a:p>
        </p:txBody>
      </p:sp>
      <p:pic>
        <p:nvPicPr>
          <p:cNvPr id="10" name="a2_ring1_i" descr="preencoded.png"/>
          <p:cNvPicPr>
            <a:picLocks noChangeAspect="1"/>
          </p:cNvPicPr>
          <p:nvPr/>
        </p:nvPicPr>
        <p:blipFill>
          <a:blip r:embed="rId5"/>
          <a:stretch>
            <a:fillRect/>
          </a:stretch>
        </p:blipFill>
        <p:spPr>
          <a:xfrm>
            <a:off x="10698480" y="2103120"/>
            <a:ext cx="548640" cy="548640"/>
          </a:xfrm>
          <a:prstGeom prst="rect">
            <a:avLst/>
          </a:prstGeom>
        </p:spPr>
      </p:pic>
      <p:sp>
        <p:nvSpPr>
          <p:cNvPr id="11" name="a3_ring2_c"/>
          <p:cNvSpPr/>
          <p:nvPr/>
        </p:nvSpPr>
        <p:spPr>
          <a:xfrm>
            <a:off x="8641080" y="2788920"/>
            <a:ext cx="1097280" cy="1097280"/>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12" name="a3_ring2_i" descr="preencoded.png"/>
          <p:cNvPicPr>
            <a:picLocks noChangeAspect="1"/>
          </p:cNvPicPr>
          <p:nvPr/>
        </p:nvPicPr>
        <p:blipFill>
          <a:blip r:embed="rId6"/>
          <a:stretch>
            <a:fillRect/>
          </a:stretch>
        </p:blipFill>
        <p:spPr>
          <a:xfrm>
            <a:off x="8915400" y="3063240"/>
            <a:ext cx="548640" cy="548640"/>
          </a:xfrm>
          <a:prstGeom prst="rect">
            <a:avLst/>
          </a:prstGeom>
        </p:spPr>
      </p:pic>
      <p:sp>
        <p:nvSpPr>
          <p:cNvPr id="13" name="a4_ring3_c"/>
          <p:cNvSpPr/>
          <p:nvPr/>
        </p:nvSpPr>
        <p:spPr>
          <a:xfrm>
            <a:off x="10149840" y="3566160"/>
            <a:ext cx="1097280" cy="1097280"/>
          </a:xfrm>
          <a:prstGeom prst="ellipse">
            <a:avLst/>
          </a:prstGeom>
          <a:solidFill>
            <a:schemeClr val="accent6"/>
          </a:solidFill>
          <a:ln/>
          <a:effectLst>
            <a:outerShdw blurRad="101600" dist="25400" dir="5400000" algn="bl" rotWithShape="0">
              <a:srgbClr val="1B2A22">
                <a:alpha val="18000"/>
              </a:srgbClr>
            </a:outerShdw>
          </a:effectLst>
        </p:spPr>
        <p:txBody>
          <a:bodyPr/>
          <a:lstStyle/>
          <a:p>
            <a:endParaRPr lang="en-US"/>
          </a:p>
        </p:txBody>
      </p:sp>
      <p:pic>
        <p:nvPicPr>
          <p:cNvPr id="14" name="a4_ring3_i" descr="preencoded.png"/>
          <p:cNvPicPr>
            <a:picLocks noChangeAspect="1"/>
          </p:cNvPicPr>
          <p:nvPr/>
        </p:nvPicPr>
        <p:blipFill>
          <a:blip r:embed="rId7"/>
          <a:stretch>
            <a:fillRect/>
          </a:stretch>
        </p:blipFill>
        <p:spPr>
          <a:xfrm>
            <a:off x="10424160" y="3840480"/>
            <a:ext cx="548640" cy="548640"/>
          </a:xfrm>
          <a:prstGeom prst="rect">
            <a:avLst/>
          </a:prstGeom>
        </p:spPr>
      </p:pic>
      <p:sp>
        <p:nvSpPr>
          <p:cNvPr id="15" name="a5_ring4_c"/>
          <p:cNvSpPr/>
          <p:nvPr/>
        </p:nvSpPr>
        <p:spPr>
          <a:xfrm>
            <a:off x="9052560" y="4572000"/>
            <a:ext cx="1097280" cy="1097280"/>
          </a:xfrm>
          <a:prstGeom prst="ellipse">
            <a:avLst/>
          </a:prstGeom>
          <a:solidFill>
            <a:schemeClr val="accent3"/>
          </a:solidFill>
          <a:ln/>
          <a:effectLst>
            <a:outerShdw blurRad="101600" dist="25400" dir="5400000" algn="bl" rotWithShape="0">
              <a:srgbClr val="1B2A22">
                <a:alpha val="18000"/>
              </a:srgbClr>
            </a:outerShdw>
          </a:effectLst>
        </p:spPr>
        <p:txBody>
          <a:bodyPr/>
          <a:lstStyle/>
          <a:p>
            <a:endParaRPr lang="en-US"/>
          </a:p>
        </p:txBody>
      </p:sp>
      <p:pic>
        <p:nvPicPr>
          <p:cNvPr id="16" name="a5_ring4_i" descr="preencoded.png"/>
          <p:cNvPicPr>
            <a:picLocks noChangeAspect="1"/>
          </p:cNvPicPr>
          <p:nvPr/>
        </p:nvPicPr>
        <p:blipFill>
          <a:blip r:embed="rId8"/>
          <a:stretch>
            <a:fillRect/>
          </a:stretch>
        </p:blipFill>
        <p:spPr>
          <a:xfrm>
            <a:off x="9326880" y="4846320"/>
            <a:ext cx="548640" cy="54864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280"/>
                            </p:stCondLst>
                            <p:childTnLst>
                              <p:par>
                                <p:cTn id="9" presetID="10" presetClass="entr" presetSubtype="0"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childTnLst>
                                </p:cTn>
                              </p:par>
                              <p:par>
                                <p:cTn id="15" presetID="10"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par>
                          <p:cTn id="18" fill="hold">
                            <p:stCondLst>
                              <p:cond delay="560"/>
                            </p:stCondLst>
                            <p:childTnLst>
                              <p:par>
                                <p:cTn id="19" presetID="10" presetClass="entr" presetSubtype="0" fill="hold" grpId="0" nodeType="after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500"/>
                                        <p:tgtEl>
                                          <p:spTgt spid="4"/>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childTnLst>
                          </p:cTn>
                        </p:par>
                        <p:par>
                          <p:cTn id="28" fill="hold">
                            <p:stCondLst>
                              <p:cond delay="840"/>
                            </p:stCondLst>
                            <p:childTnLst>
                              <p:par>
                                <p:cTn id="29" presetID="22" presetClass="entr" presetSubtype="8" fill="hold" nodeType="after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wipe(left)">
                                      <p:cBhvr>
                                        <p:cTn id="31" dur="600"/>
                                        <p:tgtEl>
                                          <p:spTgt spid="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childTnLst>
                                </p:cTn>
                              </p:par>
                              <p:par>
                                <p:cTn id="38" presetID="10"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childTnLst>
                          </p:cTn>
                        </p:par>
                        <p:par>
                          <p:cTn id="41" fill="hold">
                            <p:stCondLst>
                              <p:cond delay="1120"/>
                            </p:stCondLst>
                            <p:childTnLst>
                              <p:par>
                                <p:cTn id="42" presetID="10" presetClass="entr" presetSubtype="0" fill="hold" grpId="0" nodeType="after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childTnLst>
                                </p:cTn>
                              </p:par>
                              <p:par>
                                <p:cTn id="45" presetID="10" presetClass="entr" presetSubtype="0"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childTnLst>
                                </p:cTn>
                              </p:par>
                            </p:childTnLst>
                          </p:cTn>
                        </p:par>
                        <p:par>
                          <p:cTn id="48" fill="hold">
                            <p:stCondLst>
                              <p:cond delay="1400"/>
                            </p:stCondLst>
                            <p:childTnLst>
                              <p:par>
                                <p:cTn id="49" presetID="10" presetClass="entr" presetSubtype="0" fill="hold" grpId="0" nodeType="after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childTnLst>
                                </p:cTn>
                              </p:par>
                              <p:par>
                                <p:cTn id="52" presetID="10" presetClass="entr" presetSubtype="0" fill="hold"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7" grpId="0" animBg="1"/>
      <p:bldP spid="9" grpId="0" animBg="1"/>
      <p:bldP spid="11" grpId="0" animBg="1"/>
      <p:bldP spid="13" grpId="0" animBg="1"/>
      <p:bldP spid="1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47472"/>
            <a:ext cx="9052560" cy="640080"/>
          </a:xfrm>
          <a:prstGeom prst="rect">
            <a:avLst/>
          </a:prstGeom>
          <a:noFill/>
          <a:ln/>
        </p:spPr>
        <p:txBody>
          <a:bodyPr wrap="square" lIns="0" tIns="0" rIns="0" bIns="0" rtlCol="0" anchor="t"/>
          <a:lstStyle/>
          <a:p>
            <a:pPr marL="0" indent="0" algn="l">
              <a:buNone/>
            </a:pPr>
            <a:r>
              <a:rPr lang="en-US" sz="3400" b="1" dirty="0">
                <a:solidFill>
                  <a:schemeClr val="tx2"/>
                </a:solidFill>
              </a:rPr>
              <a:t>FoodScope</a:t>
            </a:r>
            <a:endParaRPr lang="en-US" sz="3400" dirty="0"/>
          </a:p>
        </p:txBody>
      </p:sp>
      <p:sp>
        <p:nvSpPr>
          <p:cNvPr id="3" name="Text 0"/>
          <p:cNvSpPr>
            <a:spLocks noGrp="1"/>
          </p:cNvSpPr>
          <p:nvPr>
            <p:ph type="body" idx="101" hasCustomPrompt="1"/>
          </p:nvPr>
        </p:nvSpPr>
        <p:spPr>
          <a:xfrm>
            <a:off x="548640" y="987552"/>
            <a:ext cx="9326880" cy="411480"/>
          </a:xfrm>
          <a:prstGeom prst="rect">
            <a:avLst/>
          </a:prstGeom>
          <a:noFill/>
          <a:ln/>
        </p:spPr>
        <p:txBody>
          <a:bodyPr wrap="square" lIns="0" tIns="0" rIns="0" bIns="0" rtlCol="0" anchor="t"/>
          <a:lstStyle/>
          <a:p>
            <a:pPr marL="0" indent="0">
              <a:buNone/>
            </a:pPr>
            <a:r>
              <a:rPr lang="en-US" sz="1900" dirty="0">
                <a:solidFill>
                  <a:schemeClr val="accent2"/>
                </a:solidFill>
              </a:rPr>
              <a:t>From USDA tables to questions in English, with a check at every step</a:t>
            </a:r>
            <a:endParaRPr lang="en-US" sz="1900" dirty="0"/>
          </a:p>
        </p:txBody>
      </p:sp>
      <p:sp>
        <p:nvSpPr>
          <p:cNvPr id="4" name="a0_chip"/>
          <p:cNvSpPr txBox="1"/>
          <p:nvPr/>
        </p:nvSpPr>
        <p:spPr>
          <a:xfrm>
            <a:off x="9720072" y="411480"/>
            <a:ext cx="1920240" cy="384048"/>
          </a:xfrm>
          <a:prstGeom prst="roundRect">
            <a:avLst>
              <a:gd name="adj" fmla="val 50000"/>
            </a:avLst>
          </a:prstGeom>
          <a:solidFill>
            <a:schemeClr val="bg1"/>
          </a:solidFill>
          <a:ln w="12700">
            <a:solidFill>
              <a:schemeClr val="accent4"/>
            </a:solidFill>
          </a:ln>
        </p:spPr>
        <p:txBody>
          <a:bodyPr wrap="square" lIns="0" tIns="0" rIns="0" bIns="0" rtlCol="0" anchor="ctr"/>
          <a:lstStyle/>
          <a:p>
            <a:pPr marL="0" indent="0" algn="ctr">
              <a:buNone/>
            </a:pPr>
            <a:r>
              <a:rPr lang="en-US" sz="1300" b="1" dirty="0">
                <a:solidFill>
                  <a:schemeClr val="accent1"/>
                </a:solidFill>
                <a:latin typeface="Consolas" pitchFamily="34" charset="0"/>
                <a:ea typeface="Consolas" pitchFamily="34" charset="-122"/>
                <a:cs typeface="Consolas" pitchFamily="34" charset="-120"/>
              </a:rPr>
              <a:t>repository</a:t>
            </a:r>
            <a:endParaRPr lang="en-US" sz="1300" dirty="0"/>
          </a:p>
        </p:txBody>
      </p:sp>
      <p:sp>
        <p:nvSpPr>
          <p:cNvPr id="5" name="a1_st0_c"/>
          <p:cNvSpPr/>
          <p:nvPr/>
        </p:nvSpPr>
        <p:spPr>
          <a:xfrm>
            <a:off x="914400" y="2057400"/>
            <a:ext cx="868680" cy="868680"/>
          </a:xfrm>
          <a:prstGeom prst="ellipse">
            <a:avLst/>
          </a:prstGeom>
          <a:solidFill>
            <a:schemeClr val="accent4"/>
          </a:solidFill>
          <a:ln/>
          <a:effectLst>
            <a:outerShdw blurRad="101600" dist="25400" dir="5400000" algn="bl" rotWithShape="0">
              <a:srgbClr val="1B2A22">
                <a:alpha val="18000"/>
              </a:srgbClr>
            </a:outerShdw>
          </a:effectLst>
        </p:spPr>
        <p:txBody>
          <a:bodyPr/>
          <a:lstStyle/>
          <a:p>
            <a:endParaRPr lang="en-US"/>
          </a:p>
        </p:txBody>
      </p:sp>
      <p:pic>
        <p:nvPicPr>
          <p:cNvPr id="6" name="a1_st0_i" descr="preencoded.png"/>
          <p:cNvPicPr>
            <a:picLocks noChangeAspect="1"/>
          </p:cNvPicPr>
          <p:nvPr/>
        </p:nvPicPr>
        <p:blipFill>
          <a:blip r:embed="rId3"/>
          <a:stretch>
            <a:fillRect/>
          </a:stretch>
        </p:blipFill>
        <p:spPr>
          <a:xfrm>
            <a:off x="1131570" y="2274570"/>
            <a:ext cx="434340" cy="434340"/>
          </a:xfrm>
          <a:prstGeom prst="rect">
            <a:avLst/>
          </a:prstGeom>
        </p:spPr>
      </p:pic>
      <p:sp>
        <p:nvSpPr>
          <p:cNvPr id="7" name="a1_sl0"/>
          <p:cNvSpPr txBox="1"/>
          <p:nvPr/>
        </p:nvSpPr>
        <p:spPr>
          <a:xfrm>
            <a:off x="434340" y="3063240"/>
            <a:ext cx="1828800" cy="384048"/>
          </a:xfrm>
          <a:prstGeom prst="rect">
            <a:avLst/>
          </a:prstGeom>
          <a:noFill/>
          <a:ln/>
        </p:spPr>
        <p:txBody>
          <a:bodyPr wrap="square" lIns="0" tIns="0" rIns="0" bIns="0" rtlCol="0" anchor="t"/>
          <a:lstStyle/>
          <a:p>
            <a:pPr marL="0" indent="0" algn="ctr">
              <a:buNone/>
            </a:pPr>
            <a:r>
              <a:rPr lang="en-US" sz="1700" b="1" dirty="0">
                <a:solidFill>
                  <a:schemeClr val="tx2"/>
                </a:solidFill>
              </a:rPr>
              <a:t>Data</a:t>
            </a:r>
            <a:endParaRPr lang="en-US" sz="1700" dirty="0"/>
          </a:p>
        </p:txBody>
      </p:sp>
      <p:sp>
        <p:nvSpPr>
          <p:cNvPr id="8" name="a1_sd0"/>
          <p:cNvSpPr txBox="1"/>
          <p:nvPr/>
        </p:nvSpPr>
        <p:spPr>
          <a:xfrm>
            <a:off x="434340" y="3447288"/>
            <a:ext cx="1828800" cy="640080"/>
          </a:xfrm>
          <a:prstGeom prst="rect">
            <a:avLst/>
          </a:prstGeom>
          <a:noFill/>
          <a:ln/>
        </p:spPr>
        <p:txBody>
          <a:bodyPr wrap="square" lIns="0" tIns="0" rIns="0" bIns="0" rtlCol="0" anchor="t"/>
          <a:lstStyle/>
          <a:p>
            <a:pPr marL="0" indent="0" algn="ctr">
              <a:buNone/>
            </a:pPr>
            <a:r>
              <a:rPr lang="en-US" sz="1400" dirty="0">
                <a:solidFill>
                  <a:schemeClr val="accent5"/>
                </a:solidFill>
              </a:rPr>
              <a:t>358 foods, 1,499 amounts</a:t>
            </a:r>
            <a:endParaRPr lang="en-US" sz="1400" dirty="0"/>
          </a:p>
        </p:txBody>
      </p:sp>
      <p:sp>
        <p:nvSpPr>
          <p:cNvPr id="9" name="a1_sf0"/>
          <p:cNvSpPr txBox="1"/>
          <p:nvPr/>
        </p:nvSpPr>
        <p:spPr>
          <a:xfrm>
            <a:off x="434340" y="4114800"/>
            <a:ext cx="1828800" cy="320040"/>
          </a:xfrm>
          <a:prstGeom prst="rect">
            <a:avLst/>
          </a:prstGeom>
          <a:noFill/>
          <a:ln/>
        </p:spPr>
        <p:txBody>
          <a:bodyPr wrap="square" lIns="0" tIns="0" rIns="0" bIns="0" rtlCol="0" anchor="t"/>
          <a:lstStyle/>
          <a:p>
            <a:pPr marL="0" indent="0" algn="ctr">
              <a:buNone/>
            </a:pPr>
            <a:r>
              <a:rPr lang="en-US" sz="1300" b="1" dirty="0">
                <a:solidFill>
                  <a:schemeClr val="accent1"/>
                </a:solidFill>
                <a:latin typeface="Consolas" pitchFamily="34" charset="0"/>
                <a:ea typeface="Consolas" pitchFamily="34" charset="-122"/>
                <a:cs typeface="Consolas" pitchFamily="34" charset="-120"/>
              </a:rPr>
              <a:t>data/</a:t>
            </a:r>
            <a:endParaRPr lang="en-US" sz="1300" dirty="0"/>
          </a:p>
        </p:txBody>
      </p:sp>
      <p:sp>
        <p:nvSpPr>
          <p:cNvPr id="10" name="a2_ar0"/>
          <p:cNvSpPr/>
          <p:nvPr/>
        </p:nvSpPr>
        <p:spPr>
          <a:xfrm>
            <a:off x="1874520" y="2487168"/>
            <a:ext cx="846734" cy="0"/>
          </a:xfrm>
          <a:prstGeom prst="line">
            <a:avLst/>
          </a:prstGeom>
          <a:noFill/>
          <a:ln w="25400">
            <a:solidFill>
              <a:schemeClr val="accent5"/>
            </a:solidFill>
            <a:prstDash val="solid"/>
            <a:tailEnd type="triangle"/>
          </a:ln>
        </p:spPr>
        <p:txBody>
          <a:bodyPr/>
          <a:lstStyle/>
          <a:p>
            <a:endParaRPr lang="en-US"/>
          </a:p>
        </p:txBody>
      </p:sp>
      <p:sp>
        <p:nvSpPr>
          <p:cNvPr id="11" name="a2_st1_c"/>
          <p:cNvSpPr/>
          <p:nvPr/>
        </p:nvSpPr>
        <p:spPr>
          <a:xfrm>
            <a:off x="2812694" y="2057400"/>
            <a:ext cx="868680" cy="868680"/>
          </a:xfrm>
          <a:prstGeom prst="ellipse">
            <a:avLst/>
          </a:prstGeom>
          <a:solidFill>
            <a:schemeClr val="accent2"/>
          </a:solidFill>
          <a:ln/>
          <a:effectLst>
            <a:outerShdw blurRad="101600" dist="25400" dir="5400000" algn="bl" rotWithShape="0">
              <a:srgbClr val="1B2A22">
                <a:alpha val="18000"/>
              </a:srgbClr>
            </a:outerShdw>
          </a:effectLst>
        </p:spPr>
        <p:txBody>
          <a:bodyPr/>
          <a:lstStyle/>
          <a:p>
            <a:endParaRPr lang="en-US"/>
          </a:p>
        </p:txBody>
      </p:sp>
      <p:pic>
        <p:nvPicPr>
          <p:cNvPr id="12" name="a2_st1_i" descr="preencoded.png"/>
          <p:cNvPicPr>
            <a:picLocks noChangeAspect="1"/>
          </p:cNvPicPr>
          <p:nvPr/>
        </p:nvPicPr>
        <p:blipFill>
          <a:blip r:embed="rId4"/>
          <a:stretch>
            <a:fillRect/>
          </a:stretch>
        </p:blipFill>
        <p:spPr>
          <a:xfrm>
            <a:off x="3029864" y="2274570"/>
            <a:ext cx="434340" cy="434340"/>
          </a:xfrm>
          <a:prstGeom prst="rect">
            <a:avLst/>
          </a:prstGeom>
        </p:spPr>
      </p:pic>
      <p:sp>
        <p:nvSpPr>
          <p:cNvPr id="13" name="a2_sl1"/>
          <p:cNvSpPr txBox="1"/>
          <p:nvPr/>
        </p:nvSpPr>
        <p:spPr>
          <a:xfrm>
            <a:off x="2332634" y="3063240"/>
            <a:ext cx="1828800" cy="384048"/>
          </a:xfrm>
          <a:prstGeom prst="rect">
            <a:avLst/>
          </a:prstGeom>
          <a:noFill/>
          <a:ln/>
        </p:spPr>
        <p:txBody>
          <a:bodyPr wrap="square" lIns="0" tIns="0" rIns="0" bIns="0" rtlCol="0" anchor="t"/>
          <a:lstStyle/>
          <a:p>
            <a:pPr marL="0" indent="0" algn="ctr">
              <a:buNone/>
            </a:pPr>
            <a:r>
              <a:rPr lang="en-US" sz="1700" b="1" dirty="0">
                <a:solidFill>
                  <a:schemeClr val="tx2"/>
                </a:solidFill>
              </a:rPr>
              <a:t>Mapping</a:t>
            </a:r>
            <a:endParaRPr lang="en-US" sz="1700" dirty="0"/>
          </a:p>
        </p:txBody>
      </p:sp>
      <p:sp>
        <p:nvSpPr>
          <p:cNvPr id="14" name="a2_sd1"/>
          <p:cNvSpPr txBox="1"/>
          <p:nvPr/>
        </p:nvSpPr>
        <p:spPr>
          <a:xfrm>
            <a:off x="2332634" y="3447288"/>
            <a:ext cx="1828800" cy="640080"/>
          </a:xfrm>
          <a:prstGeom prst="rect">
            <a:avLst/>
          </a:prstGeom>
          <a:noFill/>
          <a:ln/>
        </p:spPr>
        <p:txBody>
          <a:bodyPr wrap="square" lIns="0" tIns="0" rIns="0" bIns="0" rtlCol="0" anchor="t"/>
          <a:lstStyle/>
          <a:p>
            <a:pPr marL="0" indent="0" algn="ctr">
              <a:buNone/>
            </a:pPr>
            <a:r>
              <a:rPr lang="en-US" sz="1400" dirty="0">
                <a:solidFill>
                  <a:schemeClr val="accent5"/>
                </a:solidFill>
              </a:rPr>
              <a:t>R2RML: 9,359 triples</a:t>
            </a:r>
            <a:endParaRPr lang="en-US" sz="1400" dirty="0"/>
          </a:p>
        </p:txBody>
      </p:sp>
      <p:sp>
        <p:nvSpPr>
          <p:cNvPr id="15" name="a2_sf1"/>
          <p:cNvSpPr txBox="1"/>
          <p:nvPr/>
        </p:nvSpPr>
        <p:spPr>
          <a:xfrm>
            <a:off x="2332634" y="4114800"/>
            <a:ext cx="1828800" cy="320040"/>
          </a:xfrm>
          <a:prstGeom prst="rect">
            <a:avLst/>
          </a:prstGeom>
          <a:noFill/>
          <a:ln/>
        </p:spPr>
        <p:txBody>
          <a:bodyPr wrap="square" lIns="0" tIns="0" rIns="0" bIns="0" rtlCol="0" anchor="t"/>
          <a:lstStyle/>
          <a:p>
            <a:pPr marL="0" indent="0" algn="ctr">
              <a:buNone/>
            </a:pPr>
            <a:r>
              <a:rPr lang="en-US" sz="1300" b="1" dirty="0">
                <a:solidFill>
                  <a:schemeClr val="accent1"/>
                </a:solidFill>
                <a:latin typeface="Consolas" pitchFamily="34" charset="0"/>
                <a:ea typeface="Consolas" pitchFamily="34" charset="-122"/>
                <a:cs typeface="Consolas" pitchFamily="34" charset="-120"/>
              </a:rPr>
              <a:t>mapping/</a:t>
            </a:r>
            <a:endParaRPr lang="en-US" sz="1300" dirty="0"/>
          </a:p>
        </p:txBody>
      </p:sp>
      <p:sp>
        <p:nvSpPr>
          <p:cNvPr id="16" name="a3_ar1"/>
          <p:cNvSpPr/>
          <p:nvPr/>
        </p:nvSpPr>
        <p:spPr>
          <a:xfrm>
            <a:off x="3772814" y="2487168"/>
            <a:ext cx="846734" cy="0"/>
          </a:xfrm>
          <a:prstGeom prst="line">
            <a:avLst/>
          </a:prstGeom>
          <a:noFill/>
          <a:ln w="25400">
            <a:solidFill>
              <a:schemeClr val="accent5"/>
            </a:solidFill>
            <a:prstDash val="solid"/>
            <a:tailEnd type="triangle"/>
          </a:ln>
        </p:spPr>
        <p:txBody>
          <a:bodyPr/>
          <a:lstStyle/>
          <a:p>
            <a:endParaRPr lang="en-US"/>
          </a:p>
        </p:txBody>
      </p:sp>
      <p:sp>
        <p:nvSpPr>
          <p:cNvPr id="17" name="a3_st2_c"/>
          <p:cNvSpPr/>
          <p:nvPr/>
        </p:nvSpPr>
        <p:spPr>
          <a:xfrm>
            <a:off x="4710989" y="2057400"/>
            <a:ext cx="868680" cy="868680"/>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18" name="a3_st2_i" descr="preencoded.png"/>
          <p:cNvPicPr>
            <a:picLocks noChangeAspect="1"/>
          </p:cNvPicPr>
          <p:nvPr/>
        </p:nvPicPr>
        <p:blipFill>
          <a:blip r:embed="rId5"/>
          <a:stretch>
            <a:fillRect/>
          </a:stretch>
        </p:blipFill>
        <p:spPr>
          <a:xfrm>
            <a:off x="4928159" y="2274570"/>
            <a:ext cx="434340" cy="434340"/>
          </a:xfrm>
          <a:prstGeom prst="rect">
            <a:avLst/>
          </a:prstGeom>
        </p:spPr>
      </p:pic>
      <p:sp>
        <p:nvSpPr>
          <p:cNvPr id="19" name="a3_sl2"/>
          <p:cNvSpPr txBox="1"/>
          <p:nvPr/>
        </p:nvSpPr>
        <p:spPr>
          <a:xfrm>
            <a:off x="4230929" y="3063240"/>
            <a:ext cx="1828800" cy="384048"/>
          </a:xfrm>
          <a:prstGeom prst="rect">
            <a:avLst/>
          </a:prstGeom>
          <a:noFill/>
          <a:ln/>
        </p:spPr>
        <p:txBody>
          <a:bodyPr wrap="square" lIns="0" tIns="0" rIns="0" bIns="0" rtlCol="0" anchor="t"/>
          <a:lstStyle/>
          <a:p>
            <a:pPr marL="0" indent="0" algn="ctr">
              <a:buNone/>
            </a:pPr>
            <a:r>
              <a:rPr lang="en-US" sz="1700" b="1" dirty="0">
                <a:solidFill>
                  <a:schemeClr val="tx2"/>
                </a:solidFill>
              </a:rPr>
              <a:t>SHACL gate</a:t>
            </a:r>
            <a:endParaRPr lang="en-US" sz="1700" dirty="0"/>
          </a:p>
        </p:txBody>
      </p:sp>
      <p:sp>
        <p:nvSpPr>
          <p:cNvPr id="20" name="a3_sd2"/>
          <p:cNvSpPr txBox="1"/>
          <p:nvPr/>
        </p:nvSpPr>
        <p:spPr>
          <a:xfrm>
            <a:off x="4230929" y="3447288"/>
            <a:ext cx="1828800" cy="640080"/>
          </a:xfrm>
          <a:prstGeom prst="rect">
            <a:avLst/>
          </a:prstGeom>
          <a:noFill/>
          <a:ln/>
        </p:spPr>
        <p:txBody>
          <a:bodyPr wrap="square" lIns="0" tIns="0" rIns="0" bIns="0" rtlCol="0" anchor="t"/>
          <a:lstStyle/>
          <a:p>
            <a:pPr marL="0" indent="0" algn="ctr">
              <a:buNone/>
            </a:pPr>
            <a:r>
              <a:rPr lang="en-US" sz="1400" dirty="0">
                <a:solidFill>
                  <a:schemeClr val="accent5"/>
                </a:solidFill>
              </a:rPr>
              <a:t>10 rules; errors stop it</a:t>
            </a:r>
            <a:endParaRPr lang="en-US" sz="1400" dirty="0"/>
          </a:p>
        </p:txBody>
      </p:sp>
      <p:sp>
        <p:nvSpPr>
          <p:cNvPr id="21" name="a3_sf2"/>
          <p:cNvSpPr txBox="1"/>
          <p:nvPr/>
        </p:nvSpPr>
        <p:spPr>
          <a:xfrm>
            <a:off x="4230929" y="4114800"/>
            <a:ext cx="1828800" cy="320040"/>
          </a:xfrm>
          <a:prstGeom prst="rect">
            <a:avLst/>
          </a:prstGeom>
          <a:noFill/>
          <a:ln/>
        </p:spPr>
        <p:txBody>
          <a:bodyPr wrap="square" lIns="0" tIns="0" rIns="0" bIns="0" rtlCol="0" anchor="t"/>
          <a:lstStyle/>
          <a:p>
            <a:pPr marL="0" indent="0" algn="ctr">
              <a:buNone/>
            </a:pPr>
            <a:r>
              <a:rPr lang="en-US" sz="1300" b="1" dirty="0">
                <a:solidFill>
                  <a:schemeClr val="accent1"/>
                </a:solidFill>
                <a:latin typeface="Consolas" pitchFamily="34" charset="0"/>
                <a:ea typeface="Consolas" pitchFamily="34" charset="-122"/>
                <a:cs typeface="Consolas" pitchFamily="34" charset="-120"/>
              </a:rPr>
              <a:t>shapes/</a:t>
            </a:r>
            <a:endParaRPr lang="en-US" sz="1300" dirty="0"/>
          </a:p>
        </p:txBody>
      </p:sp>
      <p:sp>
        <p:nvSpPr>
          <p:cNvPr id="22" name="a4_ar2"/>
          <p:cNvSpPr/>
          <p:nvPr/>
        </p:nvSpPr>
        <p:spPr>
          <a:xfrm>
            <a:off x="5671109" y="2487168"/>
            <a:ext cx="846734" cy="0"/>
          </a:xfrm>
          <a:prstGeom prst="line">
            <a:avLst/>
          </a:prstGeom>
          <a:noFill/>
          <a:ln w="25400">
            <a:solidFill>
              <a:schemeClr val="accent5"/>
            </a:solidFill>
            <a:prstDash val="solid"/>
            <a:tailEnd type="triangle"/>
          </a:ln>
        </p:spPr>
        <p:txBody>
          <a:bodyPr/>
          <a:lstStyle/>
          <a:p>
            <a:endParaRPr lang="en-US"/>
          </a:p>
        </p:txBody>
      </p:sp>
      <p:sp>
        <p:nvSpPr>
          <p:cNvPr id="23" name="a4_st3_c"/>
          <p:cNvSpPr/>
          <p:nvPr/>
        </p:nvSpPr>
        <p:spPr>
          <a:xfrm>
            <a:off x="6609283" y="2057400"/>
            <a:ext cx="868680" cy="868680"/>
          </a:xfrm>
          <a:prstGeom prst="ellipse">
            <a:avLst/>
          </a:prstGeom>
          <a:solidFill>
            <a:schemeClr val="accent6"/>
          </a:solidFill>
          <a:ln/>
          <a:effectLst>
            <a:outerShdw blurRad="101600" dist="25400" dir="5400000" algn="bl" rotWithShape="0">
              <a:srgbClr val="1B2A22">
                <a:alpha val="18000"/>
              </a:srgbClr>
            </a:outerShdw>
          </a:effectLst>
        </p:spPr>
        <p:txBody>
          <a:bodyPr/>
          <a:lstStyle/>
          <a:p>
            <a:endParaRPr lang="en-US"/>
          </a:p>
        </p:txBody>
      </p:sp>
      <p:pic>
        <p:nvPicPr>
          <p:cNvPr id="24" name="a4_st3_i" descr="preencoded.png"/>
          <p:cNvPicPr>
            <a:picLocks noChangeAspect="1"/>
          </p:cNvPicPr>
          <p:nvPr/>
        </p:nvPicPr>
        <p:blipFill>
          <a:blip r:embed="rId6"/>
          <a:stretch>
            <a:fillRect/>
          </a:stretch>
        </p:blipFill>
        <p:spPr>
          <a:xfrm>
            <a:off x="6826453" y="2274570"/>
            <a:ext cx="434340" cy="434340"/>
          </a:xfrm>
          <a:prstGeom prst="rect">
            <a:avLst/>
          </a:prstGeom>
        </p:spPr>
      </p:pic>
      <p:sp>
        <p:nvSpPr>
          <p:cNvPr id="25" name="a4_sl3"/>
          <p:cNvSpPr txBox="1"/>
          <p:nvPr/>
        </p:nvSpPr>
        <p:spPr>
          <a:xfrm>
            <a:off x="6129223" y="3063240"/>
            <a:ext cx="1828800" cy="384048"/>
          </a:xfrm>
          <a:prstGeom prst="rect">
            <a:avLst/>
          </a:prstGeom>
          <a:noFill/>
          <a:ln/>
        </p:spPr>
        <p:txBody>
          <a:bodyPr wrap="square" lIns="0" tIns="0" rIns="0" bIns="0" rtlCol="0" anchor="t"/>
          <a:lstStyle/>
          <a:p>
            <a:pPr marL="0" indent="0" algn="ctr">
              <a:buNone/>
            </a:pPr>
            <a:r>
              <a:rPr lang="en-US" sz="1700" b="1" dirty="0">
                <a:solidFill>
                  <a:schemeClr val="tx2"/>
                </a:solidFill>
              </a:rPr>
              <a:t>Reasoner</a:t>
            </a:r>
            <a:endParaRPr lang="en-US" sz="1700" dirty="0"/>
          </a:p>
        </p:txBody>
      </p:sp>
      <p:sp>
        <p:nvSpPr>
          <p:cNvPr id="26" name="a4_sd3"/>
          <p:cNvSpPr txBox="1"/>
          <p:nvPr/>
        </p:nvSpPr>
        <p:spPr>
          <a:xfrm>
            <a:off x="6129223" y="3447288"/>
            <a:ext cx="1828800" cy="640080"/>
          </a:xfrm>
          <a:prstGeom prst="rect">
            <a:avLst/>
          </a:prstGeom>
          <a:noFill/>
          <a:ln/>
        </p:spPr>
        <p:txBody>
          <a:bodyPr wrap="square" lIns="0" tIns="0" rIns="0" bIns="0" rtlCol="0" anchor="t"/>
          <a:lstStyle/>
          <a:p>
            <a:pPr marL="0" indent="0" algn="ctr">
              <a:buNone/>
            </a:pPr>
            <a:r>
              <a:rPr lang="en-US" sz="1400" dirty="0">
                <a:solidFill>
                  <a:schemeClr val="accent5"/>
                </a:solidFill>
              </a:rPr>
              <a:t>HermiT: 350 foods</a:t>
            </a:r>
            <a:endParaRPr lang="en-US" sz="1400" dirty="0"/>
          </a:p>
        </p:txBody>
      </p:sp>
      <p:sp>
        <p:nvSpPr>
          <p:cNvPr id="27" name="a4_sf3"/>
          <p:cNvSpPr txBox="1"/>
          <p:nvPr/>
        </p:nvSpPr>
        <p:spPr>
          <a:xfrm>
            <a:off x="6129223" y="4114800"/>
            <a:ext cx="1828800" cy="320040"/>
          </a:xfrm>
          <a:prstGeom prst="rect">
            <a:avLst/>
          </a:prstGeom>
          <a:noFill/>
          <a:ln/>
        </p:spPr>
        <p:txBody>
          <a:bodyPr wrap="square" lIns="0" tIns="0" rIns="0" bIns="0" rtlCol="0" anchor="t"/>
          <a:lstStyle/>
          <a:p>
            <a:pPr marL="0" indent="0" algn="ctr">
              <a:buNone/>
            </a:pPr>
            <a:r>
              <a:rPr lang="en-US" sz="1300" b="1" dirty="0">
                <a:solidFill>
                  <a:schemeClr val="accent1"/>
                </a:solidFill>
                <a:latin typeface="Consolas" pitchFamily="34" charset="0"/>
                <a:ea typeface="Consolas" pitchFamily="34" charset="-122"/>
                <a:cs typeface="Consolas" pitchFamily="34" charset="-120"/>
              </a:rPr>
              <a:t>ontology/</a:t>
            </a:r>
            <a:endParaRPr lang="en-US" sz="1300" dirty="0"/>
          </a:p>
        </p:txBody>
      </p:sp>
      <p:sp>
        <p:nvSpPr>
          <p:cNvPr id="28" name="a5_ar3"/>
          <p:cNvSpPr/>
          <p:nvPr/>
        </p:nvSpPr>
        <p:spPr>
          <a:xfrm>
            <a:off x="7569403" y="2487168"/>
            <a:ext cx="846734" cy="0"/>
          </a:xfrm>
          <a:prstGeom prst="line">
            <a:avLst/>
          </a:prstGeom>
          <a:noFill/>
          <a:ln w="25400">
            <a:solidFill>
              <a:schemeClr val="accent5"/>
            </a:solidFill>
            <a:prstDash val="solid"/>
            <a:tailEnd type="triangle"/>
          </a:ln>
        </p:spPr>
        <p:txBody>
          <a:bodyPr/>
          <a:lstStyle/>
          <a:p>
            <a:endParaRPr lang="en-US"/>
          </a:p>
        </p:txBody>
      </p:sp>
      <p:sp>
        <p:nvSpPr>
          <p:cNvPr id="29" name="a5_st4_c"/>
          <p:cNvSpPr/>
          <p:nvPr/>
        </p:nvSpPr>
        <p:spPr>
          <a:xfrm>
            <a:off x="8507578" y="2057400"/>
            <a:ext cx="868680" cy="868680"/>
          </a:xfrm>
          <a:prstGeom prst="ellipse">
            <a:avLst/>
          </a:prstGeom>
          <a:solidFill>
            <a:schemeClr val="tx2"/>
          </a:solidFill>
          <a:ln/>
          <a:effectLst>
            <a:outerShdw blurRad="101600" dist="25400" dir="5400000" algn="bl" rotWithShape="0">
              <a:srgbClr val="1B2A22">
                <a:alpha val="18000"/>
              </a:srgbClr>
            </a:outerShdw>
          </a:effectLst>
        </p:spPr>
        <p:txBody>
          <a:bodyPr/>
          <a:lstStyle/>
          <a:p>
            <a:endParaRPr lang="en-US"/>
          </a:p>
        </p:txBody>
      </p:sp>
      <p:pic>
        <p:nvPicPr>
          <p:cNvPr id="30" name="a5_st4_i" descr="preencoded.png"/>
          <p:cNvPicPr>
            <a:picLocks noChangeAspect="1"/>
          </p:cNvPicPr>
          <p:nvPr/>
        </p:nvPicPr>
        <p:blipFill>
          <a:blip r:embed="rId7"/>
          <a:stretch>
            <a:fillRect/>
          </a:stretch>
        </p:blipFill>
        <p:spPr>
          <a:xfrm>
            <a:off x="8724748" y="2274570"/>
            <a:ext cx="434340" cy="434340"/>
          </a:xfrm>
          <a:prstGeom prst="rect">
            <a:avLst/>
          </a:prstGeom>
        </p:spPr>
      </p:pic>
      <p:sp>
        <p:nvSpPr>
          <p:cNvPr id="31" name="a5_sl4"/>
          <p:cNvSpPr txBox="1"/>
          <p:nvPr/>
        </p:nvSpPr>
        <p:spPr>
          <a:xfrm>
            <a:off x="8027518" y="3063240"/>
            <a:ext cx="1828800" cy="384048"/>
          </a:xfrm>
          <a:prstGeom prst="rect">
            <a:avLst/>
          </a:prstGeom>
          <a:noFill/>
          <a:ln/>
        </p:spPr>
        <p:txBody>
          <a:bodyPr wrap="square" lIns="0" tIns="0" rIns="0" bIns="0" rtlCol="0" anchor="t"/>
          <a:lstStyle/>
          <a:p>
            <a:pPr marL="0" indent="0" algn="ctr">
              <a:buNone/>
            </a:pPr>
            <a:r>
              <a:rPr lang="en-US" sz="1700" b="1" dirty="0">
                <a:solidFill>
                  <a:schemeClr val="tx2"/>
                </a:solidFill>
              </a:rPr>
              <a:t>Endpoint</a:t>
            </a:r>
            <a:endParaRPr lang="en-US" sz="1700" dirty="0"/>
          </a:p>
        </p:txBody>
      </p:sp>
      <p:sp>
        <p:nvSpPr>
          <p:cNvPr id="32" name="a5_sd4"/>
          <p:cNvSpPr txBox="1"/>
          <p:nvPr/>
        </p:nvSpPr>
        <p:spPr>
          <a:xfrm>
            <a:off x="8027518" y="3447288"/>
            <a:ext cx="1828800" cy="640080"/>
          </a:xfrm>
          <a:prstGeom prst="rect">
            <a:avLst/>
          </a:prstGeom>
          <a:noFill/>
          <a:ln/>
        </p:spPr>
        <p:txBody>
          <a:bodyPr wrap="square" lIns="0" tIns="0" rIns="0" bIns="0" rtlCol="0" anchor="t"/>
          <a:lstStyle/>
          <a:p>
            <a:pPr marL="0" indent="0" algn="ctr">
              <a:buNone/>
            </a:pPr>
            <a:r>
              <a:rPr lang="en-US" sz="1400" dirty="0">
                <a:solidFill>
                  <a:schemeClr val="accent5"/>
                </a:solidFill>
              </a:rPr>
              <a:t>Fuseki, SPARQL</a:t>
            </a:r>
            <a:endParaRPr lang="en-US" sz="1400" dirty="0"/>
          </a:p>
        </p:txBody>
      </p:sp>
      <p:sp>
        <p:nvSpPr>
          <p:cNvPr id="33" name="a5_sf4"/>
          <p:cNvSpPr txBox="1"/>
          <p:nvPr/>
        </p:nvSpPr>
        <p:spPr>
          <a:xfrm>
            <a:off x="8027518" y="4114800"/>
            <a:ext cx="1828800" cy="320040"/>
          </a:xfrm>
          <a:prstGeom prst="rect">
            <a:avLst/>
          </a:prstGeom>
          <a:noFill/>
          <a:ln/>
        </p:spPr>
        <p:txBody>
          <a:bodyPr wrap="square" lIns="0" tIns="0" rIns="0" bIns="0" rtlCol="0" anchor="t"/>
          <a:lstStyle/>
          <a:p>
            <a:pPr marL="0" indent="0" algn="ctr">
              <a:buNone/>
            </a:pPr>
            <a:r>
              <a:rPr lang="en-US" sz="1300" b="1" dirty="0">
                <a:solidFill>
                  <a:schemeClr val="accent1"/>
                </a:solidFill>
                <a:latin typeface="Consolas" pitchFamily="34" charset="0"/>
                <a:ea typeface="Consolas" pitchFamily="34" charset="-122"/>
                <a:cs typeface="Consolas" pitchFamily="34" charset="-120"/>
              </a:rPr>
              <a:t>pipeline/</a:t>
            </a:r>
            <a:endParaRPr lang="en-US" sz="1300" dirty="0"/>
          </a:p>
        </p:txBody>
      </p:sp>
      <p:sp>
        <p:nvSpPr>
          <p:cNvPr id="34" name="a6_ar4"/>
          <p:cNvSpPr/>
          <p:nvPr/>
        </p:nvSpPr>
        <p:spPr>
          <a:xfrm>
            <a:off x="9467698" y="2487168"/>
            <a:ext cx="846734" cy="0"/>
          </a:xfrm>
          <a:prstGeom prst="line">
            <a:avLst/>
          </a:prstGeom>
          <a:noFill/>
          <a:ln w="25400">
            <a:solidFill>
              <a:schemeClr val="accent5"/>
            </a:solidFill>
            <a:prstDash val="solid"/>
            <a:tailEnd type="triangle"/>
          </a:ln>
        </p:spPr>
        <p:txBody>
          <a:bodyPr/>
          <a:lstStyle/>
          <a:p>
            <a:endParaRPr lang="en-US"/>
          </a:p>
        </p:txBody>
      </p:sp>
      <p:sp>
        <p:nvSpPr>
          <p:cNvPr id="35" name="a6_st5_c"/>
          <p:cNvSpPr/>
          <p:nvPr/>
        </p:nvSpPr>
        <p:spPr>
          <a:xfrm>
            <a:off x="10405872" y="2057400"/>
            <a:ext cx="868680" cy="868680"/>
          </a:xfrm>
          <a:prstGeom prst="ellipse">
            <a:avLst/>
          </a:prstGeom>
          <a:solidFill>
            <a:schemeClr val="accent3"/>
          </a:solidFill>
          <a:ln/>
          <a:effectLst>
            <a:outerShdw blurRad="101600" dist="25400" dir="5400000" algn="bl" rotWithShape="0">
              <a:srgbClr val="1B2A22">
                <a:alpha val="18000"/>
              </a:srgbClr>
            </a:outerShdw>
          </a:effectLst>
        </p:spPr>
        <p:txBody>
          <a:bodyPr/>
          <a:lstStyle/>
          <a:p>
            <a:endParaRPr lang="en-US"/>
          </a:p>
        </p:txBody>
      </p:sp>
      <p:pic>
        <p:nvPicPr>
          <p:cNvPr id="36" name="a6_st5_i" descr="preencoded.png"/>
          <p:cNvPicPr>
            <a:picLocks noChangeAspect="1"/>
          </p:cNvPicPr>
          <p:nvPr/>
        </p:nvPicPr>
        <p:blipFill>
          <a:blip r:embed="rId8"/>
          <a:stretch>
            <a:fillRect/>
          </a:stretch>
        </p:blipFill>
        <p:spPr>
          <a:xfrm>
            <a:off x="10623042" y="2274570"/>
            <a:ext cx="434340" cy="434340"/>
          </a:xfrm>
          <a:prstGeom prst="rect">
            <a:avLst/>
          </a:prstGeom>
        </p:spPr>
      </p:pic>
      <p:sp>
        <p:nvSpPr>
          <p:cNvPr id="37" name="a6_sl5"/>
          <p:cNvSpPr txBox="1"/>
          <p:nvPr/>
        </p:nvSpPr>
        <p:spPr>
          <a:xfrm>
            <a:off x="9925812" y="3063240"/>
            <a:ext cx="1828800" cy="384048"/>
          </a:xfrm>
          <a:prstGeom prst="rect">
            <a:avLst/>
          </a:prstGeom>
          <a:noFill/>
          <a:ln/>
        </p:spPr>
        <p:txBody>
          <a:bodyPr wrap="square" lIns="0" tIns="0" rIns="0" bIns="0" rtlCol="0" anchor="t"/>
          <a:lstStyle/>
          <a:p>
            <a:pPr marL="0" indent="0" algn="ctr">
              <a:buNone/>
            </a:pPr>
            <a:r>
              <a:rPr lang="en-US" sz="1700" b="1" dirty="0">
                <a:solidFill>
                  <a:schemeClr val="tx2"/>
                </a:solidFill>
              </a:rPr>
              <a:t>Questions</a:t>
            </a:r>
            <a:endParaRPr lang="en-US" sz="1700" dirty="0"/>
          </a:p>
        </p:txBody>
      </p:sp>
      <p:sp>
        <p:nvSpPr>
          <p:cNvPr id="38" name="a6_sd5"/>
          <p:cNvSpPr txBox="1"/>
          <p:nvPr/>
        </p:nvSpPr>
        <p:spPr>
          <a:xfrm>
            <a:off x="9925812" y="3447288"/>
            <a:ext cx="1828800" cy="640080"/>
          </a:xfrm>
          <a:prstGeom prst="rect">
            <a:avLst/>
          </a:prstGeom>
          <a:noFill/>
          <a:ln/>
        </p:spPr>
        <p:txBody>
          <a:bodyPr wrap="square" lIns="0" tIns="0" rIns="0" bIns="0" rtlCol="0" anchor="t"/>
          <a:lstStyle/>
          <a:p>
            <a:pPr marL="0" indent="0" algn="ctr">
              <a:buNone/>
            </a:pPr>
            <a:r>
              <a:rPr lang="en-US" sz="1400" dirty="0">
                <a:solidFill>
                  <a:schemeClr val="accent5"/>
                </a:solidFill>
              </a:rPr>
              <a:t>Gemini, or refuse</a:t>
            </a:r>
            <a:endParaRPr lang="en-US" sz="1400" dirty="0"/>
          </a:p>
        </p:txBody>
      </p:sp>
      <p:sp>
        <p:nvSpPr>
          <p:cNvPr id="39" name="a6_sf5"/>
          <p:cNvSpPr txBox="1"/>
          <p:nvPr/>
        </p:nvSpPr>
        <p:spPr>
          <a:xfrm>
            <a:off x="9925812" y="4114800"/>
            <a:ext cx="1828800" cy="320040"/>
          </a:xfrm>
          <a:prstGeom prst="rect">
            <a:avLst/>
          </a:prstGeom>
          <a:noFill/>
          <a:ln/>
        </p:spPr>
        <p:txBody>
          <a:bodyPr wrap="square" lIns="0" tIns="0" rIns="0" bIns="0" rtlCol="0" anchor="t"/>
          <a:lstStyle/>
          <a:p>
            <a:pPr marL="0" indent="0" algn="ctr">
              <a:buNone/>
            </a:pPr>
            <a:r>
              <a:rPr lang="en-US" sz="1300" b="1" dirty="0">
                <a:solidFill>
                  <a:schemeClr val="accent1"/>
                </a:solidFill>
                <a:latin typeface="Consolas" pitchFamily="34" charset="0"/>
                <a:ea typeface="Consolas" pitchFamily="34" charset="-122"/>
                <a:cs typeface="Consolas" pitchFamily="34" charset="-120"/>
              </a:rPr>
              <a:t>access-layer/</a:t>
            </a:r>
            <a:endParaRPr lang="en-US" sz="1300" dirty="0"/>
          </a:p>
        </p:txBody>
      </p:sp>
      <p:pic>
        <p:nvPicPr>
          <p:cNvPr id="40" name="a7_desc_bg" descr="preencoded.png"/>
          <p:cNvPicPr>
            <a:picLocks noChangeAspect="1"/>
          </p:cNvPicPr>
          <p:nvPr/>
        </p:nvPicPr>
        <p:blipFill>
          <a:blip r:embed="rId9"/>
          <a:stretch>
            <a:fillRect/>
          </a:stretch>
        </p:blipFill>
        <p:spPr>
          <a:xfrm>
            <a:off x="548640" y="5029200"/>
            <a:ext cx="11091672" cy="1261872"/>
          </a:xfrm>
          <a:prstGeom prst="rect">
            <a:avLst/>
          </a:prstGeom>
          <a:effectLst>
            <a:outerShdw blurRad="152400" dist="25400" dir="5400000" algn="bl" rotWithShape="0">
              <a:srgbClr val="1B2A22">
                <a:alpha val="25000"/>
              </a:srgbClr>
            </a:outerShdw>
          </a:effectLst>
        </p:spPr>
      </p:pic>
      <p:sp>
        <p:nvSpPr>
          <p:cNvPr id="41" name="a7_desc_tx"/>
          <p:cNvSpPr txBox="1"/>
          <p:nvPr/>
        </p:nvSpPr>
        <p:spPr>
          <a:xfrm>
            <a:off x="914400" y="5029200"/>
            <a:ext cx="10360152" cy="1261872"/>
          </a:xfrm>
          <a:prstGeom prst="rect">
            <a:avLst/>
          </a:prstGeom>
          <a:noFill/>
          <a:ln/>
        </p:spPr>
        <p:txBody>
          <a:bodyPr wrap="square" lIns="0" tIns="0" rIns="0" bIns="0" rtlCol="0" anchor="ctr"/>
          <a:lstStyle/>
          <a:p>
            <a:pPr marL="0" indent="0">
              <a:lnSpc>
                <a:spcPct val="100000"/>
              </a:lnSpc>
              <a:buNone/>
            </a:pPr>
            <a:r>
              <a:rPr lang="en-US" sz="1400" dirty="0">
                <a:solidFill>
                  <a:schemeClr val="bg1"/>
                </a:solidFill>
              </a:rPr>
              <a:t>FoodScope takes real USDA food tables and turns them into a knowledge graph. Each step checks the one before it: the mapped graph must pass ten SHACL rules and the reasoner must find no contradiction before anything is loaded into Fuseki. On top, anyone can ask a question in English. Entity resolution and two learning models run on the side: we measure them, but never show their predictions as facts.</a:t>
            </a:r>
            <a:endParaRPr lang="en-US" sz="1400" dirty="0"/>
          </a:p>
        </p:txBody>
      </p:sp>
      <p:sp>
        <p:nvSpPr>
          <p:cNvPr id="42" name="Slide Number Placeholder 0"/>
          <p:cNvSpPr>
            <a:spLocks noGrp="1"/>
          </p:cNvSpPr>
          <p:nvPr>
            <p:ph type="sldNum" sz="quarter" idx="4294967295"/>
          </p:nvPr>
        </p:nvSpPr>
        <p:spPr>
          <a:xfrm>
            <a:off x="11183112"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6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10" presetClass="entr" presetSubtype="0" fill="hold"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500"/>
                                        <p:tgtEl>
                                          <p:spTgt spid="8"/>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par>
                          <p:cTn id="28" fill="hold">
                            <p:stCondLst>
                              <p:cond delay="280"/>
                            </p:stCondLst>
                            <p:childTnLst>
                              <p:par>
                                <p:cTn id="29" presetID="22" presetClass="entr" presetSubtype="8"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wipe(left)">
                                      <p:cBhvr>
                                        <p:cTn id="31" dur="600"/>
                                        <p:tgtEl>
                                          <p:spTgt spid="1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childTnLst>
                          </p:cTn>
                        </p:par>
                        <p:par>
                          <p:cTn id="47" fill="hold">
                            <p:stCondLst>
                              <p:cond delay="560"/>
                            </p:stCondLst>
                            <p:childTnLst>
                              <p:par>
                                <p:cTn id="48" presetID="22" presetClass="entr" presetSubtype="8" fill="hold" grpId="0" nodeType="after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wipe(left)">
                                      <p:cBhvr>
                                        <p:cTn id="50" dur="600"/>
                                        <p:tgtEl>
                                          <p:spTgt spid="16"/>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childTnLst>
                                </p:cTn>
                              </p:par>
                              <p:par>
                                <p:cTn id="54" presetID="10" presetClass="entr" presetSubtype="0" fill="hold" nodeType="with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500"/>
                                        <p:tgtEl>
                                          <p:spTgt spid="18"/>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500"/>
                                        <p:tgtEl>
                                          <p:spTgt spid="20"/>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500"/>
                                        <p:tgtEl>
                                          <p:spTgt spid="21"/>
                                        </p:tgtEl>
                                      </p:cBhvr>
                                    </p:animEffect>
                                  </p:childTnLst>
                                </p:cTn>
                              </p:par>
                            </p:childTnLst>
                          </p:cTn>
                        </p:par>
                        <p:par>
                          <p:cTn id="66" fill="hold">
                            <p:stCondLst>
                              <p:cond delay="840"/>
                            </p:stCondLst>
                            <p:childTnLst>
                              <p:par>
                                <p:cTn id="67" presetID="22" presetClass="entr" presetSubtype="8" fill="hold" grpId="0" nodeType="after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600"/>
                                        <p:tgtEl>
                                          <p:spTgt spid="22"/>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3"/>
                                        </p:tgtEl>
                                        <p:attrNameLst>
                                          <p:attrName>style.visibility</p:attrName>
                                        </p:attrNameLst>
                                      </p:cBhvr>
                                      <p:to>
                                        <p:strVal val="visible"/>
                                      </p:to>
                                    </p:set>
                                    <p:animEffect transition="in" filter="fade">
                                      <p:cBhvr>
                                        <p:cTn id="72" dur="500"/>
                                        <p:tgtEl>
                                          <p:spTgt spid="23"/>
                                        </p:tgtEl>
                                      </p:cBhvr>
                                    </p:animEffect>
                                  </p:childTnLst>
                                </p:cTn>
                              </p:par>
                              <p:par>
                                <p:cTn id="73" presetID="10" presetClass="entr" presetSubtype="0" fill="hold" nodeType="with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0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fade">
                                      <p:cBhvr>
                                        <p:cTn id="84" dur="500"/>
                                        <p:tgtEl>
                                          <p:spTgt spid="27"/>
                                        </p:tgtEl>
                                      </p:cBhvr>
                                    </p:animEffect>
                                  </p:childTnLst>
                                </p:cTn>
                              </p:par>
                            </p:childTnLst>
                          </p:cTn>
                        </p:par>
                        <p:par>
                          <p:cTn id="85" fill="hold">
                            <p:stCondLst>
                              <p:cond delay="1120"/>
                            </p:stCondLst>
                            <p:childTnLst>
                              <p:par>
                                <p:cTn id="86" presetID="22" presetClass="entr" presetSubtype="8" fill="hold" grpId="0" nodeType="after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wipe(left)">
                                      <p:cBhvr>
                                        <p:cTn id="88" dur="6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500"/>
                                        <p:tgtEl>
                                          <p:spTgt spid="29"/>
                                        </p:tgtEl>
                                      </p:cBhvr>
                                    </p:animEffect>
                                  </p:childTnLst>
                                </p:cTn>
                              </p:par>
                              <p:par>
                                <p:cTn id="92" presetID="10" presetClass="entr" presetSubtype="0" fill="hold" nodeType="withEffect">
                                  <p:stCondLst>
                                    <p:cond delay="0"/>
                                  </p:stCondLst>
                                  <p:childTnLst>
                                    <p:set>
                                      <p:cBhvr>
                                        <p:cTn id="93" dur="1" fill="hold">
                                          <p:stCondLst>
                                            <p:cond delay="0"/>
                                          </p:stCondLst>
                                        </p:cTn>
                                        <p:tgtEl>
                                          <p:spTgt spid="30"/>
                                        </p:tgtEl>
                                        <p:attrNameLst>
                                          <p:attrName>style.visibility</p:attrName>
                                        </p:attrNameLst>
                                      </p:cBhvr>
                                      <p:to>
                                        <p:strVal val="visible"/>
                                      </p:to>
                                    </p:set>
                                    <p:animEffect transition="in" filter="fade">
                                      <p:cBhvr>
                                        <p:cTn id="94" dur="500"/>
                                        <p:tgtEl>
                                          <p:spTgt spid="30"/>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1"/>
                                        </p:tgtEl>
                                        <p:attrNameLst>
                                          <p:attrName>style.visibility</p:attrName>
                                        </p:attrNameLst>
                                      </p:cBhvr>
                                      <p:to>
                                        <p:strVal val="visible"/>
                                      </p:to>
                                    </p:set>
                                    <p:animEffect transition="in" filter="fade">
                                      <p:cBhvr>
                                        <p:cTn id="97" dur="500"/>
                                        <p:tgtEl>
                                          <p:spTgt spid="31"/>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32"/>
                                        </p:tgtEl>
                                        <p:attrNameLst>
                                          <p:attrName>style.visibility</p:attrName>
                                        </p:attrNameLst>
                                      </p:cBhvr>
                                      <p:to>
                                        <p:strVal val="visible"/>
                                      </p:to>
                                    </p:set>
                                    <p:animEffect transition="in" filter="fade">
                                      <p:cBhvr>
                                        <p:cTn id="100" dur="500"/>
                                        <p:tgtEl>
                                          <p:spTgt spid="32"/>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33"/>
                                        </p:tgtEl>
                                        <p:attrNameLst>
                                          <p:attrName>style.visibility</p:attrName>
                                        </p:attrNameLst>
                                      </p:cBhvr>
                                      <p:to>
                                        <p:strVal val="visible"/>
                                      </p:to>
                                    </p:set>
                                    <p:animEffect transition="in" filter="fade">
                                      <p:cBhvr>
                                        <p:cTn id="103" dur="500"/>
                                        <p:tgtEl>
                                          <p:spTgt spid="33"/>
                                        </p:tgtEl>
                                      </p:cBhvr>
                                    </p:animEffect>
                                  </p:childTnLst>
                                </p:cTn>
                              </p:par>
                            </p:childTnLst>
                          </p:cTn>
                        </p:par>
                        <p:par>
                          <p:cTn id="104" fill="hold">
                            <p:stCondLst>
                              <p:cond delay="1400"/>
                            </p:stCondLst>
                            <p:childTnLst>
                              <p:par>
                                <p:cTn id="105" presetID="22" presetClass="entr" presetSubtype="8" fill="hold" grpId="0" nodeType="afterEffect">
                                  <p:stCondLst>
                                    <p:cond delay="0"/>
                                  </p:stCondLst>
                                  <p:childTnLst>
                                    <p:set>
                                      <p:cBhvr>
                                        <p:cTn id="106" dur="1" fill="hold">
                                          <p:stCondLst>
                                            <p:cond delay="0"/>
                                          </p:stCondLst>
                                        </p:cTn>
                                        <p:tgtEl>
                                          <p:spTgt spid="34"/>
                                        </p:tgtEl>
                                        <p:attrNameLst>
                                          <p:attrName>style.visibility</p:attrName>
                                        </p:attrNameLst>
                                      </p:cBhvr>
                                      <p:to>
                                        <p:strVal val="visible"/>
                                      </p:to>
                                    </p:set>
                                    <p:animEffect transition="in" filter="wipe(left)">
                                      <p:cBhvr>
                                        <p:cTn id="107" dur="600"/>
                                        <p:tgtEl>
                                          <p:spTgt spid="34"/>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35"/>
                                        </p:tgtEl>
                                        <p:attrNameLst>
                                          <p:attrName>style.visibility</p:attrName>
                                        </p:attrNameLst>
                                      </p:cBhvr>
                                      <p:to>
                                        <p:strVal val="visible"/>
                                      </p:to>
                                    </p:set>
                                    <p:animEffect transition="in" filter="fade">
                                      <p:cBhvr>
                                        <p:cTn id="110" dur="500"/>
                                        <p:tgtEl>
                                          <p:spTgt spid="35"/>
                                        </p:tgtEl>
                                      </p:cBhvr>
                                    </p:animEffect>
                                  </p:childTnLst>
                                </p:cTn>
                              </p:par>
                              <p:par>
                                <p:cTn id="111" presetID="10" presetClass="entr" presetSubtype="0" fill="hold" nodeType="withEffect">
                                  <p:stCondLst>
                                    <p:cond delay="0"/>
                                  </p:stCondLst>
                                  <p:childTnLst>
                                    <p:set>
                                      <p:cBhvr>
                                        <p:cTn id="112" dur="1" fill="hold">
                                          <p:stCondLst>
                                            <p:cond delay="0"/>
                                          </p:stCondLst>
                                        </p:cTn>
                                        <p:tgtEl>
                                          <p:spTgt spid="36"/>
                                        </p:tgtEl>
                                        <p:attrNameLst>
                                          <p:attrName>style.visibility</p:attrName>
                                        </p:attrNameLst>
                                      </p:cBhvr>
                                      <p:to>
                                        <p:strVal val="visible"/>
                                      </p:to>
                                    </p:set>
                                    <p:animEffect transition="in" filter="fade">
                                      <p:cBhvr>
                                        <p:cTn id="113" dur="500"/>
                                        <p:tgtEl>
                                          <p:spTgt spid="36"/>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37"/>
                                        </p:tgtEl>
                                        <p:attrNameLst>
                                          <p:attrName>style.visibility</p:attrName>
                                        </p:attrNameLst>
                                      </p:cBhvr>
                                      <p:to>
                                        <p:strVal val="visible"/>
                                      </p:to>
                                    </p:set>
                                    <p:animEffect transition="in" filter="fade">
                                      <p:cBhvr>
                                        <p:cTn id="116" dur="500"/>
                                        <p:tgtEl>
                                          <p:spTgt spid="37"/>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fade">
                                      <p:cBhvr>
                                        <p:cTn id="119" dur="500"/>
                                        <p:tgtEl>
                                          <p:spTgt spid="38"/>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39"/>
                                        </p:tgtEl>
                                        <p:attrNameLst>
                                          <p:attrName>style.visibility</p:attrName>
                                        </p:attrNameLst>
                                      </p:cBhvr>
                                      <p:to>
                                        <p:strVal val="visible"/>
                                      </p:to>
                                    </p:set>
                                    <p:animEffect transition="in" filter="fade">
                                      <p:cBhvr>
                                        <p:cTn id="122" dur="500"/>
                                        <p:tgtEl>
                                          <p:spTgt spid="39"/>
                                        </p:tgtEl>
                                      </p:cBhvr>
                                    </p:animEffect>
                                  </p:childTnLst>
                                </p:cTn>
                              </p:par>
                            </p:childTnLst>
                          </p:cTn>
                        </p:par>
                      </p:childTnLst>
                    </p:cTn>
                  </p:par>
                  <p:par>
                    <p:cTn id="123" fill="hold">
                      <p:stCondLst>
                        <p:cond delay="indefinite"/>
                      </p:stCondLst>
                      <p:childTnLst>
                        <p:par>
                          <p:cTn id="124" fill="hold">
                            <p:stCondLst>
                              <p:cond delay="0"/>
                            </p:stCondLst>
                            <p:childTnLst>
                              <p:par>
                                <p:cTn id="125" presetID="22" presetClass="entr" presetSubtype="8" fill="hold" nodeType="clickEffect">
                                  <p:stCondLst>
                                    <p:cond delay="0"/>
                                  </p:stCondLst>
                                  <p:childTnLst>
                                    <p:set>
                                      <p:cBhvr>
                                        <p:cTn id="126" dur="1" fill="hold">
                                          <p:stCondLst>
                                            <p:cond delay="0"/>
                                          </p:stCondLst>
                                        </p:cTn>
                                        <p:tgtEl>
                                          <p:spTgt spid="40"/>
                                        </p:tgtEl>
                                        <p:attrNameLst>
                                          <p:attrName>style.visibility</p:attrName>
                                        </p:attrNameLst>
                                      </p:cBhvr>
                                      <p:to>
                                        <p:strVal val="visible"/>
                                      </p:to>
                                    </p:set>
                                    <p:animEffect transition="in" filter="wipe(left)">
                                      <p:cBhvr>
                                        <p:cTn id="127" dur="600"/>
                                        <p:tgtEl>
                                          <p:spTgt spid="40"/>
                                        </p:tgtEl>
                                      </p:cBhvr>
                                    </p:animEffect>
                                  </p:childTnLst>
                                </p:cTn>
                              </p:par>
                              <p:par>
                                <p:cTn id="128" presetID="10" presetClass="entr" presetSubtype="0" fill="hold" grpId="0" nodeType="withEffect">
                                  <p:stCondLst>
                                    <p:cond delay="0"/>
                                  </p:stCondLst>
                                  <p:childTnLst>
                                    <p:set>
                                      <p:cBhvr>
                                        <p:cTn id="129" dur="1" fill="hold">
                                          <p:stCondLst>
                                            <p:cond delay="0"/>
                                          </p:stCondLst>
                                        </p:cTn>
                                        <p:tgtEl>
                                          <p:spTgt spid="41"/>
                                        </p:tgtEl>
                                        <p:attrNameLst>
                                          <p:attrName>style.visibility</p:attrName>
                                        </p:attrNameLst>
                                      </p:cBhvr>
                                      <p:to>
                                        <p:strVal val="visible"/>
                                      </p:to>
                                    </p:set>
                                    <p:animEffect transition="in" filter="fade">
                                      <p:cBhvr>
                                        <p:cTn id="130"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10" grpId="0" animBg="1"/>
      <p:bldP spid="11" grpId="0" animBg="1"/>
      <p:bldP spid="13" grpId="0" animBg="1"/>
      <p:bldP spid="14" grpId="0" animBg="1"/>
      <p:bldP spid="15" grpId="0" animBg="1"/>
      <p:bldP spid="16" grpId="0" animBg="1"/>
      <p:bldP spid="17" grpId="0" animBg="1"/>
      <p:bldP spid="19" grpId="0" animBg="1"/>
      <p:bldP spid="20" grpId="0" animBg="1"/>
      <p:bldP spid="21" grpId="0" animBg="1"/>
      <p:bldP spid="22" grpId="0" animBg="1"/>
      <p:bldP spid="23" grpId="0" animBg="1"/>
      <p:bldP spid="25" grpId="0" animBg="1"/>
      <p:bldP spid="26" grpId="0" animBg="1"/>
      <p:bldP spid="27" grpId="0" animBg="1"/>
      <p:bldP spid="28" grpId="0" animBg="1"/>
      <p:bldP spid="29" grpId="0" animBg="1"/>
      <p:bldP spid="31" grpId="0" animBg="1"/>
      <p:bldP spid="32" grpId="0" animBg="1"/>
      <p:bldP spid="33" grpId="0" animBg="1"/>
      <p:bldP spid="34" grpId="0" animBg="1"/>
      <p:bldP spid="35" grpId="0" animBg="1"/>
      <p:bldP spid="37" grpId="0" animBg="1"/>
      <p:bldP spid="38" grpId="0" animBg="1"/>
      <p:bldP spid="39" grpId="0" animBg="1"/>
      <p:bldP spid="41"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47472"/>
            <a:ext cx="9052560" cy="640080"/>
          </a:xfrm>
          <a:prstGeom prst="rect">
            <a:avLst/>
          </a:prstGeom>
          <a:noFill/>
          <a:ln/>
        </p:spPr>
        <p:txBody>
          <a:bodyPr wrap="square" lIns="0" tIns="0" rIns="0" bIns="0" rtlCol="0" anchor="t"/>
          <a:lstStyle/>
          <a:p>
            <a:pPr marL="0" indent="0" algn="l">
              <a:buNone/>
            </a:pPr>
            <a:r>
              <a:rPr lang="en-US" sz="3400" b="1" dirty="0">
                <a:solidFill>
                  <a:schemeClr val="tx2"/>
                </a:solidFill>
              </a:rPr>
              <a:t>Problem and scope</a:t>
            </a:r>
            <a:endParaRPr lang="en-US" sz="3400" dirty="0"/>
          </a:p>
        </p:txBody>
      </p:sp>
      <p:sp>
        <p:nvSpPr>
          <p:cNvPr id="3" name="Text 0"/>
          <p:cNvSpPr>
            <a:spLocks noGrp="1"/>
          </p:cNvSpPr>
          <p:nvPr>
            <p:ph type="body" idx="101" hasCustomPrompt="1"/>
          </p:nvPr>
        </p:nvSpPr>
        <p:spPr>
          <a:xfrm>
            <a:off x="548640" y="987552"/>
            <a:ext cx="9326880" cy="411480"/>
          </a:xfrm>
          <a:prstGeom prst="rect">
            <a:avLst/>
          </a:prstGeom>
          <a:noFill/>
          <a:ln/>
        </p:spPr>
        <p:txBody>
          <a:bodyPr wrap="square" lIns="0" tIns="0" rIns="0" bIns="0" rtlCol="0" anchor="t"/>
          <a:lstStyle/>
          <a:p>
            <a:pPr marL="0" indent="0">
              <a:buNone/>
            </a:pPr>
            <a:r>
              <a:rPr lang="en-US" sz="1900" dirty="0">
                <a:solidFill>
                  <a:schemeClr val="accent2"/>
                </a:solidFill>
              </a:rPr>
              <a:t>Questions that food tables cannot answer easily</a:t>
            </a:r>
            <a:endParaRPr lang="en-US" sz="1900" dirty="0"/>
          </a:p>
        </p:txBody>
      </p:sp>
      <p:sp>
        <p:nvSpPr>
          <p:cNvPr id="4" name="a0_chip"/>
          <p:cNvSpPr txBox="1"/>
          <p:nvPr/>
        </p:nvSpPr>
        <p:spPr>
          <a:xfrm>
            <a:off x="9720072" y="411480"/>
            <a:ext cx="1920240" cy="384048"/>
          </a:xfrm>
          <a:prstGeom prst="roundRect">
            <a:avLst>
              <a:gd name="adj" fmla="val 50000"/>
            </a:avLst>
          </a:prstGeom>
          <a:solidFill>
            <a:schemeClr val="bg1"/>
          </a:solidFill>
          <a:ln w="12700">
            <a:solidFill>
              <a:schemeClr val="accent4"/>
            </a:solidFill>
          </a:ln>
        </p:spPr>
        <p:txBody>
          <a:bodyPr wrap="square" lIns="0" tIns="0" rIns="0" bIns="0" rtlCol="0" anchor="ctr"/>
          <a:lstStyle/>
          <a:p>
            <a:pPr marL="0" indent="0" algn="ctr">
              <a:buNone/>
            </a:pPr>
            <a:r>
              <a:rPr lang="en-US" sz="1300" b="1" dirty="0">
                <a:solidFill>
                  <a:schemeClr val="accent1"/>
                </a:solidFill>
                <a:latin typeface="Consolas" pitchFamily="34" charset="0"/>
                <a:ea typeface="Consolas" pitchFamily="34" charset="-122"/>
                <a:cs typeface="Consolas" pitchFamily="34" charset="-120"/>
              </a:rPr>
              <a:t>sparql/</a:t>
            </a:r>
            <a:endParaRPr lang="en-US" sz="1300" dirty="0"/>
          </a:p>
        </p:txBody>
      </p:sp>
      <p:sp>
        <p:nvSpPr>
          <p:cNvPr id="5" name="a1_qh"/>
          <p:cNvSpPr txBox="1"/>
          <p:nvPr/>
        </p:nvSpPr>
        <p:spPr>
          <a:xfrm>
            <a:off x="548640" y="1645920"/>
            <a:ext cx="6126480" cy="365760"/>
          </a:xfrm>
          <a:prstGeom prst="rect">
            <a:avLst/>
          </a:prstGeom>
          <a:noFill/>
          <a:ln/>
        </p:spPr>
        <p:txBody>
          <a:bodyPr wrap="square" lIns="0" tIns="0" rIns="0" bIns="0" rtlCol="0" anchor="t"/>
          <a:lstStyle/>
          <a:p>
            <a:pPr marL="0" indent="0">
              <a:buNone/>
            </a:pPr>
            <a:r>
              <a:rPr lang="en-US" sz="1800" b="1" dirty="0">
                <a:solidFill>
                  <a:schemeClr val="tx2"/>
                </a:solidFill>
              </a:rPr>
              <a:t>What people want to ask</a:t>
            </a:r>
            <a:endParaRPr lang="en-US" sz="1800" dirty="0"/>
          </a:p>
        </p:txBody>
      </p:sp>
      <p:sp>
        <p:nvSpPr>
          <p:cNvPr id="6" name="a2_qc0"/>
          <p:cNvSpPr/>
          <p:nvPr/>
        </p:nvSpPr>
        <p:spPr>
          <a:xfrm>
            <a:off x="548640" y="2103120"/>
            <a:ext cx="6126480" cy="749808"/>
          </a:xfrm>
          <a:prstGeom prst="roundRect">
            <a:avLst>
              <a:gd name="adj" fmla="val 17073"/>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7" name="a2_qt0"/>
          <p:cNvSpPr txBox="1"/>
          <p:nvPr/>
        </p:nvSpPr>
        <p:spPr>
          <a:xfrm>
            <a:off x="777240" y="2103120"/>
            <a:ext cx="4023360" cy="749808"/>
          </a:xfrm>
          <a:prstGeom prst="rect">
            <a:avLst/>
          </a:prstGeom>
          <a:noFill/>
          <a:ln/>
        </p:spPr>
        <p:txBody>
          <a:bodyPr wrap="square" lIns="0" tIns="0" rIns="0" bIns="0" rtlCol="0" anchor="ctr"/>
          <a:lstStyle/>
          <a:p>
            <a:pPr marL="0" indent="0">
              <a:buNone/>
            </a:pPr>
            <a:r>
              <a:rPr lang="en-US" sz="1600" dirty="0">
                <a:solidFill>
                  <a:schemeClr val="tx2"/>
                </a:solidFill>
              </a:rPr>
              <a:t>“Which foods have more than 20 g of fat per 100 g?”</a:t>
            </a:r>
            <a:endParaRPr lang="en-US" sz="1600" dirty="0"/>
          </a:p>
        </p:txBody>
      </p:sp>
      <p:sp>
        <p:nvSpPr>
          <p:cNvPr id="8" name="a2_qa0"/>
          <p:cNvSpPr txBox="1"/>
          <p:nvPr/>
        </p:nvSpPr>
        <p:spPr>
          <a:xfrm>
            <a:off x="4754880" y="2103120"/>
            <a:ext cx="1737360" cy="749808"/>
          </a:xfrm>
          <a:prstGeom prst="rect">
            <a:avLst/>
          </a:prstGeom>
          <a:noFill/>
          <a:ln/>
        </p:spPr>
        <p:txBody>
          <a:bodyPr wrap="square" lIns="0" tIns="0" rIns="0" bIns="0" rtlCol="0" anchor="ctr"/>
          <a:lstStyle/>
          <a:p>
            <a:pPr marL="0" indent="0" algn="r">
              <a:buNone/>
            </a:pPr>
            <a:r>
              <a:rPr lang="en-US" sz="1500" b="1" dirty="0">
                <a:solidFill>
                  <a:schemeClr val="accent1"/>
                </a:solidFill>
              </a:rPr>
              <a:t>55 foods</a:t>
            </a:r>
            <a:endParaRPr lang="en-US" sz="1500" dirty="0"/>
          </a:p>
        </p:txBody>
      </p:sp>
      <p:sp>
        <p:nvSpPr>
          <p:cNvPr id="9" name="a3_qc1"/>
          <p:cNvSpPr/>
          <p:nvPr/>
        </p:nvSpPr>
        <p:spPr>
          <a:xfrm>
            <a:off x="548640" y="2999232"/>
            <a:ext cx="6126480" cy="749808"/>
          </a:xfrm>
          <a:prstGeom prst="roundRect">
            <a:avLst>
              <a:gd name="adj" fmla="val 17073"/>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10" name="a3_qt1"/>
          <p:cNvSpPr txBox="1"/>
          <p:nvPr/>
        </p:nvSpPr>
        <p:spPr>
          <a:xfrm>
            <a:off x="777240" y="2999232"/>
            <a:ext cx="4023360" cy="749808"/>
          </a:xfrm>
          <a:prstGeom prst="rect">
            <a:avLst/>
          </a:prstGeom>
          <a:noFill/>
          <a:ln/>
        </p:spPr>
        <p:txBody>
          <a:bodyPr wrap="square" lIns="0" tIns="0" rIns="0" bIns="0" rtlCol="0" anchor="ctr"/>
          <a:lstStyle/>
          <a:p>
            <a:pPr marL="0" indent="0">
              <a:buNone/>
            </a:pPr>
            <a:r>
              <a:rPr lang="en-US" sz="1600" dirty="0">
                <a:solidFill>
                  <a:schemeClr val="tx2"/>
                </a:solidFill>
              </a:rPr>
              <a:t>“Which foods have no sodium measurement?”</a:t>
            </a:r>
            <a:endParaRPr lang="en-US" sz="1600" dirty="0"/>
          </a:p>
        </p:txBody>
      </p:sp>
      <p:sp>
        <p:nvSpPr>
          <p:cNvPr id="11" name="a3_qa1"/>
          <p:cNvSpPr txBox="1"/>
          <p:nvPr/>
        </p:nvSpPr>
        <p:spPr>
          <a:xfrm>
            <a:off x="4754880" y="2999232"/>
            <a:ext cx="1737360" cy="749808"/>
          </a:xfrm>
          <a:prstGeom prst="rect">
            <a:avLst/>
          </a:prstGeom>
          <a:noFill/>
          <a:ln/>
        </p:spPr>
        <p:txBody>
          <a:bodyPr wrap="square" lIns="0" tIns="0" rIns="0" bIns="0" rtlCol="0" anchor="ctr"/>
          <a:lstStyle/>
          <a:p>
            <a:pPr marL="0" indent="0" algn="r">
              <a:buNone/>
            </a:pPr>
            <a:r>
              <a:rPr lang="en-US" sz="1500" b="1" dirty="0">
                <a:solidFill>
                  <a:schemeClr val="accent1"/>
                </a:solidFill>
              </a:rPr>
              <a:t>49 foods</a:t>
            </a:r>
            <a:endParaRPr lang="en-US" sz="1500" dirty="0"/>
          </a:p>
        </p:txBody>
      </p:sp>
      <p:sp>
        <p:nvSpPr>
          <p:cNvPr id="12" name="a4_qc2"/>
          <p:cNvSpPr/>
          <p:nvPr/>
        </p:nvSpPr>
        <p:spPr>
          <a:xfrm>
            <a:off x="548640" y="3895344"/>
            <a:ext cx="6126480" cy="749808"/>
          </a:xfrm>
          <a:prstGeom prst="roundRect">
            <a:avLst>
              <a:gd name="adj" fmla="val 17073"/>
            </a:avLst>
          </a:prstGeom>
          <a:solidFill>
            <a:schemeClr val="accent3">
              <a:alpha val="15000"/>
            </a:schemeClr>
          </a:solidFill>
          <a:ln/>
        </p:spPr>
        <p:txBody>
          <a:bodyPr/>
          <a:lstStyle/>
          <a:p>
            <a:endParaRPr lang="en-US"/>
          </a:p>
        </p:txBody>
      </p:sp>
      <p:sp>
        <p:nvSpPr>
          <p:cNvPr id="13" name="a4_qt2"/>
          <p:cNvSpPr txBox="1"/>
          <p:nvPr/>
        </p:nvSpPr>
        <p:spPr>
          <a:xfrm>
            <a:off x="777240" y="3895344"/>
            <a:ext cx="4023360" cy="749808"/>
          </a:xfrm>
          <a:prstGeom prst="rect">
            <a:avLst/>
          </a:prstGeom>
          <a:noFill/>
          <a:ln/>
        </p:spPr>
        <p:txBody>
          <a:bodyPr wrap="square" lIns="0" tIns="0" rIns="0" bIns="0" rtlCol="0" anchor="ctr"/>
          <a:lstStyle/>
          <a:p>
            <a:pPr marL="0" indent="0">
              <a:buNone/>
            </a:pPr>
            <a:r>
              <a:rPr lang="en-US" sz="1600" dirty="0">
                <a:solidFill>
                  <a:schemeClr val="tx2"/>
                </a:solidFill>
              </a:rPr>
              <a:t>“What is the price of each food?”</a:t>
            </a:r>
            <a:endParaRPr lang="en-US" sz="1600" dirty="0"/>
          </a:p>
        </p:txBody>
      </p:sp>
      <p:sp>
        <p:nvSpPr>
          <p:cNvPr id="14" name="a4_qa2"/>
          <p:cNvSpPr txBox="1"/>
          <p:nvPr/>
        </p:nvSpPr>
        <p:spPr>
          <a:xfrm>
            <a:off x="4754880" y="3895344"/>
            <a:ext cx="1737360" cy="749808"/>
          </a:xfrm>
          <a:prstGeom prst="rect">
            <a:avLst/>
          </a:prstGeom>
          <a:noFill/>
          <a:ln/>
        </p:spPr>
        <p:txBody>
          <a:bodyPr wrap="square" lIns="0" tIns="0" rIns="0" bIns="0" rtlCol="0" anchor="ctr"/>
          <a:lstStyle/>
          <a:p>
            <a:pPr marL="0" indent="0" algn="r">
              <a:buNone/>
            </a:pPr>
            <a:r>
              <a:rPr lang="en-US" sz="1500" b="1" dirty="0">
                <a:solidFill>
                  <a:schemeClr val="accent3"/>
                </a:solidFill>
              </a:rPr>
              <a:t>refused: no prices</a:t>
            </a:r>
            <a:endParaRPr lang="en-US" sz="1500" dirty="0"/>
          </a:p>
        </p:txBody>
      </p:sp>
      <p:sp>
        <p:nvSpPr>
          <p:cNvPr id="15" name="a5_s1_n"/>
          <p:cNvSpPr txBox="1"/>
          <p:nvPr/>
        </p:nvSpPr>
        <p:spPr>
          <a:xfrm>
            <a:off x="7315200" y="1554480"/>
            <a:ext cx="4297680" cy="594360"/>
          </a:xfrm>
          <a:prstGeom prst="rect">
            <a:avLst/>
          </a:prstGeom>
          <a:noFill/>
          <a:ln/>
        </p:spPr>
        <p:txBody>
          <a:bodyPr wrap="square" lIns="0" tIns="0" rIns="0" bIns="0" rtlCol="0" anchor="b"/>
          <a:lstStyle/>
          <a:p>
            <a:pPr marL="0" indent="0">
              <a:buNone/>
            </a:pPr>
            <a:r>
              <a:rPr lang="en-US" sz="4000" b="1" dirty="0">
                <a:solidFill>
                  <a:schemeClr val="accent1"/>
                </a:solidFill>
              </a:rPr>
              <a:t>358</a:t>
            </a:r>
            <a:endParaRPr lang="en-US" sz="4000" dirty="0"/>
          </a:p>
        </p:txBody>
      </p:sp>
      <p:sp>
        <p:nvSpPr>
          <p:cNvPr id="16" name="a5_s1_l"/>
          <p:cNvSpPr txBox="1"/>
          <p:nvPr/>
        </p:nvSpPr>
        <p:spPr>
          <a:xfrm>
            <a:off x="7315200" y="2194560"/>
            <a:ext cx="4297680" cy="411480"/>
          </a:xfrm>
          <a:prstGeom prst="rect">
            <a:avLst/>
          </a:prstGeom>
          <a:noFill/>
          <a:ln/>
        </p:spPr>
        <p:txBody>
          <a:bodyPr wrap="square" lIns="0" tIns="0" rIns="0" bIns="0" rtlCol="0" anchor="t"/>
          <a:lstStyle/>
          <a:p>
            <a:pPr marL="0" indent="0">
              <a:buNone/>
            </a:pPr>
            <a:r>
              <a:rPr lang="en-US" sz="1400" dirty="0">
                <a:solidFill>
                  <a:schemeClr val="accent5"/>
                </a:solidFill>
              </a:rPr>
              <a:t>foods, USDA Foundation Foods, April 2024</a:t>
            </a:r>
            <a:endParaRPr lang="en-US" sz="1400" dirty="0"/>
          </a:p>
        </p:txBody>
      </p:sp>
      <p:sp>
        <p:nvSpPr>
          <p:cNvPr id="17" name="a6_s2_n"/>
          <p:cNvSpPr txBox="1"/>
          <p:nvPr/>
        </p:nvSpPr>
        <p:spPr>
          <a:xfrm>
            <a:off x="7315200" y="2697480"/>
            <a:ext cx="4297680" cy="594360"/>
          </a:xfrm>
          <a:prstGeom prst="rect">
            <a:avLst/>
          </a:prstGeom>
          <a:noFill/>
          <a:ln/>
        </p:spPr>
        <p:txBody>
          <a:bodyPr wrap="square" lIns="0" tIns="0" rIns="0" bIns="0" rtlCol="0" anchor="b"/>
          <a:lstStyle/>
          <a:p>
            <a:pPr marL="0" indent="0">
              <a:buNone/>
            </a:pPr>
            <a:r>
              <a:rPr lang="en-US" sz="4000" b="1" dirty="0">
                <a:solidFill>
                  <a:schemeClr val="accent1"/>
                </a:solidFill>
              </a:rPr>
              <a:t>1,499</a:t>
            </a:r>
            <a:endParaRPr lang="en-US" sz="4000" dirty="0"/>
          </a:p>
        </p:txBody>
      </p:sp>
      <p:sp>
        <p:nvSpPr>
          <p:cNvPr id="18" name="a6_s2_l"/>
          <p:cNvSpPr txBox="1"/>
          <p:nvPr/>
        </p:nvSpPr>
        <p:spPr>
          <a:xfrm>
            <a:off x="7315200" y="3337560"/>
            <a:ext cx="4297680" cy="411480"/>
          </a:xfrm>
          <a:prstGeom prst="rect">
            <a:avLst/>
          </a:prstGeom>
          <a:noFill/>
          <a:ln/>
        </p:spPr>
        <p:txBody>
          <a:bodyPr wrap="square" lIns="0" tIns="0" rIns="0" bIns="0" rtlCol="0" anchor="t"/>
          <a:lstStyle/>
          <a:p>
            <a:pPr marL="0" indent="0">
              <a:buNone/>
            </a:pPr>
            <a:r>
              <a:rPr lang="en-US" sz="1400" dirty="0">
                <a:solidFill>
                  <a:schemeClr val="accent5"/>
                </a:solidFill>
              </a:rPr>
              <a:t>nutrient amounts, per 100 g</a:t>
            </a:r>
            <a:endParaRPr lang="en-US" sz="1400" dirty="0"/>
          </a:p>
        </p:txBody>
      </p:sp>
      <p:sp>
        <p:nvSpPr>
          <p:cNvPr id="19" name="a7_s3_n"/>
          <p:cNvSpPr txBox="1"/>
          <p:nvPr/>
        </p:nvSpPr>
        <p:spPr>
          <a:xfrm>
            <a:off x="7315200" y="3840480"/>
            <a:ext cx="4297680" cy="594360"/>
          </a:xfrm>
          <a:prstGeom prst="rect">
            <a:avLst/>
          </a:prstGeom>
          <a:noFill/>
          <a:ln/>
        </p:spPr>
        <p:txBody>
          <a:bodyPr wrap="square" lIns="0" tIns="0" rIns="0" bIns="0" rtlCol="0" anchor="b"/>
          <a:lstStyle/>
          <a:p>
            <a:pPr marL="0" indent="0">
              <a:buNone/>
            </a:pPr>
            <a:r>
              <a:rPr lang="en-US" sz="4000" b="1" dirty="0">
                <a:solidFill>
                  <a:schemeClr val="accent1"/>
                </a:solidFill>
              </a:rPr>
              <a:t>6</a:t>
            </a:r>
            <a:endParaRPr lang="en-US" sz="4000" dirty="0"/>
          </a:p>
        </p:txBody>
      </p:sp>
      <p:sp>
        <p:nvSpPr>
          <p:cNvPr id="20" name="a7_s3_l"/>
          <p:cNvSpPr txBox="1"/>
          <p:nvPr/>
        </p:nvSpPr>
        <p:spPr>
          <a:xfrm>
            <a:off x="7315200" y="4480560"/>
            <a:ext cx="4297680" cy="411480"/>
          </a:xfrm>
          <a:prstGeom prst="rect">
            <a:avLst/>
          </a:prstGeom>
          <a:noFill/>
          <a:ln/>
        </p:spPr>
        <p:txBody>
          <a:bodyPr wrap="square" lIns="0" tIns="0" rIns="0" bIns="0" rtlCol="0" anchor="t"/>
          <a:lstStyle/>
          <a:p>
            <a:pPr marL="0" indent="0">
              <a:buNone/>
            </a:pPr>
            <a:r>
              <a:rPr lang="en-US" sz="1400" dirty="0">
                <a:solidFill>
                  <a:schemeClr val="accent5"/>
                </a:solidFill>
              </a:rPr>
              <a:t>competency questions the graph must answer</a:t>
            </a:r>
            <a:endParaRPr lang="en-US" sz="1400" dirty="0"/>
          </a:p>
        </p:txBody>
      </p:sp>
      <p:pic>
        <p:nvPicPr>
          <p:cNvPr id="21" name="a8_desc_bg" descr="preencoded.png"/>
          <p:cNvPicPr>
            <a:picLocks noChangeAspect="1"/>
          </p:cNvPicPr>
          <p:nvPr/>
        </p:nvPicPr>
        <p:blipFill>
          <a:blip r:embed="rId3"/>
          <a:stretch>
            <a:fillRect/>
          </a:stretch>
        </p:blipFill>
        <p:spPr>
          <a:xfrm>
            <a:off x="548640" y="5029200"/>
            <a:ext cx="11091672" cy="1261872"/>
          </a:xfrm>
          <a:prstGeom prst="rect">
            <a:avLst/>
          </a:prstGeom>
          <a:effectLst>
            <a:outerShdw blurRad="152400" dist="25400" dir="5400000" algn="bl" rotWithShape="0">
              <a:srgbClr val="1B2A22">
                <a:alpha val="25000"/>
              </a:srgbClr>
            </a:outerShdw>
          </a:effectLst>
        </p:spPr>
      </p:pic>
      <p:sp>
        <p:nvSpPr>
          <p:cNvPr id="22" name="a8_desc_tx"/>
          <p:cNvSpPr txBox="1"/>
          <p:nvPr/>
        </p:nvSpPr>
        <p:spPr>
          <a:xfrm>
            <a:off x="914400" y="5029200"/>
            <a:ext cx="10360152" cy="1261872"/>
          </a:xfrm>
          <a:prstGeom prst="rect">
            <a:avLst/>
          </a:prstGeom>
          <a:noFill/>
          <a:ln/>
        </p:spPr>
        <p:txBody>
          <a:bodyPr wrap="square" lIns="0" tIns="0" rIns="0" bIns="0" rtlCol="0" anchor="ctr"/>
          <a:lstStyle/>
          <a:p>
            <a:pPr marL="0" indent="0">
              <a:lnSpc>
                <a:spcPct val="100000"/>
              </a:lnSpc>
              <a:buNone/>
            </a:pPr>
            <a:r>
              <a:rPr lang="en-US" sz="1400" dirty="0">
                <a:solidFill>
                  <a:schemeClr val="bg1"/>
                </a:solidFill>
              </a:rPr>
              <a:t>USDA publishes food composition as CSV files: one food is spread over many rows, nutrients are only numbers, and a missing value looks like nothing. We wrote six competency questions first, such as “how much protein does a food have?” or “which foods pass a threshold?”, and built the graph to answer them. What the data does not hold, like prices or allergens, the system refuses.</a:t>
            </a:r>
            <a:endParaRPr lang="en-US" sz="1400" dirty="0"/>
          </a:p>
        </p:txBody>
      </p:sp>
      <p:sp>
        <p:nvSpPr>
          <p:cNvPr id="23" name="Slide Number Placeholder 0"/>
          <p:cNvSpPr>
            <a:spLocks noGrp="1"/>
          </p:cNvSpPr>
          <p:nvPr>
            <p:ph type="sldNum" sz="quarter" idx="4294967295"/>
          </p:nvPr>
        </p:nvSpPr>
        <p:spPr>
          <a:xfrm>
            <a:off x="11183112"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6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par>
                          <p:cTn id="16" fill="hold">
                            <p:stCondLst>
                              <p:cond delay="280"/>
                            </p:stCondLst>
                            <p:childTnLst>
                              <p:par>
                                <p:cTn id="17" presetID="22" presetClass="entr" presetSubtype="8" fill="hold" grpId="0" nodeType="after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600"/>
                                        <p:tgtEl>
                                          <p:spTgt spid="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childTnLst>
                          </p:cTn>
                        </p:par>
                        <p:par>
                          <p:cTn id="26" fill="hold">
                            <p:stCondLst>
                              <p:cond delay="560"/>
                            </p:stCondLst>
                            <p:childTnLst>
                              <p:par>
                                <p:cTn id="27" presetID="22" presetClass="entr" presetSubtype="8" fill="hold" grpId="0" nodeType="after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ipe(left)">
                                      <p:cBhvr>
                                        <p:cTn id="29" dur="600"/>
                                        <p:tgtEl>
                                          <p:spTgt spid="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childTnLst>
                                </p:cTn>
                              </p:par>
                            </p:childTnLst>
                          </p:cTn>
                        </p:par>
                        <p:par>
                          <p:cTn id="36" fill="hold">
                            <p:stCondLst>
                              <p:cond delay="840"/>
                            </p:stCondLst>
                            <p:childTnLst>
                              <p:par>
                                <p:cTn id="37" presetID="22" presetClass="entr" presetSubtype="8" fill="hold" grpId="0" nodeType="after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600"/>
                                        <p:tgtEl>
                                          <p:spTgt spid="12"/>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500"/>
                                        <p:tgtEl>
                                          <p:spTgt spid="13"/>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500"/>
                                        <p:tgtEl>
                                          <p:spTgt spid="14"/>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500"/>
                                        <p:tgtEl>
                                          <p:spTgt spid="15"/>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childTnLst>
                                </p:cTn>
                              </p:par>
                            </p:childTnLst>
                          </p:cTn>
                        </p:par>
                        <p:par>
                          <p:cTn id="54" fill="hold">
                            <p:stCondLst>
                              <p:cond delay="280"/>
                            </p:stCondLst>
                            <p:childTnLst>
                              <p:par>
                                <p:cTn id="55" presetID="10" presetClass="entr" presetSubtype="0" fill="hold" grpId="0" nodeType="after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500"/>
                                        <p:tgtEl>
                                          <p:spTgt spid="17"/>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500"/>
                                        <p:tgtEl>
                                          <p:spTgt spid="18"/>
                                        </p:tgtEl>
                                      </p:cBhvr>
                                    </p:animEffect>
                                  </p:childTnLst>
                                </p:cTn>
                              </p:par>
                            </p:childTnLst>
                          </p:cTn>
                        </p:par>
                        <p:par>
                          <p:cTn id="61" fill="hold">
                            <p:stCondLst>
                              <p:cond delay="560"/>
                            </p:stCondLst>
                            <p:childTnLst>
                              <p:par>
                                <p:cTn id="62" presetID="10"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00"/>
                                        <p:tgtEl>
                                          <p:spTgt spid="19"/>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500"/>
                                        <p:tgtEl>
                                          <p:spTgt spid="20"/>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wipe(left)">
                                      <p:cBhvr>
                                        <p:cTn id="72" dur="600"/>
                                        <p:tgtEl>
                                          <p:spTgt spid="21"/>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2"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47472"/>
            <a:ext cx="9052560" cy="640080"/>
          </a:xfrm>
          <a:prstGeom prst="rect">
            <a:avLst/>
          </a:prstGeom>
          <a:noFill/>
          <a:ln/>
        </p:spPr>
        <p:txBody>
          <a:bodyPr wrap="square" lIns="0" tIns="0" rIns="0" bIns="0" rtlCol="0" anchor="t"/>
          <a:lstStyle/>
          <a:p>
            <a:pPr marL="0" indent="0" algn="l">
              <a:buNone/>
            </a:pPr>
            <a:r>
              <a:rPr lang="en-US" sz="3400" b="1" dirty="0">
                <a:solidFill>
                  <a:schemeClr val="tx2"/>
                </a:solidFill>
              </a:rPr>
              <a:t>Data and constraints</a:t>
            </a:r>
            <a:endParaRPr lang="en-US" sz="3400" dirty="0"/>
          </a:p>
        </p:txBody>
      </p:sp>
      <p:sp>
        <p:nvSpPr>
          <p:cNvPr id="3" name="Text 0"/>
          <p:cNvSpPr>
            <a:spLocks noGrp="1"/>
          </p:cNvSpPr>
          <p:nvPr>
            <p:ph type="body" idx="101" hasCustomPrompt="1"/>
          </p:nvPr>
        </p:nvSpPr>
        <p:spPr>
          <a:xfrm>
            <a:off x="548640" y="987552"/>
            <a:ext cx="9326880" cy="411480"/>
          </a:xfrm>
          <a:prstGeom prst="rect">
            <a:avLst/>
          </a:prstGeom>
          <a:noFill/>
          <a:ln/>
        </p:spPr>
        <p:txBody>
          <a:bodyPr wrap="square" lIns="0" tIns="0" rIns="0" bIns="0" rtlCol="0" anchor="t"/>
          <a:lstStyle/>
          <a:p>
            <a:pPr marL="0" indent="0">
              <a:buNone/>
            </a:pPr>
            <a:r>
              <a:rPr lang="en-US" sz="1900" dirty="0">
                <a:solidFill>
                  <a:schemeClr val="accent2"/>
                </a:solidFill>
              </a:rPr>
              <a:t>Ten rules found in the data, and one that the data breaks</a:t>
            </a:r>
            <a:endParaRPr lang="en-US" sz="1900" dirty="0"/>
          </a:p>
        </p:txBody>
      </p:sp>
      <p:sp>
        <p:nvSpPr>
          <p:cNvPr id="4" name="a0_chip"/>
          <p:cNvSpPr txBox="1"/>
          <p:nvPr/>
        </p:nvSpPr>
        <p:spPr>
          <a:xfrm>
            <a:off x="9720072" y="411480"/>
            <a:ext cx="1920240" cy="384048"/>
          </a:xfrm>
          <a:prstGeom prst="roundRect">
            <a:avLst>
              <a:gd name="adj" fmla="val 50000"/>
            </a:avLst>
          </a:prstGeom>
          <a:solidFill>
            <a:schemeClr val="bg1"/>
          </a:solidFill>
          <a:ln w="12700">
            <a:solidFill>
              <a:schemeClr val="accent4"/>
            </a:solidFill>
          </a:ln>
        </p:spPr>
        <p:txBody>
          <a:bodyPr wrap="square" lIns="0" tIns="0" rIns="0" bIns="0" rtlCol="0" anchor="ctr"/>
          <a:lstStyle/>
          <a:p>
            <a:pPr marL="0" indent="0" algn="ctr">
              <a:buNone/>
            </a:pPr>
            <a:r>
              <a:rPr lang="en-US" sz="1300" b="1" dirty="0">
                <a:solidFill>
                  <a:schemeClr val="accent1"/>
                </a:solidFill>
                <a:latin typeface="Consolas" pitchFamily="34" charset="0"/>
                <a:ea typeface="Consolas" pitchFamily="34" charset="-122"/>
                <a:cs typeface="Consolas" pitchFamily="34" charset="-120"/>
              </a:rPr>
              <a:t>data/</a:t>
            </a:r>
            <a:endParaRPr lang="en-US" sz="1300" dirty="0"/>
          </a:p>
        </p:txBody>
      </p:sp>
      <p:graphicFrame>
        <p:nvGraphicFramePr>
          <p:cNvPr id="5" name="a1_chart"/>
          <p:cNvGraphicFramePr/>
          <p:nvPr/>
        </p:nvGraphicFramePr>
        <p:xfrm>
          <a:off x="548640" y="1554480"/>
          <a:ext cx="6309360" cy="3291840"/>
        </p:xfrm>
        <a:graphic>
          <a:graphicData uri="http://schemas.openxmlformats.org/drawingml/2006/chart">
            <c:chart xmlns:c="http://schemas.openxmlformats.org/drawingml/2006/chart" xmlns:r="http://schemas.openxmlformats.org/officeDocument/2006/relationships" r:id="rId3"/>
          </a:graphicData>
        </a:graphic>
      </p:graphicFrame>
      <p:sp>
        <p:nvSpPr>
          <p:cNvPr id="6" name="a2_c1"/>
          <p:cNvSpPr/>
          <p:nvPr/>
        </p:nvSpPr>
        <p:spPr>
          <a:xfrm>
            <a:off x="7223760" y="1645920"/>
            <a:ext cx="4416552" cy="1463040"/>
          </a:xfrm>
          <a:prstGeom prst="roundRect">
            <a:avLst>
              <a:gd name="adj" fmla="val 8750"/>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7" name="a2_c1n"/>
          <p:cNvSpPr txBox="1"/>
          <p:nvPr/>
        </p:nvSpPr>
        <p:spPr>
          <a:xfrm>
            <a:off x="7452360" y="1755648"/>
            <a:ext cx="4023360" cy="502920"/>
          </a:xfrm>
          <a:prstGeom prst="rect">
            <a:avLst/>
          </a:prstGeom>
          <a:noFill/>
          <a:ln/>
        </p:spPr>
        <p:txBody>
          <a:bodyPr wrap="square" lIns="0" tIns="0" rIns="0" bIns="0" rtlCol="0" anchor="t"/>
          <a:lstStyle/>
          <a:p>
            <a:pPr marL="0" indent="0">
              <a:buNone/>
            </a:pPr>
            <a:r>
              <a:rPr lang="en-US" sz="2800" b="1" dirty="0">
                <a:solidFill>
                  <a:schemeClr val="accent1"/>
                </a:solidFill>
              </a:rPr>
              <a:t>9 of 10 rules</a:t>
            </a:r>
            <a:endParaRPr lang="en-US" sz="2800" dirty="0"/>
          </a:p>
        </p:txBody>
      </p:sp>
      <p:sp>
        <p:nvSpPr>
          <p:cNvPr id="8" name="a2_c1t"/>
          <p:cNvSpPr txBox="1"/>
          <p:nvPr/>
        </p:nvSpPr>
        <p:spPr>
          <a:xfrm>
            <a:off x="7452360" y="2286000"/>
            <a:ext cx="4023360" cy="731520"/>
          </a:xfrm>
          <a:prstGeom prst="rect">
            <a:avLst/>
          </a:prstGeom>
          <a:noFill/>
          <a:ln/>
        </p:spPr>
        <p:txBody>
          <a:bodyPr wrap="square" lIns="0" tIns="0" rIns="0" bIns="0" rtlCol="0" anchor="t"/>
          <a:lstStyle/>
          <a:p>
            <a:pPr marL="0" indent="0">
              <a:buNone/>
            </a:pPr>
            <a:r>
              <a:rPr lang="en-US" sz="1400" dirty="0">
                <a:solidFill>
                  <a:schemeClr val="tx2"/>
                </a:solidFill>
              </a:rPr>
              <a:t>hold with 0 exceptions: unique ids, names, valid links, amounts ≥ 0 and ≤ 100 g.</a:t>
            </a:r>
            <a:endParaRPr lang="en-US" sz="1400" dirty="0"/>
          </a:p>
        </p:txBody>
      </p:sp>
      <p:sp>
        <p:nvSpPr>
          <p:cNvPr id="9" name="a3_c2"/>
          <p:cNvSpPr/>
          <p:nvPr/>
        </p:nvSpPr>
        <p:spPr>
          <a:xfrm>
            <a:off x="7223760" y="3291840"/>
            <a:ext cx="4416552" cy="1554480"/>
          </a:xfrm>
          <a:prstGeom prst="roundRect">
            <a:avLst>
              <a:gd name="adj" fmla="val 8235"/>
            </a:avLst>
          </a:prstGeom>
          <a:solidFill>
            <a:schemeClr val="accent2">
              <a:alpha val="15000"/>
            </a:schemeClr>
          </a:solidFill>
          <a:ln/>
        </p:spPr>
        <p:txBody>
          <a:bodyPr/>
          <a:lstStyle/>
          <a:p>
            <a:endParaRPr lang="en-US"/>
          </a:p>
        </p:txBody>
      </p:sp>
      <p:sp>
        <p:nvSpPr>
          <p:cNvPr id="10" name="a3_c2n"/>
          <p:cNvSpPr txBox="1"/>
          <p:nvPr/>
        </p:nvSpPr>
        <p:spPr>
          <a:xfrm>
            <a:off x="7452360" y="3401568"/>
            <a:ext cx="4023360" cy="502920"/>
          </a:xfrm>
          <a:prstGeom prst="rect">
            <a:avLst/>
          </a:prstGeom>
          <a:noFill/>
          <a:ln/>
        </p:spPr>
        <p:txBody>
          <a:bodyPr wrap="square" lIns="0" tIns="0" rIns="0" bIns="0" rtlCol="0" anchor="t"/>
          <a:lstStyle/>
          <a:p>
            <a:pPr marL="0" indent="0">
              <a:buNone/>
            </a:pPr>
            <a:r>
              <a:rPr lang="en-US" sz="2800" b="1" dirty="0">
                <a:solidFill>
                  <a:schemeClr val="accent3"/>
                </a:solidFill>
              </a:rPr>
              <a:t>353 of 358 foods</a:t>
            </a:r>
            <a:endParaRPr lang="en-US" sz="2800" dirty="0"/>
          </a:p>
        </p:txBody>
      </p:sp>
      <p:sp>
        <p:nvSpPr>
          <p:cNvPr id="11" name="a3_c2t"/>
          <p:cNvSpPr txBox="1"/>
          <p:nvPr/>
        </p:nvSpPr>
        <p:spPr>
          <a:xfrm>
            <a:off x="7452360" y="3931920"/>
            <a:ext cx="4023360" cy="822960"/>
          </a:xfrm>
          <a:prstGeom prst="rect">
            <a:avLst/>
          </a:prstGeom>
          <a:noFill/>
          <a:ln/>
        </p:spPr>
        <p:txBody>
          <a:bodyPr wrap="square" lIns="0" tIns="0" rIns="0" bIns="0" rtlCol="0" anchor="t"/>
          <a:lstStyle/>
          <a:p>
            <a:pPr marL="0" indent="0">
              <a:buNone/>
            </a:pPr>
            <a:r>
              <a:rPr lang="en-US" sz="1400" dirty="0">
                <a:solidFill>
                  <a:schemeClr val="tx2"/>
                </a:solidFill>
              </a:rPr>
              <a:t>miss a nutrient. Rule C7 was wrong: USDA measures only some nutrients. We keep it as a warning.</a:t>
            </a:r>
            <a:endParaRPr lang="en-US" sz="1400" dirty="0"/>
          </a:p>
        </p:txBody>
      </p:sp>
      <p:pic>
        <p:nvPicPr>
          <p:cNvPr id="12" name="a4_desc_bg" descr="preencoded.png"/>
          <p:cNvPicPr>
            <a:picLocks noChangeAspect="1"/>
          </p:cNvPicPr>
          <p:nvPr/>
        </p:nvPicPr>
        <p:blipFill>
          <a:blip r:embed="rId4"/>
          <a:stretch>
            <a:fillRect/>
          </a:stretch>
        </p:blipFill>
        <p:spPr>
          <a:xfrm>
            <a:off x="548640" y="5029200"/>
            <a:ext cx="11091672" cy="1261872"/>
          </a:xfrm>
          <a:prstGeom prst="rect">
            <a:avLst/>
          </a:prstGeom>
          <a:effectLst>
            <a:outerShdw blurRad="152400" dist="25400" dir="5400000" algn="bl" rotWithShape="0">
              <a:srgbClr val="1B2A22">
                <a:alpha val="25000"/>
              </a:srgbClr>
            </a:outerShdw>
          </a:effectLst>
        </p:spPr>
      </p:pic>
      <p:sp>
        <p:nvSpPr>
          <p:cNvPr id="13" name="a4_desc_tx"/>
          <p:cNvSpPr txBox="1"/>
          <p:nvPr/>
        </p:nvSpPr>
        <p:spPr>
          <a:xfrm>
            <a:off x="914400" y="5029200"/>
            <a:ext cx="10360152" cy="1261872"/>
          </a:xfrm>
          <a:prstGeom prst="rect">
            <a:avLst/>
          </a:prstGeom>
          <a:noFill/>
          <a:ln/>
        </p:spPr>
        <p:txBody>
          <a:bodyPr wrap="square" lIns="0" tIns="0" rIns="0" bIns="0" rtlCol="0" anchor="ctr"/>
          <a:lstStyle/>
          <a:p>
            <a:pPr marL="0" indent="0">
              <a:lnSpc>
                <a:spcPct val="100000"/>
              </a:lnSpc>
              <a:buNone/>
            </a:pPr>
            <a:r>
              <a:rPr lang="en-US" sz="1400" dirty="0">
                <a:solidFill>
                  <a:schemeClr val="bg1"/>
                </a:solidFill>
              </a:rPr>
              <a:t>Before modelling, we profiled the four tables and wrote down every rule we found, with the count that proves it. Nine of our ten rules hold with zero exceptions. One rule was wrong: we expected every food to have all six nutrients, but </a:t>
            </a:r>
            <a:r>
              <a:rPr lang="en-US" sz="1400" b="1" dirty="0">
                <a:solidFill>
                  <a:schemeClr val="accent6"/>
                </a:solidFill>
              </a:rPr>
              <a:t>353</a:t>
            </a:r>
            <a:r>
              <a:rPr lang="en-US" sz="1400" dirty="0">
                <a:solidFill>
                  <a:schemeClr val="bg1"/>
                </a:solidFill>
              </a:rPr>
              <a:t> of </a:t>
            </a:r>
            <a:r>
              <a:rPr lang="en-US" sz="1400" b="1" dirty="0">
                <a:solidFill>
                  <a:schemeClr val="accent6"/>
                </a:solidFill>
              </a:rPr>
              <a:t>358</a:t>
            </a:r>
            <a:r>
              <a:rPr lang="en-US" sz="1400" dirty="0">
                <a:solidFill>
                  <a:schemeClr val="bg1"/>
                </a:solidFill>
              </a:rPr>
              <a:t> foods miss at least one, mostly sugars, because USDA measures only some nutrients per food. We keep it as a warning and never write zero for a missing value.</a:t>
            </a:r>
            <a:endParaRPr lang="en-US" sz="1400" dirty="0"/>
          </a:p>
        </p:txBody>
      </p:sp>
      <p:sp>
        <p:nvSpPr>
          <p:cNvPr id="14" name="Slide Number Placeholder 0"/>
          <p:cNvSpPr>
            <a:spLocks noGrp="1"/>
          </p:cNvSpPr>
          <p:nvPr>
            <p:ph type="sldNum" sz="quarter" idx="4294967295"/>
          </p:nvPr>
        </p:nvSpPr>
        <p:spPr>
          <a:xfrm>
            <a:off x="11183112"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6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6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left)">
                                      <p:cBhvr>
                                        <p:cTn id="20" dur="600"/>
                                        <p:tgtEl>
                                          <p:spTgt spid="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wipe(left)">
                                      <p:cBhvr>
                                        <p:cTn id="31" dur="600"/>
                                        <p:tgtEl>
                                          <p:spTgt spid="9"/>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wipe(left)">
                                      <p:cBhvr>
                                        <p:cTn id="42" dur="600"/>
                                        <p:tgtEl>
                                          <p:spTgt spid="12"/>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Graphic spid="5" grpId="0">
        <p:bldAsOne/>
      </p:bldGraphic>
      <p:bldP spid="6" grpId="0" animBg="1"/>
      <p:bldP spid="7" grpId="0" animBg="1"/>
      <p:bldP spid="8" grpId="0" animBg="1"/>
      <p:bldP spid="9" grpId="0" animBg="1"/>
      <p:bldP spid="10" grpId="0" animBg="1"/>
      <p:bldP spid="11" grpId="0" animBg="1"/>
      <p:bldP spid="1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47472"/>
            <a:ext cx="9052560" cy="640080"/>
          </a:xfrm>
          <a:prstGeom prst="rect">
            <a:avLst/>
          </a:prstGeom>
          <a:noFill/>
          <a:ln/>
        </p:spPr>
        <p:txBody>
          <a:bodyPr wrap="square" lIns="0" tIns="0" rIns="0" bIns="0" rtlCol="0" anchor="t"/>
          <a:lstStyle/>
          <a:p>
            <a:pPr marL="0" indent="0" algn="l">
              <a:buNone/>
            </a:pPr>
            <a:r>
              <a:rPr lang="en-US" sz="3400" b="1" dirty="0">
                <a:solidFill>
                  <a:schemeClr val="tx2"/>
                </a:solidFill>
              </a:rPr>
              <a:t>Ontology</a:t>
            </a:r>
            <a:endParaRPr lang="en-US" sz="3400" dirty="0"/>
          </a:p>
        </p:txBody>
      </p:sp>
      <p:sp>
        <p:nvSpPr>
          <p:cNvPr id="3" name="Text 0"/>
          <p:cNvSpPr>
            <a:spLocks noGrp="1"/>
          </p:cNvSpPr>
          <p:nvPr>
            <p:ph type="body" idx="101" hasCustomPrompt="1"/>
          </p:nvPr>
        </p:nvSpPr>
        <p:spPr>
          <a:xfrm>
            <a:off x="548640" y="987552"/>
            <a:ext cx="9326880" cy="411480"/>
          </a:xfrm>
          <a:prstGeom prst="rect">
            <a:avLst/>
          </a:prstGeom>
          <a:noFill/>
          <a:ln/>
        </p:spPr>
        <p:txBody>
          <a:bodyPr wrap="square" lIns="0" tIns="0" rIns="0" bIns="0" rtlCol="0" anchor="t"/>
          <a:lstStyle/>
          <a:p>
            <a:pPr marL="0" indent="0">
              <a:buNone/>
            </a:pPr>
            <a:r>
              <a:rPr lang="en-US" sz="1900" dirty="0">
                <a:solidFill>
                  <a:schemeClr val="accent2"/>
                </a:solidFill>
              </a:rPr>
              <a:t>We reuse FoodOn and add only what it lacks</a:t>
            </a:r>
            <a:endParaRPr lang="en-US" sz="1900" dirty="0"/>
          </a:p>
        </p:txBody>
      </p:sp>
      <p:sp>
        <p:nvSpPr>
          <p:cNvPr id="4" name="a0_chip"/>
          <p:cNvSpPr txBox="1"/>
          <p:nvPr/>
        </p:nvSpPr>
        <p:spPr>
          <a:xfrm>
            <a:off x="9720072" y="411480"/>
            <a:ext cx="1920240" cy="384048"/>
          </a:xfrm>
          <a:prstGeom prst="roundRect">
            <a:avLst>
              <a:gd name="adj" fmla="val 50000"/>
            </a:avLst>
          </a:prstGeom>
          <a:solidFill>
            <a:schemeClr val="bg1"/>
          </a:solidFill>
          <a:ln w="12700">
            <a:solidFill>
              <a:schemeClr val="accent4"/>
            </a:solidFill>
          </a:ln>
        </p:spPr>
        <p:txBody>
          <a:bodyPr wrap="square" lIns="0" tIns="0" rIns="0" bIns="0" rtlCol="0" anchor="ctr"/>
          <a:lstStyle/>
          <a:p>
            <a:pPr marL="0" indent="0" algn="ctr">
              <a:buNone/>
            </a:pPr>
            <a:r>
              <a:rPr lang="en-US" sz="1300" b="1" dirty="0">
                <a:solidFill>
                  <a:schemeClr val="accent1"/>
                </a:solidFill>
                <a:latin typeface="Consolas" pitchFamily="34" charset="0"/>
                <a:ea typeface="Consolas" pitchFamily="34" charset="-122"/>
                <a:cs typeface="Consolas" pitchFamily="34" charset="-120"/>
              </a:rPr>
              <a:t>ontology/</a:t>
            </a:r>
            <a:endParaRPr lang="en-US" sz="1300" dirty="0"/>
          </a:p>
        </p:txBody>
      </p:sp>
      <p:sp>
        <p:nvSpPr>
          <p:cNvPr id="5" name="a1_t0"/>
          <p:cNvSpPr txBox="1"/>
          <p:nvPr/>
        </p:nvSpPr>
        <p:spPr>
          <a:xfrm>
            <a:off x="548640" y="1645920"/>
            <a:ext cx="2651760" cy="457200"/>
          </a:xfrm>
          <a:prstGeom prst="roundRect">
            <a:avLst>
              <a:gd name="adj" fmla="val 20000"/>
            </a:avLst>
          </a:prstGeom>
          <a:solidFill>
            <a:schemeClr val="bg1"/>
          </a:solidFill>
          <a:ln w="9525">
            <a:solidFill>
              <a:srgbClr val="DCE8DF"/>
            </a:solidFill>
          </a:ln>
          <a:effectLst>
            <a:outerShdw blurRad="101600" dist="25400" dir="5400000" algn="bl" rotWithShape="0">
              <a:srgbClr val="1B2A22">
                <a:alpha val="12000"/>
              </a:srgbClr>
            </a:outerShdw>
          </a:effectLst>
        </p:spPr>
        <p:txBody>
          <a:bodyPr wrap="square" lIns="0" tIns="0" rIns="0" bIns="0" rtlCol="0" anchor="ctr"/>
          <a:lstStyle/>
          <a:p>
            <a:pPr marL="0" indent="0" algn="ctr">
              <a:buNone/>
            </a:pPr>
            <a:r>
              <a:rPr lang="en-US" sz="1600" b="1" dirty="0">
                <a:solidFill>
                  <a:schemeClr val="tx2"/>
                </a:solidFill>
              </a:rPr>
              <a:t>material entity</a:t>
            </a:r>
            <a:endParaRPr lang="en-US" sz="1600" dirty="0"/>
          </a:p>
        </p:txBody>
      </p:sp>
      <p:sp>
        <p:nvSpPr>
          <p:cNvPr id="6" name="a1_tl0"/>
          <p:cNvSpPr txBox="1"/>
          <p:nvPr/>
        </p:nvSpPr>
        <p:spPr>
          <a:xfrm>
            <a:off x="3337560" y="1645920"/>
            <a:ext cx="3429000" cy="457200"/>
          </a:xfrm>
          <a:prstGeom prst="rect">
            <a:avLst/>
          </a:prstGeom>
          <a:noFill/>
          <a:ln/>
        </p:spPr>
        <p:txBody>
          <a:bodyPr wrap="square" lIns="0" tIns="0" rIns="0" bIns="0" rtlCol="0" anchor="ctr"/>
          <a:lstStyle/>
          <a:p>
            <a:pPr marL="0" indent="0">
              <a:buNone/>
            </a:pPr>
            <a:r>
              <a:rPr lang="en-US" sz="1400" dirty="0">
                <a:solidFill>
                  <a:schemeClr val="accent5"/>
                </a:solidFill>
              </a:rPr>
              <a:t>BFO, reused</a:t>
            </a:r>
            <a:endParaRPr lang="en-US" sz="1400" dirty="0"/>
          </a:p>
        </p:txBody>
      </p:sp>
      <p:sp>
        <p:nvSpPr>
          <p:cNvPr id="7" name="a2_t1"/>
          <p:cNvSpPr txBox="1"/>
          <p:nvPr/>
        </p:nvSpPr>
        <p:spPr>
          <a:xfrm>
            <a:off x="822960" y="2286000"/>
            <a:ext cx="2651760" cy="457200"/>
          </a:xfrm>
          <a:prstGeom prst="roundRect">
            <a:avLst>
              <a:gd name="adj" fmla="val 20000"/>
            </a:avLst>
          </a:prstGeom>
          <a:solidFill>
            <a:schemeClr val="bg1"/>
          </a:solidFill>
          <a:ln w="9525">
            <a:solidFill>
              <a:srgbClr val="DCE8DF"/>
            </a:solidFill>
          </a:ln>
          <a:effectLst>
            <a:outerShdw blurRad="101600" dist="25400" dir="5400000" algn="bl" rotWithShape="0">
              <a:srgbClr val="1B2A22">
                <a:alpha val="12000"/>
              </a:srgbClr>
            </a:outerShdw>
          </a:effectLst>
        </p:spPr>
        <p:txBody>
          <a:bodyPr wrap="square" lIns="0" tIns="0" rIns="0" bIns="0" rtlCol="0" anchor="ctr"/>
          <a:lstStyle/>
          <a:p>
            <a:pPr marL="0" indent="0" algn="ctr">
              <a:buNone/>
            </a:pPr>
            <a:r>
              <a:rPr lang="en-US" sz="1600" b="1" dirty="0">
                <a:solidFill>
                  <a:schemeClr val="tx2"/>
                </a:solidFill>
              </a:rPr>
              <a:t>food material</a:t>
            </a:r>
            <a:endParaRPr lang="en-US" sz="1600" dirty="0"/>
          </a:p>
        </p:txBody>
      </p:sp>
      <p:sp>
        <p:nvSpPr>
          <p:cNvPr id="8" name="a2_tl1"/>
          <p:cNvSpPr txBox="1"/>
          <p:nvPr/>
        </p:nvSpPr>
        <p:spPr>
          <a:xfrm>
            <a:off x="3611880" y="2286000"/>
            <a:ext cx="3154680" cy="457200"/>
          </a:xfrm>
          <a:prstGeom prst="rect">
            <a:avLst/>
          </a:prstGeom>
          <a:noFill/>
          <a:ln/>
        </p:spPr>
        <p:txBody>
          <a:bodyPr wrap="square" lIns="0" tIns="0" rIns="0" bIns="0" rtlCol="0" anchor="ctr"/>
          <a:lstStyle/>
          <a:p>
            <a:pPr marL="0" indent="0">
              <a:buNone/>
            </a:pPr>
            <a:r>
              <a:rPr lang="en-US" sz="1400" dirty="0">
                <a:solidFill>
                  <a:schemeClr val="accent5"/>
                </a:solidFill>
              </a:rPr>
              <a:t>FoodOn, reused</a:t>
            </a:r>
            <a:endParaRPr lang="en-US" sz="1400" dirty="0"/>
          </a:p>
        </p:txBody>
      </p:sp>
      <p:sp>
        <p:nvSpPr>
          <p:cNvPr id="9" name="a2_ta1"/>
          <p:cNvSpPr/>
          <p:nvPr/>
        </p:nvSpPr>
        <p:spPr>
          <a:xfrm flipH="1" flipV="1">
            <a:off x="1783080" y="2103120"/>
            <a:ext cx="137160" cy="182880"/>
          </a:xfrm>
          <a:prstGeom prst="line">
            <a:avLst/>
          </a:prstGeom>
          <a:noFill/>
          <a:ln w="25400">
            <a:solidFill>
              <a:schemeClr val="accent5"/>
            </a:solidFill>
            <a:prstDash val="solid"/>
            <a:tailEnd type="triangle"/>
          </a:ln>
        </p:spPr>
        <p:txBody>
          <a:bodyPr/>
          <a:lstStyle/>
          <a:p>
            <a:endParaRPr lang="en-US"/>
          </a:p>
        </p:txBody>
      </p:sp>
      <p:sp>
        <p:nvSpPr>
          <p:cNvPr id="10" name="a3_t2"/>
          <p:cNvSpPr txBox="1"/>
          <p:nvPr/>
        </p:nvSpPr>
        <p:spPr>
          <a:xfrm>
            <a:off x="1097280" y="2926080"/>
            <a:ext cx="2651760" cy="457200"/>
          </a:xfrm>
          <a:prstGeom prst="roundRect">
            <a:avLst>
              <a:gd name="adj" fmla="val 20000"/>
            </a:avLst>
          </a:prstGeom>
          <a:solidFill>
            <a:schemeClr val="bg1"/>
          </a:solidFill>
          <a:ln w="9525">
            <a:solidFill>
              <a:srgbClr val="DCE8DF"/>
            </a:solidFill>
          </a:ln>
          <a:effectLst>
            <a:outerShdw blurRad="101600" dist="25400" dir="5400000" algn="bl" rotWithShape="0">
              <a:srgbClr val="1B2A22">
                <a:alpha val="12000"/>
              </a:srgbClr>
            </a:outerShdw>
          </a:effectLst>
        </p:spPr>
        <p:txBody>
          <a:bodyPr wrap="square" lIns="0" tIns="0" rIns="0" bIns="0" rtlCol="0" anchor="ctr"/>
          <a:lstStyle/>
          <a:p>
            <a:pPr marL="0" indent="0" algn="ctr">
              <a:buNone/>
            </a:pPr>
            <a:r>
              <a:rPr lang="en-US" sz="1600" b="1" dirty="0">
                <a:solidFill>
                  <a:schemeClr val="tx2"/>
                </a:solidFill>
              </a:rPr>
              <a:t>food product</a:t>
            </a:r>
            <a:endParaRPr lang="en-US" sz="1600" dirty="0"/>
          </a:p>
        </p:txBody>
      </p:sp>
      <p:sp>
        <p:nvSpPr>
          <p:cNvPr id="11" name="a3_tl2"/>
          <p:cNvSpPr txBox="1"/>
          <p:nvPr/>
        </p:nvSpPr>
        <p:spPr>
          <a:xfrm>
            <a:off x="3886200" y="2926080"/>
            <a:ext cx="2880360" cy="457200"/>
          </a:xfrm>
          <a:prstGeom prst="rect">
            <a:avLst/>
          </a:prstGeom>
          <a:noFill/>
          <a:ln/>
        </p:spPr>
        <p:txBody>
          <a:bodyPr wrap="square" lIns="0" tIns="0" rIns="0" bIns="0" rtlCol="0" anchor="ctr"/>
          <a:lstStyle/>
          <a:p>
            <a:pPr marL="0" indent="0">
              <a:buNone/>
            </a:pPr>
            <a:r>
              <a:rPr lang="en-US" sz="1400" dirty="0">
                <a:solidFill>
                  <a:schemeClr val="accent5"/>
                </a:solidFill>
              </a:rPr>
              <a:t>FoodOn, reused</a:t>
            </a:r>
            <a:endParaRPr lang="en-US" sz="1400" dirty="0"/>
          </a:p>
        </p:txBody>
      </p:sp>
      <p:sp>
        <p:nvSpPr>
          <p:cNvPr id="12" name="a3_ta2"/>
          <p:cNvSpPr/>
          <p:nvPr/>
        </p:nvSpPr>
        <p:spPr>
          <a:xfrm flipH="1" flipV="1">
            <a:off x="2057400" y="2743200"/>
            <a:ext cx="137160" cy="182880"/>
          </a:xfrm>
          <a:prstGeom prst="line">
            <a:avLst/>
          </a:prstGeom>
          <a:noFill/>
          <a:ln w="25400">
            <a:solidFill>
              <a:schemeClr val="accent5"/>
            </a:solidFill>
            <a:prstDash val="solid"/>
            <a:tailEnd type="triangle"/>
          </a:ln>
        </p:spPr>
        <p:txBody>
          <a:bodyPr/>
          <a:lstStyle/>
          <a:p>
            <a:endParaRPr lang="en-US"/>
          </a:p>
        </p:txBody>
      </p:sp>
      <p:sp>
        <p:nvSpPr>
          <p:cNvPr id="13" name="a4_t3"/>
          <p:cNvSpPr txBox="1"/>
          <p:nvPr/>
        </p:nvSpPr>
        <p:spPr>
          <a:xfrm>
            <a:off x="1371600" y="3566160"/>
            <a:ext cx="2651760" cy="457200"/>
          </a:xfrm>
          <a:prstGeom prst="roundRect">
            <a:avLst>
              <a:gd name="adj" fmla="val 20000"/>
            </a:avLst>
          </a:prstGeom>
          <a:solidFill>
            <a:schemeClr val="accent1"/>
          </a:solidFill>
          <a:ln/>
          <a:effectLst>
            <a:outerShdw blurRad="101600" dist="25400" dir="5400000" algn="bl" rotWithShape="0">
              <a:srgbClr val="1B2A22">
                <a:alpha val="12000"/>
              </a:srgbClr>
            </a:outerShdw>
          </a:effectLst>
        </p:spPr>
        <p:txBody>
          <a:bodyPr wrap="square" lIns="0" tIns="0" rIns="0" bIns="0" rtlCol="0" anchor="ctr"/>
          <a:lstStyle/>
          <a:p>
            <a:pPr marL="0" indent="0" algn="ctr">
              <a:buNone/>
            </a:pPr>
            <a:r>
              <a:rPr lang="en-US" sz="1600" b="1" dirty="0">
                <a:solidFill>
                  <a:schemeClr val="bg1"/>
                </a:solidFill>
              </a:rPr>
              <a:t>Food</a:t>
            </a:r>
            <a:endParaRPr lang="en-US" sz="1600" dirty="0"/>
          </a:p>
        </p:txBody>
      </p:sp>
      <p:sp>
        <p:nvSpPr>
          <p:cNvPr id="14" name="a4_tl3"/>
          <p:cNvSpPr txBox="1"/>
          <p:nvPr/>
        </p:nvSpPr>
        <p:spPr>
          <a:xfrm>
            <a:off x="4160520" y="3566160"/>
            <a:ext cx="2606040" cy="457200"/>
          </a:xfrm>
          <a:prstGeom prst="rect">
            <a:avLst/>
          </a:prstGeom>
          <a:noFill/>
          <a:ln/>
        </p:spPr>
        <p:txBody>
          <a:bodyPr wrap="square" lIns="0" tIns="0" rIns="0" bIns="0" rtlCol="0" anchor="ctr"/>
          <a:lstStyle/>
          <a:p>
            <a:pPr marL="0" indent="0">
              <a:buNone/>
            </a:pPr>
            <a:r>
              <a:rPr lang="en-US" sz="1400" dirty="0">
                <a:solidFill>
                  <a:schemeClr val="accent5"/>
                </a:solidFill>
              </a:rPr>
              <a:t>ours: one USDA food</a:t>
            </a:r>
            <a:endParaRPr lang="en-US" sz="1400" dirty="0"/>
          </a:p>
        </p:txBody>
      </p:sp>
      <p:sp>
        <p:nvSpPr>
          <p:cNvPr id="15" name="a4_ta3"/>
          <p:cNvSpPr/>
          <p:nvPr/>
        </p:nvSpPr>
        <p:spPr>
          <a:xfrm flipH="1" flipV="1">
            <a:off x="2331720" y="3383280"/>
            <a:ext cx="137160" cy="182880"/>
          </a:xfrm>
          <a:prstGeom prst="line">
            <a:avLst/>
          </a:prstGeom>
          <a:noFill/>
          <a:ln w="25400">
            <a:solidFill>
              <a:schemeClr val="accent5"/>
            </a:solidFill>
            <a:prstDash val="solid"/>
            <a:tailEnd type="triangle"/>
          </a:ln>
        </p:spPr>
        <p:txBody>
          <a:bodyPr/>
          <a:lstStyle/>
          <a:p>
            <a:endParaRPr lang="en-US"/>
          </a:p>
        </p:txBody>
      </p:sp>
      <p:sp>
        <p:nvSpPr>
          <p:cNvPr id="16" name="a5_t4"/>
          <p:cNvSpPr txBox="1"/>
          <p:nvPr/>
        </p:nvSpPr>
        <p:spPr>
          <a:xfrm>
            <a:off x="1645920" y="4206240"/>
            <a:ext cx="2651760" cy="457200"/>
          </a:xfrm>
          <a:prstGeom prst="roundRect">
            <a:avLst>
              <a:gd name="adj" fmla="val 20000"/>
            </a:avLst>
          </a:prstGeom>
          <a:solidFill>
            <a:schemeClr val="accent2"/>
          </a:solidFill>
          <a:ln/>
          <a:effectLst>
            <a:outerShdw blurRad="101600" dist="25400" dir="5400000" algn="bl" rotWithShape="0">
              <a:srgbClr val="1B2A22">
                <a:alpha val="12000"/>
              </a:srgbClr>
            </a:outerShdw>
          </a:effectLst>
        </p:spPr>
        <p:txBody>
          <a:bodyPr wrap="square" lIns="0" tIns="0" rIns="0" bIns="0" rtlCol="0" anchor="ctr"/>
          <a:lstStyle/>
          <a:p>
            <a:pPr marL="0" indent="0" algn="ctr">
              <a:buNone/>
            </a:pPr>
            <a:r>
              <a:rPr lang="en-US" sz="1600" b="1" dirty="0">
                <a:solidFill>
                  <a:schemeClr val="tx1"/>
                </a:solidFill>
              </a:rPr>
              <a:t>CharacterizedFood</a:t>
            </a:r>
            <a:endParaRPr lang="en-US" sz="1600" dirty="0"/>
          </a:p>
        </p:txBody>
      </p:sp>
      <p:sp>
        <p:nvSpPr>
          <p:cNvPr id="17" name="a5_tl4"/>
          <p:cNvSpPr txBox="1"/>
          <p:nvPr/>
        </p:nvSpPr>
        <p:spPr>
          <a:xfrm>
            <a:off x="4434840" y="4206240"/>
            <a:ext cx="2331720" cy="457200"/>
          </a:xfrm>
          <a:prstGeom prst="rect">
            <a:avLst/>
          </a:prstGeom>
          <a:noFill/>
          <a:ln/>
        </p:spPr>
        <p:txBody>
          <a:bodyPr wrap="square" lIns="0" tIns="0" rIns="0" bIns="0" rtlCol="0" anchor="ctr"/>
          <a:lstStyle/>
          <a:p>
            <a:pPr marL="0" indent="0">
              <a:buNone/>
            </a:pPr>
            <a:r>
              <a:rPr lang="en-US" sz="1400" dirty="0">
                <a:solidFill>
                  <a:schemeClr val="accent5"/>
                </a:solidFill>
              </a:rPr>
              <a:t>ours, defined: a Food with at least one measurement</a:t>
            </a:r>
            <a:endParaRPr lang="en-US" sz="1400" dirty="0"/>
          </a:p>
        </p:txBody>
      </p:sp>
      <p:sp>
        <p:nvSpPr>
          <p:cNvPr id="18" name="a5_ta4"/>
          <p:cNvSpPr/>
          <p:nvPr/>
        </p:nvSpPr>
        <p:spPr>
          <a:xfrm flipH="1" flipV="1">
            <a:off x="2606040" y="4023360"/>
            <a:ext cx="137160" cy="182880"/>
          </a:xfrm>
          <a:prstGeom prst="line">
            <a:avLst/>
          </a:prstGeom>
          <a:noFill/>
          <a:ln w="25400">
            <a:solidFill>
              <a:schemeClr val="accent5"/>
            </a:solidFill>
            <a:prstDash val="solid"/>
            <a:tailEnd type="triangle"/>
          </a:ln>
        </p:spPr>
        <p:txBody>
          <a:bodyPr/>
          <a:lstStyle/>
          <a:p>
            <a:endParaRPr lang="en-US"/>
          </a:p>
        </p:txBody>
      </p:sp>
      <p:sp>
        <p:nvSpPr>
          <p:cNvPr id="19" name="a6_k0"/>
          <p:cNvSpPr/>
          <p:nvPr/>
        </p:nvSpPr>
        <p:spPr>
          <a:xfrm>
            <a:off x="7086600" y="1645920"/>
            <a:ext cx="2194560" cy="1463040"/>
          </a:xfrm>
          <a:prstGeom prst="roundRect">
            <a:avLst>
              <a:gd name="adj" fmla="val 8750"/>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20" name="a6_kn0"/>
          <p:cNvSpPr txBox="1"/>
          <p:nvPr/>
        </p:nvSpPr>
        <p:spPr>
          <a:xfrm>
            <a:off x="7269480" y="1755648"/>
            <a:ext cx="1828800" cy="640080"/>
          </a:xfrm>
          <a:prstGeom prst="rect">
            <a:avLst/>
          </a:prstGeom>
          <a:noFill/>
          <a:ln/>
        </p:spPr>
        <p:txBody>
          <a:bodyPr wrap="square" lIns="0" tIns="0" rIns="0" bIns="0" rtlCol="0" anchor="b"/>
          <a:lstStyle/>
          <a:p>
            <a:pPr marL="0" indent="0">
              <a:buNone/>
            </a:pPr>
            <a:r>
              <a:rPr lang="en-US" sz="3800" b="1" dirty="0">
                <a:solidFill>
                  <a:schemeClr val="accent1"/>
                </a:solidFill>
              </a:rPr>
              <a:t>350</a:t>
            </a:r>
            <a:endParaRPr lang="en-US" sz="3800" dirty="0"/>
          </a:p>
        </p:txBody>
      </p:sp>
      <p:sp>
        <p:nvSpPr>
          <p:cNvPr id="21" name="a6_kt0"/>
          <p:cNvSpPr txBox="1"/>
          <p:nvPr/>
        </p:nvSpPr>
        <p:spPr>
          <a:xfrm>
            <a:off x="7269480" y="2450592"/>
            <a:ext cx="1828800" cy="594360"/>
          </a:xfrm>
          <a:prstGeom prst="rect">
            <a:avLst/>
          </a:prstGeom>
          <a:noFill/>
          <a:ln/>
        </p:spPr>
        <p:txBody>
          <a:bodyPr wrap="square" lIns="0" tIns="0" rIns="0" bIns="0" rtlCol="0" anchor="t"/>
          <a:lstStyle/>
          <a:p>
            <a:pPr marL="0" indent="0">
              <a:buNone/>
            </a:pPr>
            <a:r>
              <a:rPr lang="en-US" sz="1400" dirty="0">
                <a:solidFill>
                  <a:schemeClr val="tx2"/>
                </a:solidFill>
              </a:rPr>
              <a:t>foods classified by the reasoner</a:t>
            </a:r>
            <a:endParaRPr lang="en-US" sz="1400" dirty="0"/>
          </a:p>
        </p:txBody>
      </p:sp>
      <p:sp>
        <p:nvSpPr>
          <p:cNvPr id="22" name="a7_k1"/>
          <p:cNvSpPr/>
          <p:nvPr/>
        </p:nvSpPr>
        <p:spPr>
          <a:xfrm>
            <a:off x="9409176" y="1645920"/>
            <a:ext cx="2194560" cy="1463040"/>
          </a:xfrm>
          <a:prstGeom prst="roundRect">
            <a:avLst>
              <a:gd name="adj" fmla="val 8750"/>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23" name="a7_kn1"/>
          <p:cNvSpPr txBox="1"/>
          <p:nvPr/>
        </p:nvSpPr>
        <p:spPr>
          <a:xfrm>
            <a:off x="9592056" y="1755648"/>
            <a:ext cx="1828800" cy="640080"/>
          </a:xfrm>
          <a:prstGeom prst="rect">
            <a:avLst/>
          </a:prstGeom>
          <a:noFill/>
          <a:ln/>
        </p:spPr>
        <p:txBody>
          <a:bodyPr wrap="square" lIns="0" tIns="0" rIns="0" bIns="0" rtlCol="0" anchor="b"/>
          <a:lstStyle/>
          <a:p>
            <a:pPr marL="0" indent="0">
              <a:buNone/>
            </a:pPr>
            <a:r>
              <a:rPr lang="en-US" sz="3800" b="1" dirty="0">
                <a:solidFill>
                  <a:schemeClr val="accent1"/>
                </a:solidFill>
              </a:rPr>
              <a:t>0</a:t>
            </a:r>
            <a:endParaRPr lang="en-US" sz="3800" dirty="0"/>
          </a:p>
        </p:txBody>
      </p:sp>
      <p:sp>
        <p:nvSpPr>
          <p:cNvPr id="24" name="a7_kt1"/>
          <p:cNvSpPr txBox="1"/>
          <p:nvPr/>
        </p:nvSpPr>
        <p:spPr>
          <a:xfrm>
            <a:off x="9592056" y="2450592"/>
            <a:ext cx="1828800" cy="594360"/>
          </a:xfrm>
          <a:prstGeom prst="rect">
            <a:avLst/>
          </a:prstGeom>
          <a:noFill/>
          <a:ln/>
        </p:spPr>
        <p:txBody>
          <a:bodyPr wrap="square" lIns="0" tIns="0" rIns="0" bIns="0" rtlCol="0" anchor="t"/>
          <a:lstStyle/>
          <a:p>
            <a:pPr marL="0" indent="0">
              <a:buNone/>
            </a:pPr>
            <a:r>
              <a:rPr lang="en-US" sz="1400" dirty="0">
                <a:solidFill>
                  <a:schemeClr val="tx2"/>
                </a:solidFill>
              </a:rPr>
              <a:t>red classes; consistent</a:t>
            </a:r>
            <a:endParaRPr lang="en-US" sz="1400" dirty="0"/>
          </a:p>
        </p:txBody>
      </p:sp>
      <p:sp>
        <p:nvSpPr>
          <p:cNvPr id="25" name="a8_k2"/>
          <p:cNvSpPr/>
          <p:nvPr/>
        </p:nvSpPr>
        <p:spPr>
          <a:xfrm>
            <a:off x="7086600" y="3291840"/>
            <a:ext cx="2194560" cy="1463040"/>
          </a:xfrm>
          <a:prstGeom prst="roundRect">
            <a:avLst>
              <a:gd name="adj" fmla="val 8750"/>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26" name="a8_kn2"/>
          <p:cNvSpPr txBox="1"/>
          <p:nvPr/>
        </p:nvSpPr>
        <p:spPr>
          <a:xfrm>
            <a:off x="7269480" y="3401568"/>
            <a:ext cx="1828800" cy="640080"/>
          </a:xfrm>
          <a:prstGeom prst="rect">
            <a:avLst/>
          </a:prstGeom>
          <a:noFill/>
          <a:ln/>
        </p:spPr>
        <p:txBody>
          <a:bodyPr wrap="square" lIns="0" tIns="0" rIns="0" bIns="0" rtlCol="0" anchor="b"/>
          <a:lstStyle/>
          <a:p>
            <a:pPr marL="0" indent="0">
              <a:buNone/>
            </a:pPr>
            <a:r>
              <a:rPr lang="en-US" sz="2600" b="1" dirty="0">
                <a:solidFill>
                  <a:schemeClr val="accent1"/>
                </a:solidFill>
              </a:rPr>
              <a:t>OWL 2 DL</a:t>
            </a:r>
            <a:endParaRPr lang="en-US" sz="2600" dirty="0"/>
          </a:p>
        </p:txBody>
      </p:sp>
      <p:sp>
        <p:nvSpPr>
          <p:cNvPr id="27" name="a8_kt2"/>
          <p:cNvSpPr txBox="1"/>
          <p:nvPr/>
        </p:nvSpPr>
        <p:spPr>
          <a:xfrm>
            <a:off x="7269480" y="4096512"/>
            <a:ext cx="1828800" cy="594360"/>
          </a:xfrm>
          <a:prstGeom prst="rect">
            <a:avLst/>
          </a:prstGeom>
          <a:noFill/>
          <a:ln/>
        </p:spPr>
        <p:txBody>
          <a:bodyPr wrap="square" lIns="0" tIns="0" rIns="0" bIns="0" rtlCol="0" anchor="t"/>
          <a:lstStyle/>
          <a:p>
            <a:pPr marL="0" indent="0">
              <a:buNone/>
            </a:pPr>
            <a:r>
              <a:rPr lang="en-US" sz="1400" dirty="0">
                <a:solidFill>
                  <a:schemeClr val="tx2"/>
                </a:solidFill>
              </a:rPr>
              <a:t>profile, run with HermiT</a:t>
            </a:r>
            <a:endParaRPr lang="en-US" sz="1400" dirty="0"/>
          </a:p>
        </p:txBody>
      </p:sp>
      <p:sp>
        <p:nvSpPr>
          <p:cNvPr id="28" name="a9_k3"/>
          <p:cNvSpPr/>
          <p:nvPr/>
        </p:nvSpPr>
        <p:spPr>
          <a:xfrm>
            <a:off x="9409176" y="3291840"/>
            <a:ext cx="2194560" cy="1463040"/>
          </a:xfrm>
          <a:prstGeom prst="roundRect">
            <a:avLst>
              <a:gd name="adj" fmla="val 8750"/>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29" name="a9_kn3"/>
          <p:cNvSpPr txBox="1"/>
          <p:nvPr/>
        </p:nvSpPr>
        <p:spPr>
          <a:xfrm>
            <a:off x="9592056" y="3401568"/>
            <a:ext cx="1828800" cy="640080"/>
          </a:xfrm>
          <a:prstGeom prst="rect">
            <a:avLst/>
          </a:prstGeom>
          <a:noFill/>
          <a:ln/>
        </p:spPr>
        <p:txBody>
          <a:bodyPr wrap="square" lIns="0" tIns="0" rIns="0" bIns="0" rtlCol="0" anchor="b"/>
          <a:lstStyle/>
          <a:p>
            <a:pPr marL="0" indent="0">
              <a:buNone/>
            </a:pPr>
            <a:r>
              <a:rPr lang="en-US" sz="3800" b="1" dirty="0">
                <a:solidFill>
                  <a:schemeClr val="accent1"/>
                </a:solidFill>
              </a:rPr>
              <a:t>1.1.0</a:t>
            </a:r>
            <a:endParaRPr lang="en-US" sz="3800" dirty="0"/>
          </a:p>
        </p:txBody>
      </p:sp>
      <p:sp>
        <p:nvSpPr>
          <p:cNvPr id="30" name="a9_kt3"/>
          <p:cNvSpPr txBox="1"/>
          <p:nvPr/>
        </p:nvSpPr>
        <p:spPr>
          <a:xfrm>
            <a:off x="9592056" y="4096512"/>
            <a:ext cx="1828800" cy="594360"/>
          </a:xfrm>
          <a:prstGeom prst="rect">
            <a:avLst/>
          </a:prstGeom>
          <a:noFill/>
          <a:ln/>
        </p:spPr>
        <p:txBody>
          <a:bodyPr wrap="square" lIns="0" tIns="0" rIns="0" bIns="0" rtlCol="0" anchor="t"/>
          <a:lstStyle/>
          <a:p>
            <a:pPr marL="0" indent="0">
              <a:buNone/>
            </a:pPr>
            <a:r>
              <a:rPr lang="en-US" sz="1400" dirty="0">
                <a:solidFill>
                  <a:schemeClr val="tx2"/>
                </a:solidFill>
              </a:rPr>
              <a:t>version IRI</a:t>
            </a:r>
            <a:endParaRPr lang="en-US" sz="1400" dirty="0"/>
          </a:p>
        </p:txBody>
      </p:sp>
      <p:pic>
        <p:nvPicPr>
          <p:cNvPr id="31" name="a10_desc_bg" descr="preencoded.png"/>
          <p:cNvPicPr>
            <a:picLocks noChangeAspect="1"/>
          </p:cNvPicPr>
          <p:nvPr/>
        </p:nvPicPr>
        <p:blipFill>
          <a:blip r:embed="rId3"/>
          <a:stretch>
            <a:fillRect/>
          </a:stretch>
        </p:blipFill>
        <p:spPr>
          <a:xfrm>
            <a:off x="548640" y="5029200"/>
            <a:ext cx="11091672" cy="1261872"/>
          </a:xfrm>
          <a:prstGeom prst="rect">
            <a:avLst/>
          </a:prstGeom>
          <a:effectLst>
            <a:outerShdw blurRad="152400" dist="25400" dir="5400000" algn="bl" rotWithShape="0">
              <a:srgbClr val="1B2A22">
                <a:alpha val="25000"/>
              </a:srgbClr>
            </a:outerShdw>
          </a:effectLst>
        </p:spPr>
      </p:pic>
      <p:sp>
        <p:nvSpPr>
          <p:cNvPr id="32" name="a10_desc_tx"/>
          <p:cNvSpPr txBox="1"/>
          <p:nvPr/>
        </p:nvSpPr>
        <p:spPr>
          <a:xfrm>
            <a:off x="914400" y="5029200"/>
            <a:ext cx="10360152" cy="1261872"/>
          </a:xfrm>
          <a:prstGeom prst="rect">
            <a:avLst/>
          </a:prstGeom>
          <a:noFill/>
          <a:ln/>
        </p:spPr>
        <p:txBody>
          <a:bodyPr wrap="square" lIns="0" tIns="0" rIns="0" bIns="0" rtlCol="0" anchor="ctr"/>
          <a:lstStyle/>
          <a:p>
            <a:pPr marL="0" indent="0">
              <a:lnSpc>
                <a:spcPct val="100000"/>
              </a:lnSpc>
              <a:buNone/>
            </a:pPr>
            <a:r>
              <a:rPr lang="en-US" sz="1400" dirty="0">
                <a:solidFill>
                  <a:schemeClr val="bg1"/>
                </a:solidFill>
              </a:rPr>
              <a:t>Our Food class is a subclass of FoodOn’s food product, so every food is also a food material and a material entity. We added only what FoodOn lacks: Nutrient, Observation, Category and one defined class, CharacterizedFood, a food with at least one measurement. HermiT classifies </a:t>
            </a:r>
            <a:r>
              <a:rPr lang="en-US" sz="1400" b="1" dirty="0">
                <a:solidFill>
                  <a:schemeClr val="accent6"/>
                </a:solidFill>
              </a:rPr>
              <a:t>350</a:t>
            </a:r>
            <a:r>
              <a:rPr lang="en-US" sz="1400" dirty="0">
                <a:solidFill>
                  <a:schemeClr val="bg1"/>
                </a:solidFill>
              </a:rPr>
              <a:t> foods into it with no hand typing. Every class answers a competency question, and the ontology has a version IRI.</a:t>
            </a:r>
            <a:endParaRPr lang="en-US" sz="1400" dirty="0"/>
          </a:p>
        </p:txBody>
      </p:sp>
      <p:sp>
        <p:nvSpPr>
          <p:cNvPr id="33" name="Slide Number Placeholder 0"/>
          <p:cNvSpPr>
            <a:spLocks noGrp="1"/>
          </p:cNvSpPr>
          <p:nvPr>
            <p:ph type="sldNum" sz="quarter" idx="4294967295"/>
          </p:nvPr>
        </p:nvSpPr>
        <p:spPr>
          <a:xfrm>
            <a:off x="11183112"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6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6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childTnLst>
                          </p:cTn>
                        </p:par>
                        <p:par>
                          <p:cTn id="19" fill="hold">
                            <p:stCondLst>
                              <p:cond delay="280"/>
                            </p:stCondLst>
                            <p:childTnLst>
                              <p:par>
                                <p:cTn id="20" presetID="22" presetClass="entr" presetSubtype="8"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600"/>
                                        <p:tgtEl>
                                          <p:spTgt spid="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22" presetClass="entr" presetSubtype="8"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wipe(left)">
                                      <p:cBhvr>
                                        <p:cTn id="28" dur="600"/>
                                        <p:tgtEl>
                                          <p:spTgt spid="9"/>
                                        </p:tgtEl>
                                      </p:cBhvr>
                                    </p:animEffect>
                                  </p:childTnLst>
                                </p:cTn>
                              </p:par>
                            </p:childTnLst>
                          </p:cTn>
                        </p:par>
                        <p:par>
                          <p:cTn id="29" fill="hold">
                            <p:stCondLst>
                              <p:cond delay="560"/>
                            </p:stCondLst>
                            <p:childTnLst>
                              <p:par>
                                <p:cTn id="30" presetID="22" presetClass="entr" presetSubtype="8" fill="hold" grpId="0" nodeType="after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left)">
                                      <p:cBhvr>
                                        <p:cTn id="32" dur="600"/>
                                        <p:tgtEl>
                                          <p:spTgt spid="1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wipe(left)">
                                      <p:cBhvr>
                                        <p:cTn id="38" dur="600"/>
                                        <p:tgtEl>
                                          <p:spTgt spid="12"/>
                                        </p:tgtEl>
                                      </p:cBhvr>
                                    </p:animEffect>
                                  </p:childTnLst>
                                </p:cTn>
                              </p:par>
                            </p:childTnLst>
                          </p:cTn>
                        </p:par>
                        <p:par>
                          <p:cTn id="39" fill="hold">
                            <p:stCondLst>
                              <p:cond delay="840"/>
                            </p:stCondLst>
                            <p:childTnLst>
                              <p:par>
                                <p:cTn id="40" presetID="22" presetClass="entr" presetSubtype="8" fill="hold" grpId="0" nodeType="afterEffect">
                                  <p:stCondLst>
                                    <p:cond delay="0"/>
                                  </p:stCondLst>
                                  <p:childTnLst>
                                    <p:set>
                                      <p:cBhvr>
                                        <p:cTn id="41" dur="1" fill="hold">
                                          <p:stCondLst>
                                            <p:cond delay="0"/>
                                          </p:stCondLst>
                                        </p:cTn>
                                        <p:tgtEl>
                                          <p:spTgt spid="13"/>
                                        </p:tgtEl>
                                        <p:attrNameLst>
                                          <p:attrName>style.visibility</p:attrName>
                                        </p:attrNameLst>
                                      </p:cBhvr>
                                      <p:to>
                                        <p:strVal val="visible"/>
                                      </p:to>
                                    </p:set>
                                    <p:animEffect transition="in" filter="wipe(left)">
                                      <p:cBhvr>
                                        <p:cTn id="42" dur="600"/>
                                        <p:tgtEl>
                                          <p:spTgt spid="13"/>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500"/>
                                        <p:tgtEl>
                                          <p:spTgt spid="14"/>
                                        </p:tgtEl>
                                      </p:cBhvr>
                                    </p:animEffect>
                                  </p:childTnLst>
                                </p:cTn>
                              </p:par>
                              <p:par>
                                <p:cTn id="46" presetID="22" presetClass="entr" presetSubtype="8" fill="hold" grpId="0"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wipe(left)">
                                      <p:cBhvr>
                                        <p:cTn id="48" dur="600"/>
                                        <p:tgtEl>
                                          <p:spTgt spid="15"/>
                                        </p:tgtEl>
                                      </p:cBhvr>
                                    </p:animEffect>
                                  </p:childTnLst>
                                </p:cTn>
                              </p:par>
                            </p:childTnLst>
                          </p:cTn>
                        </p:par>
                        <p:par>
                          <p:cTn id="49" fill="hold">
                            <p:stCondLst>
                              <p:cond delay="1120"/>
                            </p:stCondLst>
                            <p:childTnLst>
                              <p:par>
                                <p:cTn id="50" presetID="22" presetClass="entr" presetSubtype="8"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600"/>
                                        <p:tgtEl>
                                          <p:spTgt spid="1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500"/>
                                        <p:tgtEl>
                                          <p:spTgt spid="17"/>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wipe(left)">
                                      <p:cBhvr>
                                        <p:cTn id="58" dur="600"/>
                                        <p:tgtEl>
                                          <p:spTgt spid="1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wipe(left)">
                                      <p:cBhvr>
                                        <p:cTn id="63" dur="600"/>
                                        <p:tgtEl>
                                          <p:spTgt spid="1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500"/>
                                        <p:tgtEl>
                                          <p:spTgt spid="2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500"/>
                                        <p:tgtEl>
                                          <p:spTgt spid="21"/>
                                        </p:tgtEl>
                                      </p:cBhvr>
                                    </p:animEffect>
                                  </p:childTnLst>
                                </p:cTn>
                              </p:par>
                            </p:childTnLst>
                          </p:cTn>
                        </p:par>
                        <p:par>
                          <p:cTn id="70" fill="hold">
                            <p:stCondLst>
                              <p:cond delay="280"/>
                            </p:stCondLst>
                            <p:childTnLst>
                              <p:par>
                                <p:cTn id="71" presetID="22" presetClass="entr" presetSubtype="8" fill="hold" grpId="0" nodeType="afterEffect">
                                  <p:stCondLst>
                                    <p:cond delay="0"/>
                                  </p:stCondLst>
                                  <p:childTnLst>
                                    <p:set>
                                      <p:cBhvr>
                                        <p:cTn id="72" dur="1" fill="hold">
                                          <p:stCondLst>
                                            <p:cond delay="0"/>
                                          </p:stCondLst>
                                        </p:cTn>
                                        <p:tgtEl>
                                          <p:spTgt spid="22"/>
                                        </p:tgtEl>
                                        <p:attrNameLst>
                                          <p:attrName>style.visibility</p:attrName>
                                        </p:attrNameLst>
                                      </p:cBhvr>
                                      <p:to>
                                        <p:strVal val="visible"/>
                                      </p:to>
                                    </p:set>
                                    <p:animEffect transition="in" filter="wipe(left)">
                                      <p:cBhvr>
                                        <p:cTn id="73" dur="600"/>
                                        <p:tgtEl>
                                          <p:spTgt spid="22"/>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500"/>
                                        <p:tgtEl>
                                          <p:spTgt spid="23"/>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500"/>
                                        <p:tgtEl>
                                          <p:spTgt spid="24"/>
                                        </p:tgtEl>
                                      </p:cBhvr>
                                    </p:animEffect>
                                  </p:childTnLst>
                                </p:cTn>
                              </p:par>
                            </p:childTnLst>
                          </p:cTn>
                        </p:par>
                        <p:par>
                          <p:cTn id="80" fill="hold">
                            <p:stCondLst>
                              <p:cond delay="560"/>
                            </p:stCondLst>
                            <p:childTnLst>
                              <p:par>
                                <p:cTn id="81" presetID="22" presetClass="entr" presetSubtype="8" fill="hold" grpId="0" nodeType="after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wipe(left)">
                                      <p:cBhvr>
                                        <p:cTn id="83" dur="600"/>
                                        <p:tgtEl>
                                          <p:spTgt spid="25"/>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6"/>
                                        </p:tgtEl>
                                        <p:attrNameLst>
                                          <p:attrName>style.visibility</p:attrName>
                                        </p:attrNameLst>
                                      </p:cBhvr>
                                      <p:to>
                                        <p:strVal val="visible"/>
                                      </p:to>
                                    </p:set>
                                    <p:animEffect transition="in" filter="fade">
                                      <p:cBhvr>
                                        <p:cTn id="86" dur="500"/>
                                        <p:tgtEl>
                                          <p:spTgt spid="26"/>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27"/>
                                        </p:tgtEl>
                                        <p:attrNameLst>
                                          <p:attrName>style.visibility</p:attrName>
                                        </p:attrNameLst>
                                      </p:cBhvr>
                                      <p:to>
                                        <p:strVal val="visible"/>
                                      </p:to>
                                    </p:set>
                                    <p:animEffect transition="in" filter="fade">
                                      <p:cBhvr>
                                        <p:cTn id="89" dur="500"/>
                                        <p:tgtEl>
                                          <p:spTgt spid="27"/>
                                        </p:tgtEl>
                                      </p:cBhvr>
                                    </p:animEffect>
                                  </p:childTnLst>
                                </p:cTn>
                              </p:par>
                            </p:childTnLst>
                          </p:cTn>
                        </p:par>
                        <p:par>
                          <p:cTn id="90" fill="hold">
                            <p:stCondLst>
                              <p:cond delay="840"/>
                            </p:stCondLst>
                            <p:childTnLst>
                              <p:par>
                                <p:cTn id="91" presetID="22" presetClass="entr" presetSubtype="8" fill="hold" grpId="0" nodeType="afterEffect">
                                  <p:stCondLst>
                                    <p:cond delay="0"/>
                                  </p:stCondLst>
                                  <p:childTnLst>
                                    <p:set>
                                      <p:cBhvr>
                                        <p:cTn id="92" dur="1" fill="hold">
                                          <p:stCondLst>
                                            <p:cond delay="0"/>
                                          </p:stCondLst>
                                        </p:cTn>
                                        <p:tgtEl>
                                          <p:spTgt spid="28"/>
                                        </p:tgtEl>
                                        <p:attrNameLst>
                                          <p:attrName>style.visibility</p:attrName>
                                        </p:attrNameLst>
                                      </p:cBhvr>
                                      <p:to>
                                        <p:strVal val="visible"/>
                                      </p:to>
                                    </p:set>
                                    <p:animEffect transition="in" filter="wipe(left)">
                                      <p:cBhvr>
                                        <p:cTn id="93" dur="600"/>
                                        <p:tgtEl>
                                          <p:spTgt spid="28"/>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29"/>
                                        </p:tgtEl>
                                        <p:attrNameLst>
                                          <p:attrName>style.visibility</p:attrName>
                                        </p:attrNameLst>
                                      </p:cBhvr>
                                      <p:to>
                                        <p:strVal val="visible"/>
                                      </p:to>
                                    </p:set>
                                    <p:animEffect transition="in" filter="fade">
                                      <p:cBhvr>
                                        <p:cTn id="96" dur="500"/>
                                        <p:tgtEl>
                                          <p:spTgt spid="29"/>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0"/>
                                        </p:tgtEl>
                                        <p:attrNameLst>
                                          <p:attrName>style.visibility</p:attrName>
                                        </p:attrNameLst>
                                      </p:cBhvr>
                                      <p:to>
                                        <p:strVal val="visible"/>
                                      </p:to>
                                    </p:set>
                                    <p:animEffect transition="in" filter="fade">
                                      <p:cBhvr>
                                        <p:cTn id="99" dur="500"/>
                                        <p:tgtEl>
                                          <p:spTgt spid="30"/>
                                        </p:tgtEl>
                                      </p:cBhvr>
                                    </p:animEffect>
                                  </p:childTnLst>
                                </p:cTn>
                              </p:par>
                            </p:childTnLst>
                          </p:cTn>
                        </p:par>
                      </p:childTnLst>
                    </p:cTn>
                  </p:par>
                  <p:par>
                    <p:cTn id="100" fill="hold">
                      <p:stCondLst>
                        <p:cond delay="indefinite"/>
                      </p:stCondLst>
                      <p:childTnLst>
                        <p:par>
                          <p:cTn id="101" fill="hold">
                            <p:stCondLst>
                              <p:cond delay="0"/>
                            </p:stCondLst>
                            <p:childTnLst>
                              <p:par>
                                <p:cTn id="102" presetID="22" presetClass="entr" presetSubtype="8" fill="hold" nodeType="clickEffect">
                                  <p:stCondLst>
                                    <p:cond delay="0"/>
                                  </p:stCondLst>
                                  <p:childTnLst>
                                    <p:set>
                                      <p:cBhvr>
                                        <p:cTn id="103" dur="1" fill="hold">
                                          <p:stCondLst>
                                            <p:cond delay="0"/>
                                          </p:stCondLst>
                                        </p:cTn>
                                        <p:tgtEl>
                                          <p:spTgt spid="31"/>
                                        </p:tgtEl>
                                        <p:attrNameLst>
                                          <p:attrName>style.visibility</p:attrName>
                                        </p:attrNameLst>
                                      </p:cBhvr>
                                      <p:to>
                                        <p:strVal val="visible"/>
                                      </p:to>
                                    </p:set>
                                    <p:animEffect transition="in" filter="wipe(left)">
                                      <p:cBhvr>
                                        <p:cTn id="104" dur="600"/>
                                        <p:tgtEl>
                                          <p:spTgt spid="31"/>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32"/>
                                        </p:tgtEl>
                                        <p:attrNameLst>
                                          <p:attrName>style.visibility</p:attrName>
                                        </p:attrNameLst>
                                      </p:cBhvr>
                                      <p:to>
                                        <p:strVal val="visible"/>
                                      </p:to>
                                    </p:set>
                                    <p:animEffect transition="in" filter="fade">
                                      <p:cBhvr>
                                        <p:cTn id="107"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47472"/>
            <a:ext cx="9052560" cy="640080"/>
          </a:xfrm>
          <a:prstGeom prst="rect">
            <a:avLst/>
          </a:prstGeom>
          <a:noFill/>
          <a:ln/>
        </p:spPr>
        <p:txBody>
          <a:bodyPr wrap="square" lIns="0" tIns="0" rIns="0" bIns="0" rtlCol="0" anchor="t"/>
          <a:lstStyle/>
          <a:p>
            <a:pPr marL="0" indent="0" algn="l">
              <a:buNone/>
            </a:pPr>
            <a:r>
              <a:rPr lang="en-US" sz="3400" b="1" dirty="0">
                <a:solidFill>
                  <a:schemeClr val="tx2"/>
                </a:solidFill>
              </a:rPr>
              <a:t>Validation with SHACL</a:t>
            </a:r>
            <a:endParaRPr lang="en-US" sz="3400" dirty="0"/>
          </a:p>
        </p:txBody>
      </p:sp>
      <p:sp>
        <p:nvSpPr>
          <p:cNvPr id="3" name="Text 0"/>
          <p:cNvSpPr>
            <a:spLocks noGrp="1"/>
          </p:cNvSpPr>
          <p:nvPr>
            <p:ph type="body" idx="101" hasCustomPrompt="1"/>
          </p:nvPr>
        </p:nvSpPr>
        <p:spPr>
          <a:xfrm>
            <a:off x="548640" y="987552"/>
            <a:ext cx="9326880" cy="411480"/>
          </a:xfrm>
          <a:prstGeom prst="rect">
            <a:avLst/>
          </a:prstGeom>
          <a:noFill/>
          <a:ln/>
        </p:spPr>
        <p:txBody>
          <a:bodyPr wrap="square" lIns="0" tIns="0" rIns="0" bIns="0" rtlCol="0" anchor="t"/>
          <a:lstStyle/>
          <a:p>
            <a:pPr marL="0" indent="0">
              <a:buNone/>
            </a:pPr>
            <a:r>
              <a:rPr lang="en-US" sz="1900" dirty="0">
                <a:solidFill>
                  <a:schemeClr val="accent2"/>
                </a:solidFill>
              </a:rPr>
              <a:t>A gate that bad data cannot pass</a:t>
            </a:r>
            <a:endParaRPr lang="en-US" sz="1900" dirty="0"/>
          </a:p>
        </p:txBody>
      </p:sp>
      <p:sp>
        <p:nvSpPr>
          <p:cNvPr id="4" name="a0_chip"/>
          <p:cNvSpPr txBox="1"/>
          <p:nvPr/>
        </p:nvSpPr>
        <p:spPr>
          <a:xfrm>
            <a:off x="9720072" y="411480"/>
            <a:ext cx="1920240" cy="384048"/>
          </a:xfrm>
          <a:prstGeom prst="roundRect">
            <a:avLst>
              <a:gd name="adj" fmla="val 50000"/>
            </a:avLst>
          </a:prstGeom>
          <a:solidFill>
            <a:schemeClr val="bg1"/>
          </a:solidFill>
          <a:ln w="12700">
            <a:solidFill>
              <a:schemeClr val="accent4"/>
            </a:solidFill>
          </a:ln>
        </p:spPr>
        <p:txBody>
          <a:bodyPr wrap="square" lIns="0" tIns="0" rIns="0" bIns="0" rtlCol="0" anchor="ctr"/>
          <a:lstStyle/>
          <a:p>
            <a:pPr marL="0" indent="0" algn="ctr">
              <a:buNone/>
            </a:pPr>
            <a:r>
              <a:rPr lang="en-US" sz="1300" b="1" dirty="0">
                <a:solidFill>
                  <a:schemeClr val="accent1"/>
                </a:solidFill>
                <a:latin typeface="Consolas" pitchFamily="34" charset="0"/>
                <a:ea typeface="Consolas" pitchFamily="34" charset="-122"/>
                <a:cs typeface="Consolas" pitchFamily="34" charset="-120"/>
              </a:rPr>
              <a:t>shapes/</a:t>
            </a:r>
            <a:endParaRPr lang="en-US" sz="1300" dirty="0"/>
          </a:p>
        </p:txBody>
      </p:sp>
      <p:sp>
        <p:nvSpPr>
          <p:cNvPr id="5" name="a1_g1"/>
          <p:cNvSpPr txBox="1"/>
          <p:nvPr/>
        </p:nvSpPr>
        <p:spPr>
          <a:xfrm>
            <a:off x="548640" y="1828800"/>
            <a:ext cx="2286000" cy="960120"/>
          </a:xfrm>
          <a:prstGeom prst="roundRect">
            <a:avLst>
              <a:gd name="adj" fmla="val 9524"/>
            </a:avLst>
          </a:prstGeom>
          <a:solidFill>
            <a:schemeClr val="bg1"/>
          </a:solidFill>
          <a:ln w="9525">
            <a:solidFill>
              <a:srgbClr val="DCE8DF"/>
            </a:solidFill>
          </a:ln>
          <a:effectLst>
            <a:outerShdw blurRad="127000" dist="25400" dir="5400000" algn="bl" rotWithShape="0">
              <a:srgbClr val="1B2A22">
                <a:alpha val="14000"/>
              </a:srgbClr>
            </a:outerShdw>
          </a:effectLst>
        </p:spPr>
        <p:txBody>
          <a:bodyPr wrap="square" lIns="0" tIns="0" rIns="0" bIns="0" rtlCol="0" anchor="ctr"/>
          <a:lstStyle/>
          <a:p>
            <a:pPr marL="0" indent="0" algn="ctr">
              <a:buNone/>
            </a:pPr>
            <a:r>
              <a:rPr lang="en-US" sz="1600" b="1" dirty="0">
                <a:solidFill>
                  <a:schemeClr val="tx2"/>
                </a:solidFill>
              </a:rPr>
              <a:t>Mapped graph</a:t>
            </a:r>
            <a:endParaRPr lang="en-US" sz="1600" dirty="0"/>
          </a:p>
          <a:p>
            <a:pPr marL="0" indent="0" algn="ctr">
              <a:buNone/>
            </a:pPr>
            <a:r>
              <a:rPr lang="en-US" sz="1600" b="1" dirty="0">
                <a:solidFill>
                  <a:schemeClr val="tx2"/>
                </a:solidFill>
              </a:rPr>
              <a:t>9,359 triples</a:t>
            </a:r>
            <a:endParaRPr lang="en-US" sz="1600" dirty="0"/>
          </a:p>
        </p:txBody>
      </p:sp>
      <p:sp>
        <p:nvSpPr>
          <p:cNvPr id="6" name="a2_ga1"/>
          <p:cNvSpPr/>
          <p:nvPr/>
        </p:nvSpPr>
        <p:spPr>
          <a:xfrm>
            <a:off x="2880360" y="2304288"/>
            <a:ext cx="548640" cy="0"/>
          </a:xfrm>
          <a:prstGeom prst="line">
            <a:avLst/>
          </a:prstGeom>
          <a:noFill/>
          <a:ln w="25400">
            <a:solidFill>
              <a:schemeClr val="accent5"/>
            </a:solidFill>
            <a:prstDash val="solid"/>
            <a:tailEnd type="triangle"/>
          </a:ln>
        </p:spPr>
        <p:txBody>
          <a:bodyPr/>
          <a:lstStyle/>
          <a:p>
            <a:endParaRPr lang="en-US"/>
          </a:p>
        </p:txBody>
      </p:sp>
      <p:sp>
        <p:nvSpPr>
          <p:cNvPr id="7" name="a2_g2"/>
          <p:cNvSpPr txBox="1"/>
          <p:nvPr/>
        </p:nvSpPr>
        <p:spPr>
          <a:xfrm>
            <a:off x="3474720" y="1645920"/>
            <a:ext cx="2560320" cy="1325880"/>
          </a:xfrm>
          <a:prstGeom prst="roundRect">
            <a:avLst>
              <a:gd name="adj" fmla="val 6897"/>
            </a:avLst>
          </a:prstGeom>
          <a:solidFill>
            <a:schemeClr val="accent1"/>
          </a:solidFill>
          <a:ln/>
          <a:effectLst>
            <a:outerShdw blurRad="152400" dist="25400" dir="5400000" algn="bl" rotWithShape="0">
              <a:srgbClr val="1B2A22">
                <a:alpha val="22000"/>
              </a:srgbClr>
            </a:outerShdw>
          </a:effectLst>
        </p:spPr>
        <p:txBody>
          <a:bodyPr wrap="square" lIns="0" tIns="0" rIns="0" bIns="0" rtlCol="0" anchor="ctr"/>
          <a:lstStyle/>
          <a:p>
            <a:pPr marL="0" indent="0" algn="ctr">
              <a:buNone/>
            </a:pPr>
            <a:r>
              <a:rPr lang="en-US" sz="2000" b="1" dirty="0">
                <a:solidFill>
                  <a:schemeClr val="bg1"/>
                </a:solidFill>
              </a:rPr>
              <a:t>SHACL gate</a:t>
            </a:r>
            <a:endParaRPr lang="en-US" sz="2000" dirty="0"/>
          </a:p>
          <a:p>
            <a:pPr marL="0" indent="0" algn="ctr">
              <a:buNone/>
            </a:pPr>
            <a:r>
              <a:rPr lang="en-US" sz="2000" b="1" dirty="0">
                <a:solidFill>
                  <a:schemeClr val="bg1"/>
                </a:solidFill>
              </a:rPr>
              <a:t>10 rules</a:t>
            </a:r>
            <a:endParaRPr lang="en-US" sz="2000" dirty="0"/>
          </a:p>
        </p:txBody>
      </p:sp>
      <p:sp>
        <p:nvSpPr>
          <p:cNvPr id="8" name="a3_ga2"/>
          <p:cNvSpPr/>
          <p:nvPr/>
        </p:nvSpPr>
        <p:spPr>
          <a:xfrm flipV="1">
            <a:off x="6080760" y="1874520"/>
            <a:ext cx="548640" cy="137160"/>
          </a:xfrm>
          <a:prstGeom prst="line">
            <a:avLst/>
          </a:prstGeom>
          <a:noFill/>
          <a:ln w="25400">
            <a:solidFill>
              <a:schemeClr val="accent1"/>
            </a:solidFill>
            <a:prstDash val="solid"/>
            <a:tailEnd type="triangle"/>
          </a:ln>
        </p:spPr>
        <p:txBody>
          <a:bodyPr/>
          <a:lstStyle/>
          <a:p>
            <a:endParaRPr lang="en-US"/>
          </a:p>
        </p:txBody>
      </p:sp>
      <p:sp>
        <p:nvSpPr>
          <p:cNvPr id="9" name="a4_ga3"/>
          <p:cNvSpPr/>
          <p:nvPr/>
        </p:nvSpPr>
        <p:spPr>
          <a:xfrm>
            <a:off x="6080760" y="2606040"/>
            <a:ext cx="548640" cy="137160"/>
          </a:xfrm>
          <a:prstGeom prst="line">
            <a:avLst/>
          </a:prstGeom>
          <a:noFill/>
          <a:ln w="25400">
            <a:solidFill>
              <a:schemeClr val="accent3"/>
            </a:solidFill>
            <a:prstDash val="solid"/>
            <a:tailEnd type="triangle"/>
          </a:ln>
        </p:spPr>
        <p:txBody>
          <a:bodyPr/>
          <a:lstStyle/>
          <a:p>
            <a:endParaRPr lang="en-US"/>
          </a:p>
        </p:txBody>
      </p:sp>
      <p:sp>
        <p:nvSpPr>
          <p:cNvPr id="10" name="a3_g3"/>
          <p:cNvSpPr txBox="1"/>
          <p:nvPr/>
        </p:nvSpPr>
        <p:spPr>
          <a:xfrm>
            <a:off x="6675120" y="1554480"/>
            <a:ext cx="3108960" cy="640080"/>
          </a:xfrm>
          <a:prstGeom prst="roundRect">
            <a:avLst>
              <a:gd name="adj" fmla="val 14286"/>
            </a:avLst>
          </a:prstGeom>
          <a:solidFill>
            <a:schemeClr val="accent1">
              <a:alpha val="15000"/>
            </a:schemeClr>
          </a:solidFill>
          <a:ln/>
        </p:spPr>
        <p:txBody>
          <a:bodyPr wrap="square" lIns="0" tIns="0" rIns="0" bIns="0" rtlCol="0" anchor="ctr"/>
          <a:lstStyle/>
          <a:p>
            <a:pPr marL="0" indent="0" algn="ctr">
              <a:buNone/>
            </a:pPr>
            <a:r>
              <a:rPr lang="en-US" sz="1600" b="1" dirty="0">
                <a:solidFill>
                  <a:schemeClr val="accent1"/>
                </a:solidFill>
              </a:rPr>
              <a:t>Pass: reason, query, load</a:t>
            </a:r>
            <a:endParaRPr lang="en-US" sz="1600" dirty="0"/>
          </a:p>
        </p:txBody>
      </p:sp>
      <p:sp>
        <p:nvSpPr>
          <p:cNvPr id="11" name="a4_g4"/>
          <p:cNvSpPr txBox="1"/>
          <p:nvPr/>
        </p:nvSpPr>
        <p:spPr>
          <a:xfrm>
            <a:off x="6675120" y="2423160"/>
            <a:ext cx="3108960" cy="640080"/>
          </a:xfrm>
          <a:prstGeom prst="roundRect">
            <a:avLst>
              <a:gd name="adj" fmla="val 14286"/>
            </a:avLst>
          </a:prstGeom>
          <a:solidFill>
            <a:schemeClr val="accent3">
              <a:alpha val="15000"/>
            </a:schemeClr>
          </a:solidFill>
          <a:ln/>
        </p:spPr>
        <p:txBody>
          <a:bodyPr wrap="square" lIns="0" tIns="0" rIns="0" bIns="0" rtlCol="0" anchor="ctr"/>
          <a:lstStyle/>
          <a:p>
            <a:pPr marL="0" indent="0" algn="ctr">
              <a:buNone/>
            </a:pPr>
            <a:r>
              <a:rPr lang="en-US" sz="1600" b="1" dirty="0">
                <a:solidFill>
                  <a:schemeClr val="accent3"/>
                </a:solidFill>
              </a:rPr>
              <a:t>Violation: stop, nothing loaded</a:t>
            </a:r>
            <a:endParaRPr lang="en-US" sz="1600" dirty="0"/>
          </a:p>
        </p:txBody>
      </p:sp>
      <p:sp>
        <p:nvSpPr>
          <p:cNvPr id="12" name="a5_v_n"/>
          <p:cNvSpPr txBox="1"/>
          <p:nvPr/>
        </p:nvSpPr>
        <p:spPr>
          <a:xfrm>
            <a:off x="10058400" y="1417320"/>
            <a:ext cx="1581912" cy="594360"/>
          </a:xfrm>
          <a:prstGeom prst="rect">
            <a:avLst/>
          </a:prstGeom>
          <a:noFill/>
          <a:ln/>
        </p:spPr>
        <p:txBody>
          <a:bodyPr wrap="square" lIns="0" tIns="0" rIns="0" bIns="0" rtlCol="0" anchor="b"/>
          <a:lstStyle/>
          <a:p>
            <a:pPr marL="0" indent="0">
              <a:buNone/>
            </a:pPr>
            <a:r>
              <a:rPr lang="en-US" sz="3400" b="1" dirty="0">
                <a:solidFill>
                  <a:schemeClr val="accent1"/>
                </a:solidFill>
              </a:rPr>
              <a:t>0</a:t>
            </a:r>
            <a:endParaRPr lang="en-US" sz="3400" dirty="0"/>
          </a:p>
        </p:txBody>
      </p:sp>
      <p:sp>
        <p:nvSpPr>
          <p:cNvPr id="13" name="a5_v_l"/>
          <p:cNvSpPr txBox="1"/>
          <p:nvPr/>
        </p:nvSpPr>
        <p:spPr>
          <a:xfrm>
            <a:off x="10058400" y="2057400"/>
            <a:ext cx="1581912" cy="411480"/>
          </a:xfrm>
          <a:prstGeom prst="rect">
            <a:avLst/>
          </a:prstGeom>
          <a:noFill/>
          <a:ln/>
        </p:spPr>
        <p:txBody>
          <a:bodyPr wrap="square" lIns="0" tIns="0" rIns="0" bIns="0" rtlCol="0" anchor="t"/>
          <a:lstStyle/>
          <a:p>
            <a:pPr marL="0" indent="0">
              <a:buNone/>
            </a:pPr>
            <a:r>
              <a:rPr lang="en-US" sz="1400" dirty="0">
                <a:solidFill>
                  <a:schemeClr val="accent5"/>
                </a:solidFill>
              </a:rPr>
              <a:t>Violations</a:t>
            </a:r>
            <a:endParaRPr lang="en-US" sz="1400" dirty="0"/>
          </a:p>
        </p:txBody>
      </p:sp>
      <p:sp>
        <p:nvSpPr>
          <p:cNvPr id="14" name="a5_w_n"/>
          <p:cNvSpPr txBox="1"/>
          <p:nvPr/>
        </p:nvSpPr>
        <p:spPr>
          <a:xfrm>
            <a:off x="10058400" y="2423160"/>
            <a:ext cx="1581912" cy="594360"/>
          </a:xfrm>
          <a:prstGeom prst="rect">
            <a:avLst/>
          </a:prstGeom>
          <a:noFill/>
          <a:ln/>
        </p:spPr>
        <p:txBody>
          <a:bodyPr wrap="square" lIns="0" tIns="0" rIns="0" bIns="0" rtlCol="0" anchor="b"/>
          <a:lstStyle/>
          <a:p>
            <a:pPr marL="0" indent="0">
              <a:buNone/>
            </a:pPr>
            <a:r>
              <a:rPr lang="en-US" sz="3400" b="1" dirty="0">
                <a:solidFill>
                  <a:schemeClr val="accent2"/>
                </a:solidFill>
              </a:rPr>
              <a:t>353</a:t>
            </a:r>
            <a:endParaRPr lang="en-US" sz="3400" dirty="0"/>
          </a:p>
        </p:txBody>
      </p:sp>
      <p:sp>
        <p:nvSpPr>
          <p:cNvPr id="15" name="a5_w_l"/>
          <p:cNvSpPr txBox="1"/>
          <p:nvPr/>
        </p:nvSpPr>
        <p:spPr>
          <a:xfrm>
            <a:off x="10058400" y="3063240"/>
            <a:ext cx="1581912" cy="411480"/>
          </a:xfrm>
          <a:prstGeom prst="rect">
            <a:avLst/>
          </a:prstGeom>
          <a:noFill/>
          <a:ln/>
        </p:spPr>
        <p:txBody>
          <a:bodyPr wrap="square" lIns="0" tIns="0" rIns="0" bIns="0" rtlCol="0" anchor="t"/>
          <a:lstStyle/>
          <a:p>
            <a:pPr marL="0" indent="0">
              <a:buNone/>
            </a:pPr>
            <a:r>
              <a:rPr lang="en-US" sz="1400" dirty="0">
                <a:solidFill>
                  <a:schemeClr val="accent5"/>
                </a:solidFill>
              </a:rPr>
              <a:t>Warnings (C7)</a:t>
            </a:r>
            <a:endParaRPr lang="en-US" sz="1400" dirty="0"/>
          </a:p>
        </p:txBody>
      </p:sp>
      <p:sp>
        <p:nvSpPr>
          <p:cNvPr id="16" name="a6_r"/>
          <p:cNvSpPr/>
          <p:nvPr/>
        </p:nvSpPr>
        <p:spPr>
          <a:xfrm>
            <a:off x="548640" y="3429000"/>
            <a:ext cx="5440680" cy="1417320"/>
          </a:xfrm>
          <a:prstGeom prst="roundRect">
            <a:avLst>
              <a:gd name="adj" fmla="val 9032"/>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17" name="a6_rh"/>
          <p:cNvSpPr txBox="1"/>
          <p:nvPr/>
        </p:nvSpPr>
        <p:spPr>
          <a:xfrm>
            <a:off x="777240" y="3538728"/>
            <a:ext cx="5029200" cy="347472"/>
          </a:xfrm>
          <a:prstGeom prst="rect">
            <a:avLst/>
          </a:prstGeom>
          <a:noFill/>
          <a:ln/>
        </p:spPr>
        <p:txBody>
          <a:bodyPr wrap="square" lIns="0" tIns="0" rIns="0" bIns="0" rtlCol="0" anchor="t"/>
          <a:lstStyle/>
          <a:p>
            <a:pPr marL="0" indent="0">
              <a:buNone/>
            </a:pPr>
            <a:r>
              <a:rPr lang="en-US" sz="1700" b="1" dirty="0">
                <a:solidFill>
                  <a:schemeClr val="accent3"/>
                </a:solidFill>
              </a:rPr>
              <a:t>Red run</a:t>
            </a:r>
            <a:endParaRPr lang="en-US" sz="1700" dirty="0"/>
          </a:p>
        </p:txBody>
      </p:sp>
      <p:sp>
        <p:nvSpPr>
          <p:cNvPr id="18" name="a6_rt"/>
          <p:cNvSpPr txBox="1"/>
          <p:nvPr/>
        </p:nvSpPr>
        <p:spPr>
          <a:xfrm>
            <a:off x="777240" y="3931920"/>
            <a:ext cx="5029200" cy="822960"/>
          </a:xfrm>
          <a:prstGeom prst="rect">
            <a:avLst/>
          </a:prstGeom>
          <a:noFill/>
          <a:ln/>
        </p:spPr>
        <p:txBody>
          <a:bodyPr wrap="square" lIns="0" tIns="0" rIns="0" bIns="0" rtlCol="0" anchor="t"/>
          <a:lstStyle/>
          <a:p>
            <a:pPr marL="0" indent="0">
              <a:buNone/>
            </a:pPr>
            <a:r>
              <a:rPr lang="en-US" sz="1400" dirty="0">
                <a:solidFill>
                  <a:schemeClr val="tx2"/>
                </a:solidFill>
              </a:rPr>
              <a:t>We changed one amount to −7.35. The gate found 1 Violation (rule C4), stopped with exit code 1, and nothing was loaded.</a:t>
            </a:r>
            <a:endParaRPr lang="en-US" sz="1400" dirty="0"/>
          </a:p>
        </p:txBody>
      </p:sp>
      <p:sp>
        <p:nvSpPr>
          <p:cNvPr id="19" name="a7_o"/>
          <p:cNvSpPr/>
          <p:nvPr/>
        </p:nvSpPr>
        <p:spPr>
          <a:xfrm>
            <a:off x="6199632" y="3429000"/>
            <a:ext cx="5440680" cy="1417320"/>
          </a:xfrm>
          <a:prstGeom prst="roundRect">
            <a:avLst>
              <a:gd name="adj" fmla="val 9032"/>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20" name="a7_oh"/>
          <p:cNvSpPr txBox="1"/>
          <p:nvPr/>
        </p:nvSpPr>
        <p:spPr>
          <a:xfrm>
            <a:off x="6428232" y="3538728"/>
            <a:ext cx="5029200" cy="347472"/>
          </a:xfrm>
          <a:prstGeom prst="rect">
            <a:avLst/>
          </a:prstGeom>
          <a:noFill/>
          <a:ln/>
        </p:spPr>
        <p:txBody>
          <a:bodyPr wrap="square" lIns="0" tIns="0" rIns="0" bIns="0" rtlCol="0" anchor="t"/>
          <a:lstStyle/>
          <a:p>
            <a:pPr marL="0" indent="0">
              <a:buNone/>
            </a:pPr>
            <a:r>
              <a:rPr lang="en-US" sz="1700" b="1" dirty="0">
                <a:solidFill>
                  <a:schemeClr val="accent1"/>
                </a:solidFill>
              </a:rPr>
              <a:t>Why SHACL and not OWL?</a:t>
            </a:r>
            <a:endParaRPr lang="en-US" sz="1700" dirty="0"/>
          </a:p>
        </p:txBody>
      </p:sp>
      <p:sp>
        <p:nvSpPr>
          <p:cNvPr id="21" name="a7_ot"/>
          <p:cNvSpPr txBox="1"/>
          <p:nvPr/>
        </p:nvSpPr>
        <p:spPr>
          <a:xfrm>
            <a:off x="6428232" y="3931920"/>
            <a:ext cx="5029200" cy="822960"/>
          </a:xfrm>
          <a:prstGeom prst="rect">
            <a:avLst/>
          </a:prstGeom>
          <a:noFill/>
          <a:ln/>
        </p:spPr>
        <p:txBody>
          <a:bodyPr wrap="square" lIns="0" tIns="0" rIns="0" bIns="0" rtlCol="0" anchor="t"/>
          <a:lstStyle/>
          <a:p>
            <a:pPr marL="0" indent="0">
              <a:buNone/>
            </a:pPr>
            <a:r>
              <a:rPr lang="en-US" sz="1400" dirty="0">
                <a:solidFill>
                  <a:schemeClr val="tx2"/>
                </a:solidFill>
              </a:rPr>
              <a:t>OWL is open world: a missing value is just unknown. SHACL is closed world: a missing value is an error, so it can block the load.</a:t>
            </a:r>
            <a:endParaRPr lang="en-US" sz="1400" dirty="0"/>
          </a:p>
        </p:txBody>
      </p:sp>
      <p:pic>
        <p:nvPicPr>
          <p:cNvPr id="22" name="a8_desc_bg" descr="preencoded.png"/>
          <p:cNvPicPr>
            <a:picLocks noChangeAspect="1"/>
          </p:cNvPicPr>
          <p:nvPr/>
        </p:nvPicPr>
        <p:blipFill>
          <a:blip r:embed="rId3"/>
          <a:stretch>
            <a:fillRect/>
          </a:stretch>
        </p:blipFill>
        <p:spPr>
          <a:xfrm>
            <a:off x="548640" y="5029200"/>
            <a:ext cx="11091672" cy="1261872"/>
          </a:xfrm>
          <a:prstGeom prst="rect">
            <a:avLst/>
          </a:prstGeom>
          <a:effectLst>
            <a:outerShdw blurRad="152400" dist="25400" dir="5400000" algn="bl" rotWithShape="0">
              <a:srgbClr val="1B2A22">
                <a:alpha val="25000"/>
              </a:srgbClr>
            </a:outerShdw>
          </a:effectLst>
        </p:spPr>
      </p:pic>
      <p:sp>
        <p:nvSpPr>
          <p:cNvPr id="23" name="a8_desc_tx"/>
          <p:cNvSpPr txBox="1"/>
          <p:nvPr/>
        </p:nvSpPr>
        <p:spPr>
          <a:xfrm>
            <a:off x="914400" y="5029200"/>
            <a:ext cx="10360152" cy="1261872"/>
          </a:xfrm>
          <a:prstGeom prst="rect">
            <a:avLst/>
          </a:prstGeom>
          <a:noFill/>
          <a:ln/>
        </p:spPr>
        <p:txBody>
          <a:bodyPr wrap="square" lIns="0" tIns="0" rIns="0" bIns="0" rtlCol="0" anchor="ctr"/>
          <a:lstStyle/>
          <a:p>
            <a:pPr marL="0" indent="0">
              <a:lnSpc>
                <a:spcPct val="100000"/>
              </a:lnSpc>
              <a:buNone/>
            </a:pPr>
            <a:r>
              <a:rPr lang="en-US" sz="1400" dirty="0">
                <a:solidFill>
                  <a:schemeClr val="bg1"/>
                </a:solidFill>
              </a:rPr>
              <a:t>Our shapes cover all ten rules of the inventory, and every check has a clear message and a severity. A Violation stops the pipeline before the reasoner and before anything is loaded; a Warning is reported and the data is kept. The same gate runs in GitHub Actions on every push. We broke one row on purpose, and the gate stopped it. We use SHACL here because OWL is open world and cannot reject missing data.</a:t>
            </a:r>
            <a:endParaRPr lang="en-US" sz="1400" dirty="0"/>
          </a:p>
        </p:txBody>
      </p:sp>
      <p:sp>
        <p:nvSpPr>
          <p:cNvPr id="24" name="Slide Number Placeholder 0"/>
          <p:cNvSpPr>
            <a:spLocks noGrp="1"/>
          </p:cNvSpPr>
          <p:nvPr>
            <p:ph type="sldNum" sz="quarter" idx="4294967295"/>
          </p:nvPr>
        </p:nvSpPr>
        <p:spPr>
          <a:xfrm>
            <a:off x="11183112"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6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600"/>
                                        <p:tgtEl>
                                          <p:spTgt spid="5"/>
                                        </p:tgtEl>
                                      </p:cBhvr>
                                    </p:animEffect>
                                  </p:childTnLst>
                                </p:cTn>
                              </p:par>
                            </p:childTnLst>
                          </p:cTn>
                        </p:par>
                        <p:par>
                          <p:cTn id="16" fill="hold">
                            <p:stCondLst>
                              <p:cond delay="280"/>
                            </p:stCondLst>
                            <p:childTnLst>
                              <p:par>
                                <p:cTn id="17" presetID="22" presetClass="entr" presetSubtype="8" fill="hold" grpId="0" nodeType="after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6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600"/>
                                        <p:tgtEl>
                                          <p:spTgt spid="7"/>
                                        </p:tgtEl>
                                      </p:cBhvr>
                                    </p:animEffect>
                                  </p:childTnLst>
                                </p:cTn>
                              </p:par>
                            </p:childTnLst>
                          </p:cTn>
                        </p:par>
                        <p:par>
                          <p:cTn id="23" fill="hold">
                            <p:stCondLst>
                              <p:cond delay="560"/>
                            </p:stCondLst>
                            <p:childTnLst>
                              <p:par>
                                <p:cTn id="24" presetID="22" presetClass="entr" presetSubtype="8"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wipe(left)">
                                      <p:cBhvr>
                                        <p:cTn id="26" dur="600"/>
                                        <p:tgtEl>
                                          <p:spTgt spid="8"/>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wipe(left)">
                                      <p:cBhvr>
                                        <p:cTn id="29" dur="600"/>
                                        <p:tgtEl>
                                          <p:spTgt spid="10"/>
                                        </p:tgtEl>
                                      </p:cBhvr>
                                    </p:animEffect>
                                  </p:childTnLst>
                                </p:cTn>
                              </p:par>
                            </p:childTnLst>
                          </p:cTn>
                        </p:par>
                        <p:par>
                          <p:cTn id="30" fill="hold">
                            <p:stCondLst>
                              <p:cond delay="840"/>
                            </p:stCondLst>
                            <p:childTnLst>
                              <p:par>
                                <p:cTn id="31" presetID="22" presetClass="entr" presetSubtype="8" fill="hold" grpId="0" nodeType="after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600"/>
                                        <p:tgtEl>
                                          <p:spTgt spid="9"/>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600"/>
                                        <p:tgtEl>
                                          <p:spTgt spid="11"/>
                                        </p:tgtEl>
                                      </p:cBhvr>
                                    </p:animEffect>
                                  </p:childTnLst>
                                </p:cTn>
                              </p:par>
                            </p:childTnLst>
                          </p:cTn>
                        </p:par>
                        <p:par>
                          <p:cTn id="37" fill="hold">
                            <p:stCondLst>
                              <p:cond delay="1120"/>
                            </p:stCondLst>
                            <p:childTnLst>
                              <p:par>
                                <p:cTn id="38" presetID="10" presetClass="entr" presetSubtype="0" fill="hold" grpId="0" nodeType="after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500"/>
                                        <p:tgtEl>
                                          <p:spTgt spid="1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500"/>
                                        <p:tgtEl>
                                          <p:spTgt spid="15"/>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wipe(left)">
                                      <p:cBhvr>
                                        <p:cTn id="54" dur="600"/>
                                        <p:tgtEl>
                                          <p:spTgt spid="16"/>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500"/>
                                        <p:tgtEl>
                                          <p:spTgt spid="17"/>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500"/>
                                        <p:tgtEl>
                                          <p:spTgt spid="18"/>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wipe(left)">
                                      <p:cBhvr>
                                        <p:cTn id="65" dur="600"/>
                                        <p:tgtEl>
                                          <p:spTgt spid="19"/>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500"/>
                                        <p:tgtEl>
                                          <p:spTgt spid="20"/>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500"/>
                                        <p:tgtEl>
                                          <p:spTgt spid="21"/>
                                        </p:tgtEl>
                                      </p:cBhvr>
                                    </p:animEffect>
                                  </p:childTnLst>
                                </p:cTn>
                              </p:par>
                            </p:childTnLst>
                          </p:cTn>
                        </p:par>
                      </p:childTnLst>
                    </p:cTn>
                  </p:par>
                  <p:par>
                    <p:cTn id="72" fill="hold">
                      <p:stCondLst>
                        <p:cond delay="indefinite"/>
                      </p:stCondLst>
                      <p:childTnLst>
                        <p:par>
                          <p:cTn id="73" fill="hold">
                            <p:stCondLst>
                              <p:cond delay="0"/>
                            </p:stCondLst>
                            <p:childTnLst>
                              <p:par>
                                <p:cTn id="74" presetID="22" presetClass="entr" presetSubtype="8" fill="hold" nodeType="clickEffect">
                                  <p:stCondLst>
                                    <p:cond delay="0"/>
                                  </p:stCondLst>
                                  <p:childTnLst>
                                    <p:set>
                                      <p:cBhvr>
                                        <p:cTn id="75" dur="1" fill="hold">
                                          <p:stCondLst>
                                            <p:cond delay="0"/>
                                          </p:stCondLst>
                                        </p:cTn>
                                        <p:tgtEl>
                                          <p:spTgt spid="22"/>
                                        </p:tgtEl>
                                        <p:attrNameLst>
                                          <p:attrName>style.visibility</p:attrName>
                                        </p:attrNameLst>
                                      </p:cBhvr>
                                      <p:to>
                                        <p:strVal val="visible"/>
                                      </p:to>
                                    </p:set>
                                    <p:animEffect transition="in" filter="wipe(left)">
                                      <p:cBhvr>
                                        <p:cTn id="76" dur="600"/>
                                        <p:tgtEl>
                                          <p:spTgt spid="2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47472"/>
            <a:ext cx="9052560" cy="640080"/>
          </a:xfrm>
          <a:prstGeom prst="rect">
            <a:avLst/>
          </a:prstGeom>
          <a:noFill/>
          <a:ln/>
        </p:spPr>
        <p:txBody>
          <a:bodyPr wrap="square" lIns="0" tIns="0" rIns="0" bIns="0" rtlCol="0" anchor="t"/>
          <a:lstStyle/>
          <a:p>
            <a:pPr marL="0" indent="0" algn="l">
              <a:buNone/>
            </a:pPr>
            <a:r>
              <a:rPr lang="en-US" sz="3400" b="1" dirty="0">
                <a:solidFill>
                  <a:schemeClr val="tx2"/>
                </a:solidFill>
              </a:rPr>
              <a:t>Data integration</a:t>
            </a:r>
            <a:endParaRPr lang="en-US" sz="3400" dirty="0"/>
          </a:p>
        </p:txBody>
      </p:sp>
      <p:sp>
        <p:nvSpPr>
          <p:cNvPr id="3" name="Text 0"/>
          <p:cNvSpPr>
            <a:spLocks noGrp="1"/>
          </p:cNvSpPr>
          <p:nvPr>
            <p:ph type="body" idx="101" hasCustomPrompt="1"/>
          </p:nvPr>
        </p:nvSpPr>
        <p:spPr>
          <a:xfrm>
            <a:off x="548640" y="987552"/>
            <a:ext cx="9326880" cy="411480"/>
          </a:xfrm>
          <a:prstGeom prst="rect">
            <a:avLst/>
          </a:prstGeom>
          <a:noFill/>
          <a:ln/>
        </p:spPr>
        <p:txBody>
          <a:bodyPr wrap="square" lIns="0" tIns="0" rIns="0" bIns="0" rtlCol="0" anchor="t"/>
          <a:lstStyle/>
          <a:p>
            <a:pPr marL="0" indent="0">
              <a:buNone/>
            </a:pPr>
            <a:r>
              <a:rPr lang="en-US" sz="1900" dirty="0">
                <a:solidFill>
                  <a:schemeClr val="accent2"/>
                </a:solidFill>
              </a:rPr>
              <a:t>One mapping, two ways to serve it, two sources</a:t>
            </a:r>
            <a:endParaRPr lang="en-US" sz="1900" dirty="0"/>
          </a:p>
        </p:txBody>
      </p:sp>
      <p:sp>
        <p:nvSpPr>
          <p:cNvPr id="4" name="a0_chip"/>
          <p:cNvSpPr txBox="1"/>
          <p:nvPr/>
        </p:nvSpPr>
        <p:spPr>
          <a:xfrm>
            <a:off x="9720072" y="411480"/>
            <a:ext cx="1920240" cy="384048"/>
          </a:xfrm>
          <a:prstGeom prst="roundRect">
            <a:avLst>
              <a:gd name="adj" fmla="val 50000"/>
            </a:avLst>
          </a:prstGeom>
          <a:solidFill>
            <a:schemeClr val="bg1"/>
          </a:solidFill>
          <a:ln w="12700">
            <a:solidFill>
              <a:schemeClr val="accent4"/>
            </a:solidFill>
          </a:ln>
        </p:spPr>
        <p:txBody>
          <a:bodyPr wrap="square" lIns="0" tIns="0" rIns="0" bIns="0" rtlCol="0" anchor="ctr"/>
          <a:lstStyle/>
          <a:p>
            <a:pPr marL="0" indent="0" algn="ctr">
              <a:buNone/>
            </a:pPr>
            <a:r>
              <a:rPr lang="en-US" sz="1300" b="1" dirty="0">
                <a:solidFill>
                  <a:schemeClr val="accent1"/>
                </a:solidFill>
                <a:latin typeface="Consolas" pitchFamily="34" charset="0"/>
                <a:ea typeface="Consolas" pitchFamily="34" charset="-122"/>
                <a:cs typeface="Consolas" pitchFamily="34" charset="-120"/>
              </a:rPr>
              <a:t>mapping/</a:t>
            </a:r>
            <a:endParaRPr lang="en-US" sz="1300" dirty="0"/>
          </a:p>
        </p:txBody>
      </p:sp>
      <p:sp>
        <p:nvSpPr>
          <p:cNvPr id="5" name="a1_col0"/>
          <p:cNvSpPr/>
          <p:nvPr/>
        </p:nvSpPr>
        <p:spPr>
          <a:xfrm>
            <a:off x="548640" y="1600200"/>
            <a:ext cx="3538728" cy="3246120"/>
          </a:xfrm>
          <a:prstGeom prst="roundRect">
            <a:avLst>
              <a:gd name="adj" fmla="val 3944"/>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6" name="a3_col1"/>
          <p:cNvSpPr/>
          <p:nvPr/>
        </p:nvSpPr>
        <p:spPr>
          <a:xfrm>
            <a:off x="4325112" y="1600200"/>
            <a:ext cx="3538728" cy="3246120"/>
          </a:xfrm>
          <a:prstGeom prst="roundRect">
            <a:avLst>
              <a:gd name="adj" fmla="val 3944"/>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7" name="a5_col2"/>
          <p:cNvSpPr/>
          <p:nvPr/>
        </p:nvSpPr>
        <p:spPr>
          <a:xfrm>
            <a:off x="8101584" y="1600200"/>
            <a:ext cx="3538728" cy="3246120"/>
          </a:xfrm>
          <a:prstGeom prst="roundRect">
            <a:avLst>
              <a:gd name="adj" fmla="val 3944"/>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8" name="a1_b0_c"/>
          <p:cNvSpPr/>
          <p:nvPr/>
        </p:nvSpPr>
        <p:spPr>
          <a:xfrm>
            <a:off x="777240" y="1773936"/>
            <a:ext cx="548640" cy="548640"/>
          </a:xfrm>
          <a:prstGeom prst="ellipse">
            <a:avLst/>
          </a:prstGeom>
          <a:solidFill>
            <a:schemeClr val="accent2"/>
          </a:solidFill>
          <a:ln/>
          <a:effectLst>
            <a:outerShdw blurRad="101600" dist="25400" dir="5400000" algn="bl" rotWithShape="0">
              <a:srgbClr val="1B2A22">
                <a:alpha val="18000"/>
              </a:srgbClr>
            </a:outerShdw>
          </a:effectLst>
        </p:spPr>
        <p:txBody>
          <a:bodyPr/>
          <a:lstStyle/>
          <a:p>
            <a:endParaRPr lang="en-US"/>
          </a:p>
        </p:txBody>
      </p:sp>
      <p:pic>
        <p:nvPicPr>
          <p:cNvPr id="9" name="a1_b0_i" descr="preencoded.png"/>
          <p:cNvPicPr>
            <a:picLocks noChangeAspect="1"/>
          </p:cNvPicPr>
          <p:nvPr/>
        </p:nvPicPr>
        <p:blipFill>
          <a:blip r:embed="rId3"/>
          <a:stretch>
            <a:fillRect/>
          </a:stretch>
        </p:blipFill>
        <p:spPr>
          <a:xfrm>
            <a:off x="914400" y="1911096"/>
            <a:ext cx="274320" cy="274320"/>
          </a:xfrm>
          <a:prstGeom prst="rect">
            <a:avLst/>
          </a:prstGeom>
        </p:spPr>
      </p:pic>
      <p:sp>
        <p:nvSpPr>
          <p:cNvPr id="10" name="a1_h0"/>
          <p:cNvSpPr txBox="1"/>
          <p:nvPr/>
        </p:nvSpPr>
        <p:spPr>
          <a:xfrm>
            <a:off x="1444752" y="1737360"/>
            <a:ext cx="2560320" cy="621792"/>
          </a:xfrm>
          <a:prstGeom prst="rect">
            <a:avLst/>
          </a:prstGeom>
          <a:noFill/>
          <a:ln/>
        </p:spPr>
        <p:txBody>
          <a:bodyPr wrap="square" lIns="0" tIns="0" rIns="0" bIns="0" rtlCol="0" anchor="ctr"/>
          <a:lstStyle/>
          <a:p>
            <a:pPr marL="0" indent="0">
              <a:buNone/>
            </a:pPr>
            <a:r>
              <a:rPr lang="en-US" sz="1600" b="1" dirty="0">
                <a:solidFill>
                  <a:schemeClr val="tx2"/>
                </a:solidFill>
              </a:rPr>
              <a:t>Mapping</a:t>
            </a:r>
            <a:endParaRPr lang="en-US" sz="1600" dirty="0"/>
          </a:p>
        </p:txBody>
      </p:sp>
      <p:sp>
        <p:nvSpPr>
          <p:cNvPr id="11" name="a2_m_n"/>
          <p:cNvSpPr txBox="1"/>
          <p:nvPr/>
        </p:nvSpPr>
        <p:spPr>
          <a:xfrm>
            <a:off x="777240" y="2514600"/>
            <a:ext cx="3108960" cy="594360"/>
          </a:xfrm>
          <a:prstGeom prst="rect">
            <a:avLst/>
          </a:prstGeom>
          <a:noFill/>
          <a:ln/>
        </p:spPr>
        <p:txBody>
          <a:bodyPr wrap="square" lIns="0" tIns="0" rIns="0" bIns="0" rtlCol="0" anchor="b"/>
          <a:lstStyle/>
          <a:p>
            <a:pPr marL="0" indent="0">
              <a:buNone/>
            </a:pPr>
            <a:r>
              <a:rPr lang="en-US" sz="4000" b="1" dirty="0">
                <a:solidFill>
                  <a:schemeClr val="accent1"/>
                </a:solidFill>
              </a:rPr>
              <a:t>9,359</a:t>
            </a:r>
            <a:endParaRPr lang="en-US" sz="4000" dirty="0"/>
          </a:p>
        </p:txBody>
      </p:sp>
      <p:sp>
        <p:nvSpPr>
          <p:cNvPr id="12" name="a2_m_l"/>
          <p:cNvSpPr txBox="1"/>
          <p:nvPr/>
        </p:nvSpPr>
        <p:spPr>
          <a:xfrm>
            <a:off x="777240" y="3154680"/>
            <a:ext cx="3108960" cy="411480"/>
          </a:xfrm>
          <a:prstGeom prst="rect">
            <a:avLst/>
          </a:prstGeom>
          <a:noFill/>
          <a:ln/>
        </p:spPr>
        <p:txBody>
          <a:bodyPr wrap="square" lIns="0" tIns="0" rIns="0" bIns="0" rtlCol="0" anchor="t"/>
          <a:lstStyle/>
          <a:p>
            <a:pPr marL="0" indent="0">
              <a:buNone/>
            </a:pPr>
            <a:r>
              <a:rPr lang="en-US" sz="1400" dirty="0">
                <a:solidFill>
                  <a:schemeClr val="accent5"/>
                </a:solidFill>
              </a:rPr>
              <a:t>triples from R2RML, one map per table</a:t>
            </a:r>
            <a:endParaRPr lang="en-US" sz="1400" dirty="0"/>
          </a:p>
        </p:txBody>
      </p:sp>
      <p:sp>
        <p:nvSpPr>
          <p:cNvPr id="13" name="a2_mi"/>
          <p:cNvSpPr txBox="1"/>
          <p:nvPr/>
        </p:nvSpPr>
        <p:spPr>
          <a:xfrm>
            <a:off x="777240" y="3703320"/>
            <a:ext cx="3108960" cy="731520"/>
          </a:xfrm>
          <a:prstGeom prst="rect">
            <a:avLst/>
          </a:prstGeom>
          <a:noFill/>
          <a:ln/>
        </p:spPr>
        <p:txBody>
          <a:bodyPr wrap="square" lIns="0" tIns="0" rIns="0" bIns="0" rtlCol="0" anchor="t"/>
          <a:lstStyle/>
          <a:p>
            <a:pPr marL="0" indent="0">
              <a:buNone/>
            </a:pPr>
            <a:r>
              <a:rPr lang="en-US" sz="1400" dirty="0">
                <a:solidFill>
                  <a:schemeClr val="tx2"/>
                </a:solidFill>
              </a:rPr>
              <a:t>IRIs: kind / source / key, e.g. food/usda/321358</a:t>
            </a:r>
            <a:endParaRPr lang="en-US" sz="1400" dirty="0"/>
          </a:p>
        </p:txBody>
      </p:sp>
      <p:sp>
        <p:nvSpPr>
          <p:cNvPr id="14" name="a3_b1_c"/>
          <p:cNvSpPr/>
          <p:nvPr/>
        </p:nvSpPr>
        <p:spPr>
          <a:xfrm>
            <a:off x="4553712" y="1773936"/>
            <a:ext cx="548640" cy="548640"/>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15" name="a3_b1_i" descr="preencoded.png"/>
          <p:cNvPicPr>
            <a:picLocks noChangeAspect="1"/>
          </p:cNvPicPr>
          <p:nvPr/>
        </p:nvPicPr>
        <p:blipFill>
          <a:blip r:embed="rId4"/>
          <a:stretch>
            <a:fillRect/>
          </a:stretch>
        </p:blipFill>
        <p:spPr>
          <a:xfrm>
            <a:off x="4690872" y="1911096"/>
            <a:ext cx="274320" cy="274320"/>
          </a:xfrm>
          <a:prstGeom prst="rect">
            <a:avLst/>
          </a:prstGeom>
        </p:spPr>
      </p:pic>
      <p:sp>
        <p:nvSpPr>
          <p:cNvPr id="16" name="a3_h1"/>
          <p:cNvSpPr txBox="1"/>
          <p:nvPr/>
        </p:nvSpPr>
        <p:spPr>
          <a:xfrm>
            <a:off x="5221224" y="1737360"/>
            <a:ext cx="2606040" cy="621792"/>
          </a:xfrm>
          <a:prstGeom prst="rect">
            <a:avLst/>
          </a:prstGeom>
          <a:noFill/>
          <a:ln/>
        </p:spPr>
        <p:txBody>
          <a:bodyPr wrap="square" lIns="0" tIns="0" rIns="0" bIns="0" rtlCol="0" anchor="ctr"/>
          <a:lstStyle/>
          <a:p>
            <a:pPr marL="0" indent="0">
              <a:buNone/>
            </a:pPr>
            <a:r>
              <a:rPr lang="en-US" sz="1600" b="1" dirty="0">
                <a:solidFill>
                  <a:schemeClr val="tx2"/>
                </a:solidFill>
              </a:rPr>
              <a:t>Materialized or virtual?</a:t>
            </a:r>
            <a:endParaRPr lang="en-US" sz="1600" dirty="0"/>
          </a:p>
        </p:txBody>
      </p:sp>
      <p:graphicFrame>
        <p:nvGraphicFramePr>
          <p:cNvPr id="17" name="a4_tbl"/>
          <p:cNvGraphicFramePr>
            <a:graphicFrameLocks noGrp="1"/>
          </p:cNvGraphicFramePr>
          <p:nvPr>
            <p:extLst>
              <p:ext uri="{D42A27DB-BD31-4B8C-83A1-F6EECF244321}">
                <p14:modId xmlns:p14="http://schemas.microsoft.com/office/powerpoint/2010/main" val="1579011935"/>
              </p:ext>
            </p:extLst>
          </p:nvPr>
        </p:nvGraphicFramePr>
        <p:xfrm>
          <a:off x="4553712" y="2514600"/>
          <a:ext cx="3108960" cy="1536192"/>
        </p:xfrm>
        <a:graphic>
          <a:graphicData uri="http://schemas.openxmlformats.org/drawingml/2006/table">
            <a:tbl>
              <a:tblPr/>
              <a:tblGrid>
                <a:gridCol w="128016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tblGrid>
              <a:tr h="384048">
                <a:tc>
                  <a:txBody>
                    <a:bodyPr/>
                    <a:lstStyle/>
                    <a:p>
                      <a:pPr marL="0" indent="0">
                        <a:buNone/>
                      </a:pPr>
                      <a:endParaRPr lang="en-US" sz="1400" dirty="0"/>
                    </a:p>
                  </a:txBody>
                  <a:tcPr anchor="ctr">
                    <a:lnL w="9525" cap="flat" cmpd="sng" algn="ctr">
                      <a:solidFill>
                        <a:srgbClr val="C9D8CD"/>
                      </a:solidFill>
                      <a:prstDash val="solid"/>
                      <a:round/>
                      <a:headEnd type="none" w="med" len="med"/>
                      <a:tailEnd type="none" w="med" len="med"/>
                    </a:lnL>
                    <a:lnR w="9525" cap="flat" cmpd="sng" algn="ctr">
                      <a:solidFill>
                        <a:srgbClr val="C9D8CD"/>
                      </a:solidFill>
                      <a:prstDash val="solid"/>
                      <a:round/>
                      <a:headEnd type="none" w="med" len="med"/>
                      <a:tailEnd type="none" w="med" len="med"/>
                    </a:lnR>
                    <a:lnT w="9525" cap="flat" cmpd="sng" algn="ctr">
                      <a:solidFill>
                        <a:srgbClr val="C9D8CD"/>
                      </a:solidFill>
                      <a:prstDash val="solid"/>
                      <a:round/>
                      <a:headEnd type="none" w="med" len="med"/>
                      <a:tailEnd type="none" w="med" len="med"/>
                    </a:lnT>
                    <a:lnB w="9525" cap="flat" cmpd="sng" algn="ctr">
                      <a:solidFill>
                        <a:srgbClr val="C9D8CD"/>
                      </a:solidFill>
                      <a:prstDash val="solid"/>
                      <a:round/>
                      <a:headEnd type="none" w="med" len="med"/>
                      <a:tailEnd type="none" w="med" len="med"/>
                    </a:lnB>
                    <a:solidFill>
                      <a:srgbClr val="FFFFFF"/>
                    </a:solidFill>
                  </a:tcPr>
                </a:tc>
                <a:tc>
                  <a:txBody>
                    <a:bodyPr/>
                    <a:lstStyle/>
                    <a:p>
                      <a:pPr marL="0" indent="0">
                        <a:buNone/>
                      </a:pPr>
                      <a:r>
                        <a:rPr lang="en-US" sz="1400" b="1" dirty="0">
                          <a:solidFill>
                            <a:srgbClr val="1F4D3A"/>
                          </a:solidFill>
                        </a:rPr>
                        <a:t>Ours</a:t>
                      </a:r>
                      <a:endParaRPr lang="en-US" sz="1400" dirty="0"/>
                    </a:p>
                  </a:txBody>
                  <a:tcPr anchor="ctr">
                    <a:lnL w="9525" cap="flat" cmpd="sng" algn="ctr">
                      <a:solidFill>
                        <a:srgbClr val="C9D8CD"/>
                      </a:solidFill>
                      <a:prstDash val="solid"/>
                      <a:round/>
                      <a:headEnd type="none" w="med" len="med"/>
                      <a:tailEnd type="none" w="med" len="med"/>
                    </a:lnL>
                    <a:lnR w="9525" cap="flat" cmpd="sng" algn="ctr">
                      <a:solidFill>
                        <a:srgbClr val="C9D8CD"/>
                      </a:solidFill>
                      <a:prstDash val="solid"/>
                      <a:round/>
                      <a:headEnd type="none" w="med" len="med"/>
                      <a:tailEnd type="none" w="med" len="med"/>
                    </a:lnR>
                    <a:lnT w="9525" cap="flat" cmpd="sng" algn="ctr">
                      <a:solidFill>
                        <a:srgbClr val="C9D8CD"/>
                      </a:solidFill>
                      <a:prstDash val="solid"/>
                      <a:round/>
                      <a:headEnd type="none" w="med" len="med"/>
                      <a:tailEnd type="none" w="med" len="med"/>
                    </a:lnT>
                    <a:lnB w="9525" cap="flat" cmpd="sng" algn="ctr">
                      <a:solidFill>
                        <a:srgbClr val="C9D8CD"/>
                      </a:solidFill>
                      <a:prstDash val="solid"/>
                      <a:round/>
                      <a:headEnd type="none" w="med" len="med"/>
                      <a:tailEnd type="none" w="med" len="med"/>
                    </a:lnB>
                    <a:solidFill>
                      <a:srgbClr val="FFFFFF"/>
                    </a:solidFill>
                  </a:tcPr>
                </a:tc>
                <a:tc>
                  <a:txBody>
                    <a:bodyPr/>
                    <a:lstStyle/>
                    <a:p>
                      <a:pPr marL="0" indent="0">
                        <a:buNone/>
                      </a:pPr>
                      <a:r>
                        <a:rPr lang="en-US" sz="1400" b="1" dirty="0">
                          <a:solidFill>
                            <a:srgbClr val="1F4D3A"/>
                          </a:solidFill>
                        </a:rPr>
                        <a:t>Ontop</a:t>
                      </a:r>
                      <a:endParaRPr lang="en-US" sz="1400" dirty="0"/>
                    </a:p>
                  </a:txBody>
                  <a:tcPr anchor="ctr">
                    <a:lnL w="9525" cap="flat" cmpd="sng" algn="ctr">
                      <a:solidFill>
                        <a:srgbClr val="C9D8CD"/>
                      </a:solidFill>
                      <a:prstDash val="solid"/>
                      <a:round/>
                      <a:headEnd type="none" w="med" len="med"/>
                      <a:tailEnd type="none" w="med" len="med"/>
                    </a:lnL>
                    <a:lnR w="9525" cap="flat" cmpd="sng" algn="ctr">
                      <a:solidFill>
                        <a:srgbClr val="C9D8CD"/>
                      </a:solidFill>
                      <a:prstDash val="solid"/>
                      <a:round/>
                      <a:headEnd type="none" w="med" len="med"/>
                      <a:tailEnd type="none" w="med" len="med"/>
                    </a:lnR>
                    <a:lnT w="9525" cap="flat" cmpd="sng" algn="ctr">
                      <a:solidFill>
                        <a:srgbClr val="C9D8CD"/>
                      </a:solidFill>
                      <a:prstDash val="solid"/>
                      <a:round/>
                      <a:headEnd type="none" w="med" len="med"/>
                      <a:tailEnd type="none" w="med" len="med"/>
                    </a:lnT>
                    <a:lnB w="9525" cap="flat" cmpd="sng" algn="ctr">
                      <a:solidFill>
                        <a:srgbClr val="C9D8CD"/>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84048">
                <a:tc>
                  <a:txBody>
                    <a:bodyPr/>
                    <a:lstStyle/>
                    <a:p>
                      <a:pPr marL="0" indent="0">
                        <a:buNone/>
                      </a:pPr>
                      <a:r>
                        <a:rPr lang="en-US" sz="1400" dirty="0">
                          <a:solidFill>
                            <a:srgbClr val="1B2A22"/>
                          </a:solidFill>
                        </a:rPr>
                        <a:t>Food count</a:t>
                      </a:r>
                      <a:endParaRPr lang="en-US" sz="1400" dirty="0"/>
                    </a:p>
                  </a:txBody>
                  <a:tcPr anchor="ctr">
                    <a:lnL w="9525" cap="flat" cmpd="sng" algn="ctr">
                      <a:solidFill>
                        <a:srgbClr val="C9D8CD"/>
                      </a:solidFill>
                      <a:prstDash val="solid"/>
                      <a:round/>
                      <a:headEnd type="none" w="med" len="med"/>
                      <a:tailEnd type="none" w="med" len="med"/>
                    </a:lnL>
                    <a:lnR w="9525" cap="flat" cmpd="sng" algn="ctr">
                      <a:solidFill>
                        <a:srgbClr val="C9D8CD"/>
                      </a:solidFill>
                      <a:prstDash val="solid"/>
                      <a:round/>
                      <a:headEnd type="none" w="med" len="med"/>
                      <a:tailEnd type="none" w="med" len="med"/>
                    </a:lnR>
                    <a:lnT w="9525" cap="flat" cmpd="sng" algn="ctr">
                      <a:solidFill>
                        <a:srgbClr val="C9D8CD"/>
                      </a:solidFill>
                      <a:prstDash val="solid"/>
                      <a:round/>
                      <a:headEnd type="none" w="med" len="med"/>
                      <a:tailEnd type="none" w="med" len="med"/>
                    </a:lnT>
                    <a:lnB w="9525" cap="flat" cmpd="sng" algn="ctr">
                      <a:solidFill>
                        <a:srgbClr val="C9D8CD"/>
                      </a:solidFill>
                      <a:prstDash val="solid"/>
                      <a:round/>
                      <a:headEnd type="none" w="med" len="med"/>
                      <a:tailEnd type="none" w="med" len="med"/>
                    </a:lnB>
                  </a:tcPr>
                </a:tc>
                <a:tc>
                  <a:txBody>
                    <a:bodyPr/>
                    <a:lstStyle/>
                    <a:p>
                      <a:pPr marL="0" indent="0">
                        <a:buNone/>
                      </a:pPr>
                      <a:r>
                        <a:rPr lang="en-US" sz="1400" dirty="0">
                          <a:solidFill>
                            <a:srgbClr val="1B2A22"/>
                          </a:solidFill>
                        </a:rPr>
                        <a:t>358</a:t>
                      </a:r>
                      <a:endParaRPr lang="en-US" sz="1400" dirty="0"/>
                    </a:p>
                  </a:txBody>
                  <a:tcPr anchor="ctr">
                    <a:lnL w="9525" cap="flat" cmpd="sng" algn="ctr">
                      <a:solidFill>
                        <a:srgbClr val="C9D8CD"/>
                      </a:solidFill>
                      <a:prstDash val="solid"/>
                      <a:round/>
                      <a:headEnd type="none" w="med" len="med"/>
                      <a:tailEnd type="none" w="med" len="med"/>
                    </a:lnL>
                    <a:lnR w="9525" cap="flat" cmpd="sng" algn="ctr">
                      <a:solidFill>
                        <a:srgbClr val="C9D8CD"/>
                      </a:solidFill>
                      <a:prstDash val="solid"/>
                      <a:round/>
                      <a:headEnd type="none" w="med" len="med"/>
                      <a:tailEnd type="none" w="med" len="med"/>
                    </a:lnR>
                    <a:lnT w="9525" cap="flat" cmpd="sng" algn="ctr">
                      <a:solidFill>
                        <a:srgbClr val="C9D8CD"/>
                      </a:solidFill>
                      <a:prstDash val="solid"/>
                      <a:round/>
                      <a:headEnd type="none" w="med" len="med"/>
                      <a:tailEnd type="none" w="med" len="med"/>
                    </a:lnT>
                    <a:lnB w="9525" cap="flat" cmpd="sng" algn="ctr">
                      <a:solidFill>
                        <a:srgbClr val="C9D8CD"/>
                      </a:solidFill>
                      <a:prstDash val="solid"/>
                      <a:round/>
                      <a:headEnd type="none" w="med" len="med"/>
                      <a:tailEnd type="none" w="med" len="med"/>
                    </a:lnB>
                  </a:tcPr>
                </a:tc>
                <a:tc>
                  <a:txBody>
                    <a:bodyPr/>
                    <a:lstStyle/>
                    <a:p>
                      <a:pPr marL="0" indent="0">
                        <a:buNone/>
                      </a:pPr>
                      <a:r>
                        <a:rPr lang="en-US" sz="1400" dirty="0">
                          <a:solidFill>
                            <a:srgbClr val="1B2A22"/>
                          </a:solidFill>
                        </a:rPr>
                        <a:t>358</a:t>
                      </a:r>
                      <a:endParaRPr lang="en-US" sz="1400" dirty="0"/>
                    </a:p>
                  </a:txBody>
                  <a:tcPr anchor="ctr">
                    <a:lnL w="9525" cap="flat" cmpd="sng" algn="ctr">
                      <a:solidFill>
                        <a:srgbClr val="C9D8CD"/>
                      </a:solidFill>
                      <a:prstDash val="solid"/>
                      <a:round/>
                      <a:headEnd type="none" w="med" len="med"/>
                      <a:tailEnd type="none" w="med" len="med"/>
                    </a:lnL>
                    <a:lnR w="9525" cap="flat" cmpd="sng" algn="ctr">
                      <a:solidFill>
                        <a:srgbClr val="C9D8CD"/>
                      </a:solidFill>
                      <a:prstDash val="solid"/>
                      <a:round/>
                      <a:headEnd type="none" w="med" len="med"/>
                      <a:tailEnd type="none" w="med" len="med"/>
                    </a:lnR>
                    <a:lnT w="9525" cap="flat" cmpd="sng" algn="ctr">
                      <a:solidFill>
                        <a:srgbClr val="C9D8CD"/>
                      </a:solidFill>
                      <a:prstDash val="solid"/>
                      <a:round/>
                      <a:headEnd type="none" w="med" len="med"/>
                      <a:tailEnd type="none" w="med" len="med"/>
                    </a:lnT>
                    <a:lnB w="9525" cap="flat" cmpd="sng" algn="ctr">
                      <a:solidFill>
                        <a:srgbClr val="C9D8CD"/>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400" dirty="0">
                          <a:solidFill>
                            <a:srgbClr val="1B2A22"/>
                          </a:solidFill>
                        </a:rPr>
                        <a:t>Time</a:t>
                      </a:r>
                      <a:endParaRPr lang="en-US" sz="1400" dirty="0"/>
                    </a:p>
                  </a:txBody>
                  <a:tcPr anchor="ctr">
                    <a:lnL w="9525" cap="flat" cmpd="sng" algn="ctr">
                      <a:solidFill>
                        <a:srgbClr val="C9D8CD"/>
                      </a:solidFill>
                      <a:prstDash val="solid"/>
                      <a:round/>
                      <a:headEnd type="none" w="med" len="med"/>
                      <a:tailEnd type="none" w="med" len="med"/>
                    </a:lnL>
                    <a:lnR w="9525" cap="flat" cmpd="sng" algn="ctr">
                      <a:solidFill>
                        <a:srgbClr val="C9D8CD"/>
                      </a:solidFill>
                      <a:prstDash val="solid"/>
                      <a:round/>
                      <a:headEnd type="none" w="med" len="med"/>
                      <a:tailEnd type="none" w="med" len="med"/>
                    </a:lnR>
                    <a:lnT w="9525" cap="flat" cmpd="sng" algn="ctr">
                      <a:solidFill>
                        <a:srgbClr val="C9D8CD"/>
                      </a:solidFill>
                      <a:prstDash val="solid"/>
                      <a:round/>
                      <a:headEnd type="none" w="med" len="med"/>
                      <a:tailEnd type="none" w="med" len="med"/>
                    </a:lnT>
                    <a:lnB w="9525" cap="flat" cmpd="sng" algn="ctr">
                      <a:solidFill>
                        <a:srgbClr val="C9D8CD"/>
                      </a:solidFill>
                      <a:prstDash val="solid"/>
                      <a:round/>
                      <a:headEnd type="none" w="med" len="med"/>
                      <a:tailEnd type="none" w="med" len="med"/>
                    </a:lnB>
                  </a:tcPr>
                </a:tc>
                <a:tc>
                  <a:txBody>
                    <a:bodyPr/>
                    <a:lstStyle/>
                    <a:p>
                      <a:pPr marL="0" indent="0">
                        <a:buNone/>
                      </a:pPr>
                      <a:r>
                        <a:rPr lang="en-US" sz="1400" dirty="0">
                          <a:solidFill>
                            <a:srgbClr val="1B2A22"/>
                          </a:solidFill>
                        </a:rPr>
                        <a:t>0.006 s</a:t>
                      </a:r>
                      <a:endParaRPr lang="en-US" sz="1400" dirty="0"/>
                    </a:p>
                  </a:txBody>
                  <a:tcPr anchor="ctr">
                    <a:lnL w="9525" cap="flat" cmpd="sng" algn="ctr">
                      <a:solidFill>
                        <a:srgbClr val="C9D8CD"/>
                      </a:solidFill>
                      <a:prstDash val="solid"/>
                      <a:round/>
                      <a:headEnd type="none" w="med" len="med"/>
                      <a:tailEnd type="none" w="med" len="med"/>
                    </a:lnL>
                    <a:lnR w="9525" cap="flat" cmpd="sng" algn="ctr">
                      <a:solidFill>
                        <a:srgbClr val="C9D8CD"/>
                      </a:solidFill>
                      <a:prstDash val="solid"/>
                      <a:round/>
                      <a:headEnd type="none" w="med" len="med"/>
                      <a:tailEnd type="none" w="med" len="med"/>
                    </a:lnR>
                    <a:lnT w="9525" cap="flat" cmpd="sng" algn="ctr">
                      <a:solidFill>
                        <a:srgbClr val="C9D8CD"/>
                      </a:solidFill>
                      <a:prstDash val="solid"/>
                      <a:round/>
                      <a:headEnd type="none" w="med" len="med"/>
                      <a:tailEnd type="none" w="med" len="med"/>
                    </a:lnT>
                    <a:lnB w="9525" cap="flat" cmpd="sng" algn="ctr">
                      <a:solidFill>
                        <a:srgbClr val="C9D8CD"/>
                      </a:solidFill>
                      <a:prstDash val="solid"/>
                      <a:round/>
                      <a:headEnd type="none" w="med" len="med"/>
                      <a:tailEnd type="none" w="med" len="med"/>
                    </a:lnB>
                  </a:tcPr>
                </a:tc>
                <a:tc>
                  <a:txBody>
                    <a:bodyPr/>
                    <a:lstStyle/>
                    <a:p>
                      <a:pPr marL="0" indent="0">
                        <a:buNone/>
                      </a:pPr>
                      <a:r>
                        <a:rPr lang="en-US" sz="1400" dirty="0">
                          <a:solidFill>
                            <a:srgbClr val="1B2A22"/>
                          </a:solidFill>
                        </a:rPr>
                        <a:t>3.13 s*</a:t>
                      </a:r>
                      <a:endParaRPr lang="en-US" sz="1400" dirty="0"/>
                    </a:p>
                  </a:txBody>
                  <a:tcPr anchor="ctr">
                    <a:lnL w="9525" cap="flat" cmpd="sng" algn="ctr">
                      <a:solidFill>
                        <a:srgbClr val="C9D8CD"/>
                      </a:solidFill>
                      <a:prstDash val="solid"/>
                      <a:round/>
                      <a:headEnd type="none" w="med" len="med"/>
                      <a:tailEnd type="none" w="med" len="med"/>
                    </a:lnL>
                    <a:lnR w="9525" cap="flat" cmpd="sng" algn="ctr">
                      <a:solidFill>
                        <a:srgbClr val="C9D8CD"/>
                      </a:solidFill>
                      <a:prstDash val="solid"/>
                      <a:round/>
                      <a:headEnd type="none" w="med" len="med"/>
                      <a:tailEnd type="none" w="med" len="med"/>
                    </a:lnR>
                    <a:lnT w="9525" cap="flat" cmpd="sng" algn="ctr">
                      <a:solidFill>
                        <a:srgbClr val="C9D8CD"/>
                      </a:solidFill>
                      <a:prstDash val="solid"/>
                      <a:round/>
                      <a:headEnd type="none" w="med" len="med"/>
                      <a:tailEnd type="none" w="med" len="med"/>
                    </a:lnT>
                    <a:lnB w="9525" cap="flat" cmpd="sng" algn="ctr">
                      <a:solidFill>
                        <a:srgbClr val="C9D8CD"/>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400" dirty="0">
                          <a:solidFill>
                            <a:srgbClr val="1B2A22"/>
                          </a:solidFill>
                        </a:rPr>
                        <a:t>Answers CQ6</a:t>
                      </a:r>
                      <a:endParaRPr lang="en-US" sz="1400" dirty="0"/>
                    </a:p>
                  </a:txBody>
                  <a:tcPr anchor="ctr">
                    <a:lnL w="9525" cap="flat" cmpd="sng" algn="ctr">
                      <a:solidFill>
                        <a:srgbClr val="C9D8CD"/>
                      </a:solidFill>
                      <a:prstDash val="solid"/>
                      <a:round/>
                      <a:headEnd type="none" w="med" len="med"/>
                      <a:tailEnd type="none" w="med" len="med"/>
                    </a:lnL>
                    <a:lnR w="9525" cap="flat" cmpd="sng" algn="ctr">
                      <a:solidFill>
                        <a:srgbClr val="C9D8CD"/>
                      </a:solidFill>
                      <a:prstDash val="solid"/>
                      <a:round/>
                      <a:headEnd type="none" w="med" len="med"/>
                      <a:tailEnd type="none" w="med" len="med"/>
                    </a:lnR>
                    <a:lnT w="9525" cap="flat" cmpd="sng" algn="ctr">
                      <a:solidFill>
                        <a:srgbClr val="C9D8CD"/>
                      </a:solidFill>
                      <a:prstDash val="solid"/>
                      <a:round/>
                      <a:headEnd type="none" w="med" len="med"/>
                      <a:tailEnd type="none" w="med" len="med"/>
                    </a:lnT>
                    <a:lnB w="9525" cap="flat" cmpd="sng" algn="ctr">
                      <a:solidFill>
                        <a:srgbClr val="C9D8CD"/>
                      </a:solidFill>
                      <a:prstDash val="solid"/>
                      <a:round/>
                      <a:headEnd type="none" w="med" len="med"/>
                      <a:tailEnd type="none" w="med" len="med"/>
                    </a:lnB>
                  </a:tcPr>
                </a:tc>
                <a:tc>
                  <a:txBody>
                    <a:bodyPr/>
                    <a:lstStyle/>
                    <a:p>
                      <a:pPr marL="0" indent="0">
                        <a:buNone/>
                      </a:pPr>
                      <a:r>
                        <a:rPr lang="en-US" sz="1400" dirty="0">
                          <a:solidFill>
                            <a:srgbClr val="1B2A22"/>
                          </a:solidFill>
                        </a:rPr>
                        <a:t>yes</a:t>
                      </a:r>
                      <a:endParaRPr lang="en-US" sz="1400" dirty="0"/>
                    </a:p>
                  </a:txBody>
                  <a:tcPr anchor="ctr">
                    <a:lnL w="9525" cap="flat" cmpd="sng" algn="ctr">
                      <a:solidFill>
                        <a:srgbClr val="C9D8CD"/>
                      </a:solidFill>
                      <a:prstDash val="solid"/>
                      <a:round/>
                      <a:headEnd type="none" w="med" len="med"/>
                      <a:tailEnd type="none" w="med" len="med"/>
                    </a:lnL>
                    <a:lnR w="9525" cap="flat" cmpd="sng" algn="ctr">
                      <a:solidFill>
                        <a:srgbClr val="C9D8CD"/>
                      </a:solidFill>
                      <a:prstDash val="solid"/>
                      <a:round/>
                      <a:headEnd type="none" w="med" len="med"/>
                      <a:tailEnd type="none" w="med" len="med"/>
                    </a:lnR>
                    <a:lnT w="9525" cap="flat" cmpd="sng" algn="ctr">
                      <a:solidFill>
                        <a:srgbClr val="C9D8CD"/>
                      </a:solidFill>
                      <a:prstDash val="solid"/>
                      <a:round/>
                      <a:headEnd type="none" w="med" len="med"/>
                      <a:tailEnd type="none" w="med" len="med"/>
                    </a:lnT>
                    <a:lnB w="9525" cap="flat" cmpd="sng" algn="ctr">
                      <a:solidFill>
                        <a:srgbClr val="C9D8CD"/>
                      </a:solidFill>
                      <a:prstDash val="solid"/>
                      <a:round/>
                      <a:headEnd type="none" w="med" len="med"/>
                      <a:tailEnd type="none" w="med" len="med"/>
                    </a:lnB>
                  </a:tcPr>
                </a:tc>
                <a:tc>
                  <a:txBody>
                    <a:bodyPr/>
                    <a:lstStyle/>
                    <a:p>
                      <a:pPr marL="0" indent="0">
                        <a:buNone/>
                      </a:pPr>
                      <a:r>
                        <a:rPr lang="en-US" sz="1400" dirty="0">
                          <a:solidFill>
                            <a:srgbClr val="1B2A22"/>
                          </a:solidFill>
                        </a:rPr>
                        <a:t>no</a:t>
                      </a:r>
                      <a:endParaRPr lang="en-US" sz="1400" dirty="0"/>
                    </a:p>
                  </a:txBody>
                  <a:tcPr anchor="ctr">
                    <a:lnL w="9525" cap="flat" cmpd="sng" algn="ctr">
                      <a:solidFill>
                        <a:srgbClr val="C9D8CD"/>
                      </a:solidFill>
                      <a:prstDash val="solid"/>
                      <a:round/>
                      <a:headEnd type="none" w="med" len="med"/>
                      <a:tailEnd type="none" w="med" len="med"/>
                    </a:lnL>
                    <a:lnR w="9525" cap="flat" cmpd="sng" algn="ctr">
                      <a:solidFill>
                        <a:srgbClr val="C9D8CD"/>
                      </a:solidFill>
                      <a:prstDash val="solid"/>
                      <a:round/>
                      <a:headEnd type="none" w="med" len="med"/>
                      <a:tailEnd type="none" w="med" len="med"/>
                    </a:lnR>
                    <a:lnT w="9525" cap="flat" cmpd="sng" algn="ctr">
                      <a:solidFill>
                        <a:srgbClr val="C9D8CD"/>
                      </a:solidFill>
                      <a:prstDash val="solid"/>
                      <a:round/>
                      <a:headEnd type="none" w="med" len="med"/>
                      <a:tailEnd type="none" w="med" len="med"/>
                    </a:lnT>
                    <a:lnB w="9525" cap="flat" cmpd="sng" algn="ctr">
                      <a:solidFill>
                        <a:srgbClr val="C9D8CD"/>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8" name="a4_tn"/>
          <p:cNvSpPr txBox="1"/>
          <p:nvPr/>
        </p:nvSpPr>
        <p:spPr>
          <a:xfrm>
            <a:off x="4553712" y="4160520"/>
            <a:ext cx="3108960" cy="365760"/>
          </a:xfrm>
          <a:prstGeom prst="rect">
            <a:avLst/>
          </a:prstGeom>
          <a:noFill/>
          <a:ln/>
        </p:spPr>
        <p:txBody>
          <a:bodyPr wrap="square" lIns="0" tIns="0" rIns="0" bIns="0" rtlCol="0" anchor="t"/>
          <a:lstStyle/>
          <a:p>
            <a:pPr marL="0" indent="0">
              <a:buNone/>
            </a:pPr>
            <a:r>
              <a:rPr lang="en-US" sz="1300" dirty="0">
                <a:solidFill>
                  <a:schemeClr val="accent5"/>
                </a:solidFill>
              </a:rPr>
              <a:t>* includes the Java start</a:t>
            </a:r>
            <a:endParaRPr lang="en-US" sz="1300" dirty="0"/>
          </a:p>
        </p:txBody>
      </p:sp>
      <p:sp>
        <p:nvSpPr>
          <p:cNvPr id="19" name="a5_b2_c"/>
          <p:cNvSpPr/>
          <p:nvPr/>
        </p:nvSpPr>
        <p:spPr>
          <a:xfrm>
            <a:off x="8330184" y="1773936"/>
            <a:ext cx="548640" cy="548640"/>
          </a:xfrm>
          <a:prstGeom prst="ellipse">
            <a:avLst/>
          </a:prstGeom>
          <a:solidFill>
            <a:schemeClr val="accent3"/>
          </a:solidFill>
          <a:ln/>
          <a:effectLst>
            <a:outerShdw blurRad="101600" dist="25400" dir="5400000" algn="bl" rotWithShape="0">
              <a:srgbClr val="1B2A22">
                <a:alpha val="18000"/>
              </a:srgbClr>
            </a:outerShdw>
          </a:effectLst>
        </p:spPr>
        <p:txBody>
          <a:bodyPr/>
          <a:lstStyle/>
          <a:p>
            <a:endParaRPr lang="en-US"/>
          </a:p>
        </p:txBody>
      </p:sp>
      <p:pic>
        <p:nvPicPr>
          <p:cNvPr id="20" name="a5_b2_i" descr="preencoded.png"/>
          <p:cNvPicPr>
            <a:picLocks noChangeAspect="1"/>
          </p:cNvPicPr>
          <p:nvPr/>
        </p:nvPicPr>
        <p:blipFill>
          <a:blip r:embed="rId5"/>
          <a:stretch>
            <a:fillRect/>
          </a:stretch>
        </p:blipFill>
        <p:spPr>
          <a:xfrm>
            <a:off x="8467344" y="1911096"/>
            <a:ext cx="274320" cy="274320"/>
          </a:xfrm>
          <a:prstGeom prst="rect">
            <a:avLst/>
          </a:prstGeom>
        </p:spPr>
      </p:pic>
      <p:sp>
        <p:nvSpPr>
          <p:cNvPr id="21" name="a5_h2"/>
          <p:cNvSpPr txBox="1"/>
          <p:nvPr/>
        </p:nvSpPr>
        <p:spPr>
          <a:xfrm>
            <a:off x="8997696" y="1737360"/>
            <a:ext cx="2560320" cy="621792"/>
          </a:xfrm>
          <a:prstGeom prst="rect">
            <a:avLst/>
          </a:prstGeom>
          <a:noFill/>
          <a:ln/>
        </p:spPr>
        <p:txBody>
          <a:bodyPr wrap="square" lIns="0" tIns="0" rIns="0" bIns="0" rtlCol="0" anchor="ctr"/>
          <a:lstStyle/>
          <a:p>
            <a:pPr marL="0" indent="0">
              <a:buNone/>
            </a:pPr>
            <a:r>
              <a:rPr lang="en-US" sz="1600" b="1" dirty="0">
                <a:solidFill>
                  <a:schemeClr val="tx2"/>
                </a:solidFill>
              </a:rPr>
              <a:t>Entity resolution</a:t>
            </a:r>
            <a:endParaRPr lang="en-US" sz="1600" dirty="0"/>
          </a:p>
        </p:txBody>
      </p:sp>
      <p:sp>
        <p:nvSpPr>
          <p:cNvPr id="22" name="a6_p_n"/>
          <p:cNvSpPr txBox="1"/>
          <p:nvPr/>
        </p:nvSpPr>
        <p:spPr>
          <a:xfrm>
            <a:off x="8330184" y="2514600"/>
            <a:ext cx="1463040" cy="594360"/>
          </a:xfrm>
          <a:prstGeom prst="rect">
            <a:avLst/>
          </a:prstGeom>
          <a:noFill/>
          <a:ln/>
        </p:spPr>
        <p:txBody>
          <a:bodyPr wrap="square" lIns="0" tIns="0" rIns="0" bIns="0" rtlCol="0" anchor="b"/>
          <a:lstStyle/>
          <a:p>
            <a:pPr marL="0" indent="0">
              <a:buNone/>
            </a:pPr>
            <a:r>
              <a:rPr lang="en-US" sz="3400" b="1" dirty="0">
                <a:solidFill>
                  <a:schemeClr val="accent1"/>
                </a:solidFill>
              </a:rPr>
              <a:t>0.684</a:t>
            </a:r>
            <a:endParaRPr lang="en-US" sz="3400" dirty="0"/>
          </a:p>
        </p:txBody>
      </p:sp>
      <p:sp>
        <p:nvSpPr>
          <p:cNvPr id="23" name="a6_p_l"/>
          <p:cNvSpPr txBox="1"/>
          <p:nvPr/>
        </p:nvSpPr>
        <p:spPr>
          <a:xfrm>
            <a:off x="8330184" y="3154680"/>
            <a:ext cx="1463040" cy="411480"/>
          </a:xfrm>
          <a:prstGeom prst="rect">
            <a:avLst/>
          </a:prstGeom>
          <a:noFill/>
          <a:ln/>
        </p:spPr>
        <p:txBody>
          <a:bodyPr wrap="square" lIns="0" tIns="0" rIns="0" bIns="0" rtlCol="0" anchor="t"/>
          <a:lstStyle/>
          <a:p>
            <a:pPr marL="0" indent="0">
              <a:buNone/>
            </a:pPr>
            <a:r>
              <a:rPr lang="en-US" sz="1400" dirty="0">
                <a:solidFill>
                  <a:schemeClr val="accent5"/>
                </a:solidFill>
              </a:rPr>
              <a:t>precision</a:t>
            </a:r>
            <a:endParaRPr lang="en-US" sz="1400" dirty="0"/>
          </a:p>
        </p:txBody>
      </p:sp>
      <p:sp>
        <p:nvSpPr>
          <p:cNvPr id="24" name="a6_r_n"/>
          <p:cNvSpPr txBox="1"/>
          <p:nvPr/>
        </p:nvSpPr>
        <p:spPr>
          <a:xfrm>
            <a:off x="9884664" y="2514600"/>
            <a:ext cx="1463040" cy="594360"/>
          </a:xfrm>
          <a:prstGeom prst="rect">
            <a:avLst/>
          </a:prstGeom>
          <a:noFill/>
          <a:ln/>
        </p:spPr>
        <p:txBody>
          <a:bodyPr wrap="square" lIns="0" tIns="0" rIns="0" bIns="0" rtlCol="0" anchor="b"/>
          <a:lstStyle/>
          <a:p>
            <a:pPr marL="0" indent="0">
              <a:buNone/>
            </a:pPr>
            <a:r>
              <a:rPr lang="en-US" sz="3400" b="1" dirty="0">
                <a:solidFill>
                  <a:schemeClr val="accent2"/>
                </a:solidFill>
              </a:rPr>
              <a:t>0.406</a:t>
            </a:r>
            <a:endParaRPr lang="en-US" sz="3400" dirty="0"/>
          </a:p>
        </p:txBody>
      </p:sp>
      <p:sp>
        <p:nvSpPr>
          <p:cNvPr id="25" name="a6_r_l"/>
          <p:cNvSpPr txBox="1"/>
          <p:nvPr/>
        </p:nvSpPr>
        <p:spPr>
          <a:xfrm>
            <a:off x="9884664" y="3154680"/>
            <a:ext cx="1463040" cy="411480"/>
          </a:xfrm>
          <a:prstGeom prst="rect">
            <a:avLst/>
          </a:prstGeom>
          <a:noFill/>
          <a:ln/>
        </p:spPr>
        <p:txBody>
          <a:bodyPr wrap="square" lIns="0" tIns="0" rIns="0" bIns="0" rtlCol="0" anchor="t"/>
          <a:lstStyle/>
          <a:p>
            <a:pPr marL="0" indent="0">
              <a:buNone/>
            </a:pPr>
            <a:r>
              <a:rPr lang="en-US" sz="1400" dirty="0">
                <a:solidFill>
                  <a:schemeClr val="accent5"/>
                </a:solidFill>
              </a:rPr>
              <a:t>recall</a:t>
            </a:r>
            <a:endParaRPr lang="en-US" sz="1400" dirty="0"/>
          </a:p>
        </p:txBody>
      </p:sp>
      <p:sp>
        <p:nvSpPr>
          <p:cNvPr id="26" name="a6_rt"/>
          <p:cNvSpPr txBox="1"/>
          <p:nvPr/>
        </p:nvSpPr>
        <p:spPr>
          <a:xfrm>
            <a:off x="8330184" y="3703320"/>
            <a:ext cx="3108960" cy="731520"/>
          </a:xfrm>
          <a:prstGeom prst="rect">
            <a:avLst/>
          </a:prstGeom>
          <a:noFill/>
          <a:ln/>
        </p:spPr>
        <p:txBody>
          <a:bodyPr wrap="square" lIns="0" tIns="0" rIns="0" bIns="0" rtlCol="0" anchor="t"/>
          <a:lstStyle/>
          <a:p>
            <a:pPr marL="0" indent="0">
              <a:buNone/>
            </a:pPr>
            <a:r>
              <a:rPr lang="en-US" sz="1400" dirty="0">
                <a:solidFill>
                  <a:schemeClr val="tx2"/>
                </a:solidFill>
              </a:rPr>
              <a:t>40 SR Legacy (2018) records vs 358 Foundation Foods (2024)</a:t>
            </a:r>
            <a:endParaRPr lang="en-US" sz="1400" dirty="0"/>
          </a:p>
        </p:txBody>
      </p:sp>
      <p:pic>
        <p:nvPicPr>
          <p:cNvPr id="27" name="a7_desc_bg" descr="preencoded.png"/>
          <p:cNvPicPr>
            <a:picLocks noChangeAspect="1"/>
          </p:cNvPicPr>
          <p:nvPr/>
        </p:nvPicPr>
        <p:blipFill>
          <a:blip r:embed="rId6"/>
          <a:stretch>
            <a:fillRect/>
          </a:stretch>
        </p:blipFill>
        <p:spPr>
          <a:xfrm>
            <a:off x="548640" y="5029200"/>
            <a:ext cx="11091672" cy="1261872"/>
          </a:xfrm>
          <a:prstGeom prst="rect">
            <a:avLst/>
          </a:prstGeom>
          <a:effectLst>
            <a:outerShdw blurRad="152400" dist="25400" dir="5400000" algn="bl" rotWithShape="0">
              <a:srgbClr val="1B2A22">
                <a:alpha val="25000"/>
              </a:srgbClr>
            </a:outerShdw>
          </a:effectLst>
        </p:spPr>
      </p:pic>
      <p:sp>
        <p:nvSpPr>
          <p:cNvPr id="28" name="a7_desc_tx"/>
          <p:cNvSpPr txBox="1"/>
          <p:nvPr/>
        </p:nvSpPr>
        <p:spPr>
          <a:xfrm>
            <a:off x="914400" y="5029200"/>
            <a:ext cx="10360152" cy="1261872"/>
          </a:xfrm>
          <a:prstGeom prst="rect">
            <a:avLst/>
          </a:prstGeom>
          <a:noFill/>
          <a:ln/>
        </p:spPr>
        <p:txBody>
          <a:bodyPr wrap="square" lIns="0" tIns="0" rIns="0" bIns="0" rtlCol="0" anchor="ctr"/>
          <a:lstStyle/>
          <a:p>
            <a:pPr marL="0" indent="0">
              <a:lnSpc>
                <a:spcPct val="100000"/>
              </a:lnSpc>
              <a:buNone/>
            </a:pPr>
            <a:r>
              <a:rPr lang="en-US" sz="1400" dirty="0">
                <a:solidFill>
                  <a:schemeClr val="bg1"/>
                </a:solidFill>
              </a:rPr>
              <a:t>One R2RML mapping turns the four tables into </a:t>
            </a:r>
            <a:r>
              <a:rPr lang="en-US" sz="1400" b="1" dirty="0">
                <a:solidFill>
                  <a:schemeClr val="accent6"/>
                </a:solidFill>
              </a:rPr>
              <a:t>9,359</a:t>
            </a:r>
            <a:r>
              <a:rPr lang="en-US" sz="1400" dirty="0">
                <a:solidFill>
                  <a:schemeClr val="bg1"/>
                </a:solidFill>
              </a:rPr>
              <a:t> triples, with IRIs built from kind, source and key. We served the same data virtually with Ontop: both count </a:t>
            </a:r>
            <a:r>
              <a:rPr lang="en-US" sz="1400" b="1" dirty="0">
                <a:solidFill>
                  <a:schemeClr val="accent6"/>
                </a:solidFill>
              </a:rPr>
              <a:t>358</a:t>
            </a:r>
            <a:r>
              <a:rPr lang="en-US" sz="1400" dirty="0">
                <a:solidFill>
                  <a:schemeClr val="bg1"/>
                </a:solidFill>
              </a:rPr>
              <a:t> foods, but we materialize, because USDA releases data only about twice a year, it is faster, and Ontop cannot use our CharacterizedFood definition. Entity resolution against the </a:t>
            </a:r>
            <a:r>
              <a:rPr lang="en-US" sz="1400" b="1" dirty="0">
                <a:solidFill>
                  <a:schemeClr val="accent6"/>
                </a:solidFill>
              </a:rPr>
              <a:t>2018</a:t>
            </a:r>
            <a:r>
              <a:rPr lang="en-US" sz="1400" dirty="0">
                <a:solidFill>
                  <a:schemeClr val="bg1"/>
                </a:solidFill>
              </a:rPr>
              <a:t> release reaches precision </a:t>
            </a:r>
            <a:r>
              <a:rPr lang="en-US" sz="1400" b="1" dirty="0">
                <a:solidFill>
                  <a:schemeClr val="accent6"/>
                </a:solidFill>
              </a:rPr>
              <a:t>0.684</a:t>
            </a:r>
            <a:r>
              <a:rPr lang="en-US" sz="1400" dirty="0">
                <a:solidFill>
                  <a:schemeClr val="bg1"/>
                </a:solidFill>
              </a:rPr>
              <a:t> and recall </a:t>
            </a:r>
            <a:r>
              <a:rPr lang="en-US" sz="1400" b="1" dirty="0">
                <a:solidFill>
                  <a:schemeClr val="accent6"/>
                </a:solidFill>
              </a:rPr>
              <a:t>0.406</a:t>
            </a:r>
            <a:r>
              <a:rPr lang="en-US" sz="1400" dirty="0">
                <a:solidFill>
                  <a:schemeClr val="bg1"/>
                </a:solidFill>
              </a:rPr>
              <a:t>, so we do not merge foods.</a:t>
            </a:r>
            <a:endParaRPr lang="en-US" sz="1400" dirty="0"/>
          </a:p>
        </p:txBody>
      </p:sp>
      <p:sp>
        <p:nvSpPr>
          <p:cNvPr id="29" name="Slide Number Placeholder 0"/>
          <p:cNvSpPr>
            <a:spLocks noGrp="1"/>
          </p:cNvSpPr>
          <p:nvPr>
            <p:ph type="sldNum" sz="quarter" idx="4294967295"/>
          </p:nvPr>
        </p:nvSpPr>
        <p:spPr>
          <a:xfrm>
            <a:off x="11183112"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6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6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par>
                                <p:cTn id="19" presetID="10"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childTnLst>
                          </p:cTn>
                        </p:par>
                        <p:par>
                          <p:cTn id="25" fill="hold">
                            <p:stCondLst>
                              <p:cond delay="280"/>
                            </p:stCondLst>
                            <p:childTnLst>
                              <p:par>
                                <p:cTn id="26" presetID="10" presetClass="entr" presetSubtype="0" fill="hold" grpId="0" nodeType="after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6"/>
                                        </p:tgtEl>
                                        <p:attrNameLst>
                                          <p:attrName>style.visibility</p:attrName>
                                        </p:attrNameLst>
                                      </p:cBhvr>
                                      <p:to>
                                        <p:strVal val="visible"/>
                                      </p:to>
                                    </p:set>
                                    <p:animEffect transition="in" filter="wipe(left)">
                                      <p:cBhvr>
                                        <p:cTn id="39" dur="600"/>
                                        <p:tgtEl>
                                          <p:spTgt spid="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par>
                                <p:cTn id="43" presetID="10" presetClass="entr" presetSubtype="0" fill="hold"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5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childTnLst>
                                </p:cTn>
                              </p:par>
                            </p:childTnLst>
                          </p:cTn>
                        </p:par>
                        <p:par>
                          <p:cTn id="49" fill="hold">
                            <p:stCondLst>
                              <p:cond delay="280"/>
                            </p:stCondLst>
                            <p:childTnLst>
                              <p:par>
                                <p:cTn id="50" presetID="22" presetClass="entr" presetSubtype="8"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wipe(left)">
                                      <p:cBhvr>
                                        <p:cTn id="52" dur="600"/>
                                        <p:tgtEl>
                                          <p:spTgt spid="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childTnLst>
                          </p:cTn>
                        </p:par>
                      </p:childTnLst>
                    </p:cTn>
                  </p:par>
                  <p:par>
                    <p:cTn id="56" fill="hold">
                      <p:stCondLst>
                        <p:cond delay="indefinite"/>
                      </p:stCondLst>
                      <p:childTnLst>
                        <p:par>
                          <p:cTn id="57" fill="hold">
                            <p:stCondLst>
                              <p:cond delay="0"/>
                            </p:stCondLst>
                            <p:childTnLst>
                              <p:par>
                                <p:cTn id="58" presetID="22" presetClass="entr" presetSubtype="8" fill="hold" grpId="0" nodeType="clickEffect">
                                  <p:stCondLst>
                                    <p:cond delay="0"/>
                                  </p:stCondLst>
                                  <p:childTnLst>
                                    <p:set>
                                      <p:cBhvr>
                                        <p:cTn id="59" dur="1" fill="hold">
                                          <p:stCondLst>
                                            <p:cond delay="0"/>
                                          </p:stCondLst>
                                        </p:cTn>
                                        <p:tgtEl>
                                          <p:spTgt spid="7"/>
                                        </p:tgtEl>
                                        <p:attrNameLst>
                                          <p:attrName>style.visibility</p:attrName>
                                        </p:attrNameLst>
                                      </p:cBhvr>
                                      <p:to>
                                        <p:strVal val="visible"/>
                                      </p:to>
                                    </p:set>
                                    <p:animEffect transition="in" filter="wipe(left)">
                                      <p:cBhvr>
                                        <p:cTn id="60" dur="600"/>
                                        <p:tgtEl>
                                          <p:spTgt spid="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childTnLst>
                                </p:cTn>
                              </p:par>
                              <p:par>
                                <p:cTn id="64" presetID="10" presetClass="entr" presetSubtype="0" fill="hold" nodeType="withEffect">
                                  <p:stCondLst>
                                    <p:cond delay="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500"/>
                                        <p:tgtEl>
                                          <p:spTgt spid="2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500"/>
                                        <p:tgtEl>
                                          <p:spTgt spid="21"/>
                                        </p:tgtEl>
                                      </p:cBhvr>
                                    </p:animEffect>
                                  </p:childTnLst>
                                </p:cTn>
                              </p:par>
                            </p:childTnLst>
                          </p:cTn>
                        </p:par>
                        <p:par>
                          <p:cTn id="70" fill="hold">
                            <p:stCondLst>
                              <p:cond delay="280"/>
                            </p:stCondLst>
                            <p:childTnLst>
                              <p:par>
                                <p:cTn id="71" presetID="10" presetClass="entr" presetSubtype="0" fill="hold" grpId="0" nodeType="afterEffect">
                                  <p:stCondLst>
                                    <p:cond delay="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500"/>
                                        <p:tgtEl>
                                          <p:spTgt spid="22"/>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500"/>
                                        <p:tgtEl>
                                          <p:spTgt spid="23"/>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500"/>
                                        <p:tgtEl>
                                          <p:spTgt spid="24"/>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25"/>
                                        </p:tgtEl>
                                        <p:attrNameLst>
                                          <p:attrName>style.visibility</p:attrName>
                                        </p:attrNameLst>
                                      </p:cBhvr>
                                      <p:to>
                                        <p:strVal val="visible"/>
                                      </p:to>
                                    </p:set>
                                    <p:animEffect transition="in" filter="fade">
                                      <p:cBhvr>
                                        <p:cTn id="82" dur="500"/>
                                        <p:tgtEl>
                                          <p:spTgt spid="25"/>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500"/>
                                        <p:tgtEl>
                                          <p:spTgt spid="26"/>
                                        </p:tgtEl>
                                      </p:cBhvr>
                                    </p:animEffect>
                                  </p:childTnLst>
                                </p:cTn>
                              </p:par>
                            </p:childTnLst>
                          </p:cTn>
                        </p:par>
                      </p:childTnLst>
                    </p:cTn>
                  </p:par>
                  <p:par>
                    <p:cTn id="86" fill="hold">
                      <p:stCondLst>
                        <p:cond delay="indefinite"/>
                      </p:stCondLst>
                      <p:childTnLst>
                        <p:par>
                          <p:cTn id="87" fill="hold">
                            <p:stCondLst>
                              <p:cond delay="0"/>
                            </p:stCondLst>
                            <p:childTnLst>
                              <p:par>
                                <p:cTn id="88" presetID="22" presetClass="entr" presetSubtype="8" fill="hold" nodeType="clickEffect">
                                  <p:stCondLst>
                                    <p:cond delay="0"/>
                                  </p:stCondLst>
                                  <p:childTnLst>
                                    <p:set>
                                      <p:cBhvr>
                                        <p:cTn id="89" dur="1" fill="hold">
                                          <p:stCondLst>
                                            <p:cond delay="0"/>
                                          </p:stCondLst>
                                        </p:cTn>
                                        <p:tgtEl>
                                          <p:spTgt spid="27"/>
                                        </p:tgtEl>
                                        <p:attrNameLst>
                                          <p:attrName>style.visibility</p:attrName>
                                        </p:attrNameLst>
                                      </p:cBhvr>
                                      <p:to>
                                        <p:strVal val="visible"/>
                                      </p:to>
                                    </p:set>
                                    <p:animEffect transition="in" filter="wipe(left)">
                                      <p:cBhvr>
                                        <p:cTn id="90" dur="600"/>
                                        <p:tgtEl>
                                          <p:spTgt spid="27"/>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28"/>
                                        </p:tgtEl>
                                        <p:attrNameLst>
                                          <p:attrName>style.visibility</p:attrName>
                                        </p:attrNameLst>
                                      </p:cBhvr>
                                      <p:to>
                                        <p:strVal val="visible"/>
                                      </p:to>
                                    </p:set>
                                    <p:animEffect transition="in" filter="fade">
                                      <p:cBhvr>
                                        <p:cTn id="93"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10" grpId="0" animBg="1"/>
      <p:bldP spid="11" grpId="0" animBg="1"/>
      <p:bldP spid="12" grpId="0" animBg="1"/>
      <p:bldP spid="13" grpId="0" animBg="1"/>
      <p:bldP spid="14" grpId="0" animBg="1"/>
      <p:bldP spid="16" grpId="0" animBg="1"/>
      <p:bldGraphic spid="17" grpId="0">
        <p:bldAsOne/>
      </p:bldGraphic>
      <p:bldP spid="18" grpId="0" animBg="1"/>
      <p:bldP spid="19" grpId="0" animBg="1"/>
      <p:bldP spid="21" grpId="0" animBg="1"/>
      <p:bldP spid="22" grpId="0" animBg="1"/>
      <p:bldP spid="23" grpId="0" animBg="1"/>
      <p:bldP spid="24" grpId="0" animBg="1"/>
      <p:bldP spid="25" grpId="0" animBg="1"/>
      <p:bldP spid="26" grpId="0" animBg="1"/>
      <p:bldP spid="2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47472"/>
            <a:ext cx="9052560" cy="640080"/>
          </a:xfrm>
          <a:prstGeom prst="rect">
            <a:avLst/>
          </a:prstGeom>
          <a:noFill/>
          <a:ln/>
        </p:spPr>
        <p:txBody>
          <a:bodyPr wrap="square" lIns="0" tIns="0" rIns="0" bIns="0" rtlCol="0" anchor="t"/>
          <a:lstStyle/>
          <a:p>
            <a:pPr marL="0" indent="0" algn="l">
              <a:buNone/>
            </a:pPr>
            <a:r>
              <a:rPr lang="en-US" sz="3400" b="1" dirty="0">
                <a:solidFill>
                  <a:schemeClr val="tx2"/>
                </a:solidFill>
              </a:rPr>
              <a:t>Learning over the graph</a:t>
            </a:r>
            <a:endParaRPr lang="en-US" sz="3400" dirty="0"/>
          </a:p>
        </p:txBody>
      </p:sp>
      <p:sp>
        <p:nvSpPr>
          <p:cNvPr id="3" name="Text 0"/>
          <p:cNvSpPr>
            <a:spLocks noGrp="1"/>
          </p:cNvSpPr>
          <p:nvPr>
            <p:ph type="body" idx="101" hasCustomPrompt="1"/>
          </p:nvPr>
        </p:nvSpPr>
        <p:spPr>
          <a:xfrm>
            <a:off x="548640" y="987552"/>
            <a:ext cx="9326880" cy="411480"/>
          </a:xfrm>
          <a:prstGeom prst="rect">
            <a:avLst/>
          </a:prstGeom>
          <a:noFill/>
          <a:ln/>
        </p:spPr>
        <p:txBody>
          <a:bodyPr wrap="square" lIns="0" tIns="0" rIns="0" bIns="0" rtlCol="0" anchor="t"/>
          <a:lstStyle/>
          <a:p>
            <a:pPr marL="0" indent="0">
              <a:buNone/>
            </a:pPr>
            <a:r>
              <a:rPr lang="en-US" sz="1900" dirty="0">
                <a:solidFill>
                  <a:schemeClr val="accent2"/>
                </a:solidFill>
              </a:rPr>
              <a:t>Honest numbers: the baseline is hard to beat</a:t>
            </a:r>
            <a:endParaRPr lang="en-US" sz="1900" dirty="0"/>
          </a:p>
        </p:txBody>
      </p:sp>
      <p:sp>
        <p:nvSpPr>
          <p:cNvPr id="4" name="a0_chip"/>
          <p:cNvSpPr txBox="1"/>
          <p:nvPr/>
        </p:nvSpPr>
        <p:spPr>
          <a:xfrm>
            <a:off x="9720072" y="411480"/>
            <a:ext cx="1920240" cy="384048"/>
          </a:xfrm>
          <a:prstGeom prst="roundRect">
            <a:avLst>
              <a:gd name="adj" fmla="val 50000"/>
            </a:avLst>
          </a:prstGeom>
          <a:solidFill>
            <a:schemeClr val="bg1"/>
          </a:solidFill>
          <a:ln w="12700">
            <a:solidFill>
              <a:schemeClr val="accent4"/>
            </a:solidFill>
          </a:ln>
        </p:spPr>
        <p:txBody>
          <a:bodyPr wrap="square" lIns="0" tIns="0" rIns="0" bIns="0" rtlCol="0" anchor="ctr"/>
          <a:lstStyle/>
          <a:p>
            <a:pPr marL="0" indent="0" algn="ctr">
              <a:buNone/>
            </a:pPr>
            <a:r>
              <a:rPr lang="en-US" sz="1300" b="1" dirty="0">
                <a:solidFill>
                  <a:schemeClr val="accent1"/>
                </a:solidFill>
                <a:latin typeface="Consolas" pitchFamily="34" charset="0"/>
                <a:ea typeface="Consolas" pitchFamily="34" charset="-122"/>
                <a:cs typeface="Consolas" pitchFamily="34" charset="-120"/>
              </a:rPr>
              <a:t>model/</a:t>
            </a:r>
            <a:endParaRPr lang="en-US" sz="1300" dirty="0"/>
          </a:p>
        </p:txBody>
      </p:sp>
      <p:graphicFrame>
        <p:nvGraphicFramePr>
          <p:cNvPr id="5" name="a1_chart"/>
          <p:cNvGraphicFramePr/>
          <p:nvPr/>
        </p:nvGraphicFramePr>
        <p:xfrm>
          <a:off x="548640" y="1554480"/>
          <a:ext cx="6583680"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6" name="a2_sp"/>
          <p:cNvSpPr/>
          <p:nvPr/>
        </p:nvSpPr>
        <p:spPr>
          <a:xfrm>
            <a:off x="7406640" y="1645920"/>
            <a:ext cx="4233672" cy="1463040"/>
          </a:xfrm>
          <a:prstGeom prst="roundRect">
            <a:avLst>
              <a:gd name="adj" fmla="val 8750"/>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7" name="a2_sph"/>
          <p:cNvSpPr txBox="1"/>
          <p:nvPr/>
        </p:nvSpPr>
        <p:spPr>
          <a:xfrm>
            <a:off x="7635240" y="1737360"/>
            <a:ext cx="3840480" cy="347472"/>
          </a:xfrm>
          <a:prstGeom prst="rect">
            <a:avLst/>
          </a:prstGeom>
          <a:noFill/>
          <a:ln/>
        </p:spPr>
        <p:txBody>
          <a:bodyPr wrap="square" lIns="0" tIns="0" rIns="0" bIns="0" rtlCol="0" anchor="t"/>
          <a:lstStyle/>
          <a:p>
            <a:pPr marL="0" indent="0">
              <a:buNone/>
            </a:pPr>
            <a:r>
              <a:rPr lang="en-US" sz="1700" b="1" dirty="0">
                <a:solidFill>
                  <a:schemeClr val="accent1"/>
                </a:solidFill>
              </a:rPr>
              <a:t>Split by category</a:t>
            </a:r>
            <a:endParaRPr lang="en-US" sz="1700" dirty="0"/>
          </a:p>
        </p:txBody>
      </p:sp>
      <p:sp>
        <p:nvSpPr>
          <p:cNvPr id="8" name="a2_spt"/>
          <p:cNvSpPr txBox="1"/>
          <p:nvPr/>
        </p:nvSpPr>
        <p:spPr>
          <a:xfrm>
            <a:off x="7635240" y="2121408"/>
            <a:ext cx="3840480" cy="914400"/>
          </a:xfrm>
          <a:prstGeom prst="rect">
            <a:avLst/>
          </a:prstGeom>
          <a:noFill/>
          <a:ln/>
        </p:spPr>
        <p:txBody>
          <a:bodyPr wrap="square" lIns="0" tIns="0" rIns="0" bIns="0" rtlCol="0" anchor="t"/>
          <a:lstStyle/>
          <a:p>
            <a:pPr marL="0" indent="0">
              <a:buNone/>
            </a:pPr>
            <a:r>
              <a:rPr lang="en-US" sz="1400" dirty="0">
                <a:solidFill>
                  <a:schemeClr val="tx2"/>
                </a:solidFill>
              </a:rPr>
              <a:t>No category on both sides. Guessing scores 0.158. Seed 2 has no high-fat food to test.</a:t>
            </a:r>
            <a:endParaRPr lang="en-US" sz="1400" dirty="0"/>
          </a:p>
        </p:txBody>
      </p:sp>
      <p:sp>
        <p:nvSpPr>
          <p:cNvPr id="9" name="a3_lp"/>
          <p:cNvSpPr/>
          <p:nvPr/>
        </p:nvSpPr>
        <p:spPr>
          <a:xfrm>
            <a:off x="7406640" y="3291840"/>
            <a:ext cx="4233672" cy="1554480"/>
          </a:xfrm>
          <a:prstGeom prst="roundRect">
            <a:avLst>
              <a:gd name="adj" fmla="val 8235"/>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10" name="a3_lph"/>
          <p:cNvSpPr txBox="1"/>
          <p:nvPr/>
        </p:nvSpPr>
        <p:spPr>
          <a:xfrm>
            <a:off x="7635240" y="3383280"/>
            <a:ext cx="3840480" cy="347472"/>
          </a:xfrm>
          <a:prstGeom prst="rect">
            <a:avLst/>
          </a:prstGeom>
          <a:noFill/>
          <a:ln/>
        </p:spPr>
        <p:txBody>
          <a:bodyPr wrap="square" lIns="0" tIns="0" rIns="0" bIns="0" rtlCol="0" anchor="t"/>
          <a:lstStyle/>
          <a:p>
            <a:pPr marL="0" indent="0">
              <a:buNone/>
            </a:pPr>
            <a:r>
              <a:rPr lang="en-US" sz="1700" b="1" dirty="0">
                <a:solidFill>
                  <a:schemeClr val="accent1"/>
                </a:solidFill>
              </a:rPr>
              <a:t>Link prediction (MRR)</a:t>
            </a:r>
            <a:endParaRPr lang="en-US" sz="1700" dirty="0"/>
          </a:p>
        </p:txBody>
      </p:sp>
      <p:sp>
        <p:nvSpPr>
          <p:cNvPr id="11" name="a4_l1_n"/>
          <p:cNvSpPr txBox="1"/>
          <p:nvPr/>
        </p:nvSpPr>
        <p:spPr>
          <a:xfrm>
            <a:off x="7635240" y="3611880"/>
            <a:ext cx="1828800" cy="594360"/>
          </a:xfrm>
          <a:prstGeom prst="rect">
            <a:avLst/>
          </a:prstGeom>
          <a:noFill/>
          <a:ln/>
        </p:spPr>
        <p:txBody>
          <a:bodyPr wrap="square" lIns="0" tIns="0" rIns="0" bIns="0" rtlCol="0" anchor="b"/>
          <a:lstStyle/>
          <a:p>
            <a:pPr marL="0" indent="0">
              <a:buNone/>
            </a:pPr>
            <a:r>
              <a:rPr lang="en-US" sz="3200" b="1" dirty="0">
                <a:solidFill>
                  <a:schemeClr val="accent5"/>
                </a:solidFill>
              </a:rPr>
              <a:t>0.339</a:t>
            </a:r>
            <a:endParaRPr lang="en-US" sz="3200" dirty="0"/>
          </a:p>
        </p:txBody>
      </p:sp>
      <p:sp>
        <p:nvSpPr>
          <p:cNvPr id="12" name="a4_l1_l"/>
          <p:cNvSpPr txBox="1"/>
          <p:nvPr/>
        </p:nvSpPr>
        <p:spPr>
          <a:xfrm>
            <a:off x="7635240" y="4251960"/>
            <a:ext cx="1828800" cy="411480"/>
          </a:xfrm>
          <a:prstGeom prst="rect">
            <a:avLst/>
          </a:prstGeom>
          <a:noFill/>
          <a:ln/>
        </p:spPr>
        <p:txBody>
          <a:bodyPr wrap="square" lIns="0" tIns="0" rIns="0" bIns="0" rtlCol="0" anchor="t"/>
          <a:lstStyle/>
          <a:p>
            <a:pPr marL="0" indent="0">
              <a:buNone/>
            </a:pPr>
            <a:r>
              <a:rPr lang="en-US" sz="1400" dirty="0">
                <a:solidFill>
                  <a:schemeClr val="accent5"/>
                </a:solidFill>
              </a:rPr>
              <a:t>TransE</a:t>
            </a:r>
            <a:endParaRPr lang="en-US" sz="1400" dirty="0"/>
          </a:p>
        </p:txBody>
      </p:sp>
      <p:sp>
        <p:nvSpPr>
          <p:cNvPr id="13" name="a4_l2_n"/>
          <p:cNvSpPr txBox="1"/>
          <p:nvPr/>
        </p:nvSpPr>
        <p:spPr>
          <a:xfrm>
            <a:off x="9601200" y="3611880"/>
            <a:ext cx="1828800" cy="594360"/>
          </a:xfrm>
          <a:prstGeom prst="rect">
            <a:avLst/>
          </a:prstGeom>
          <a:noFill/>
          <a:ln/>
        </p:spPr>
        <p:txBody>
          <a:bodyPr wrap="square" lIns="0" tIns="0" rIns="0" bIns="0" rtlCol="0" anchor="b"/>
          <a:lstStyle/>
          <a:p>
            <a:pPr marL="0" indent="0">
              <a:buNone/>
            </a:pPr>
            <a:r>
              <a:rPr lang="en-US" sz="3200" b="1" dirty="0">
                <a:solidFill>
                  <a:schemeClr val="accent2"/>
                </a:solidFill>
              </a:rPr>
              <a:t>0.448</a:t>
            </a:r>
            <a:endParaRPr lang="en-US" sz="3200" dirty="0"/>
          </a:p>
        </p:txBody>
      </p:sp>
      <p:sp>
        <p:nvSpPr>
          <p:cNvPr id="14" name="a4_l2_l"/>
          <p:cNvSpPr txBox="1"/>
          <p:nvPr/>
        </p:nvSpPr>
        <p:spPr>
          <a:xfrm>
            <a:off x="9601200" y="4251960"/>
            <a:ext cx="1828800" cy="411480"/>
          </a:xfrm>
          <a:prstGeom prst="rect">
            <a:avLst/>
          </a:prstGeom>
          <a:noFill/>
          <a:ln/>
        </p:spPr>
        <p:txBody>
          <a:bodyPr wrap="square" lIns="0" tIns="0" rIns="0" bIns="0" rtlCol="0" anchor="t"/>
          <a:lstStyle/>
          <a:p>
            <a:pPr marL="0" indent="0">
              <a:buNone/>
            </a:pPr>
            <a:r>
              <a:rPr lang="en-US" sz="1400" dirty="0">
                <a:solidFill>
                  <a:schemeClr val="accent5"/>
                </a:solidFill>
              </a:rPr>
              <a:t>popularity count</a:t>
            </a:r>
            <a:endParaRPr lang="en-US" sz="1400" dirty="0"/>
          </a:p>
        </p:txBody>
      </p:sp>
      <p:pic>
        <p:nvPicPr>
          <p:cNvPr id="15" name="a5_desc_bg" descr="preencoded.png"/>
          <p:cNvPicPr>
            <a:picLocks noChangeAspect="1"/>
          </p:cNvPicPr>
          <p:nvPr/>
        </p:nvPicPr>
        <p:blipFill>
          <a:blip r:embed="rId4"/>
          <a:stretch>
            <a:fillRect/>
          </a:stretch>
        </p:blipFill>
        <p:spPr>
          <a:xfrm>
            <a:off x="548640" y="5029200"/>
            <a:ext cx="11091672" cy="1261872"/>
          </a:xfrm>
          <a:prstGeom prst="rect">
            <a:avLst/>
          </a:prstGeom>
          <a:effectLst>
            <a:outerShdw blurRad="152400" dist="25400" dir="5400000" algn="bl" rotWithShape="0">
              <a:srgbClr val="1B2A22">
                <a:alpha val="25000"/>
              </a:srgbClr>
            </a:outerShdw>
          </a:effectLst>
        </p:spPr>
      </p:pic>
      <p:sp>
        <p:nvSpPr>
          <p:cNvPr id="16" name="a5_desc_tx"/>
          <p:cNvSpPr txBox="1"/>
          <p:nvPr/>
        </p:nvSpPr>
        <p:spPr>
          <a:xfrm>
            <a:off x="914400" y="5029200"/>
            <a:ext cx="10360152" cy="1261872"/>
          </a:xfrm>
          <a:prstGeom prst="rect">
            <a:avLst/>
          </a:prstGeom>
          <a:noFill/>
          <a:ln/>
        </p:spPr>
        <p:txBody>
          <a:bodyPr wrap="square" lIns="0" tIns="0" rIns="0" bIns="0" rtlCol="0" anchor="ctr"/>
          <a:lstStyle/>
          <a:p>
            <a:pPr marL="0" indent="0">
              <a:lnSpc>
                <a:spcPct val="100000"/>
              </a:lnSpc>
              <a:buNone/>
            </a:pPr>
            <a:r>
              <a:rPr lang="en-US" sz="1400" dirty="0">
                <a:solidFill>
                  <a:schemeClr val="bg1"/>
                </a:solidFill>
              </a:rPr>
              <a:t>We predict whether a food is high in fat, with the fat amount removed from the features, and we split by category so no category is on both sides; a split by date would leak. GraphSAGE has a higher mean than logistic regression, but the spread between seeds is larger than the gap, so we do not call it better. For link prediction, TransE loses to a simple popularity count on every seed, and we report it as it is.</a:t>
            </a:r>
            <a:endParaRPr lang="en-US" sz="1400" dirty="0"/>
          </a:p>
        </p:txBody>
      </p:sp>
      <p:sp>
        <p:nvSpPr>
          <p:cNvPr id="17" name="Slide Number Placeholder 0"/>
          <p:cNvSpPr>
            <a:spLocks noGrp="1"/>
          </p:cNvSpPr>
          <p:nvPr>
            <p:ph type="sldNum" sz="quarter" idx="4294967295"/>
          </p:nvPr>
        </p:nvSpPr>
        <p:spPr>
          <a:xfrm>
            <a:off x="11183112"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6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6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left)">
                                      <p:cBhvr>
                                        <p:cTn id="20" dur="600"/>
                                        <p:tgtEl>
                                          <p:spTgt spid="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wipe(left)">
                                      <p:cBhvr>
                                        <p:cTn id="31" dur="600"/>
                                        <p:tgtEl>
                                          <p:spTgt spid="9"/>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childTnLst>
                          </p:cTn>
                        </p:par>
                        <p:par>
                          <p:cTn id="35" fill="hold">
                            <p:stCondLst>
                              <p:cond delay="28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00"/>
                                        <p:tgtEl>
                                          <p:spTgt spid="11"/>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500"/>
                                        <p:tgtEl>
                                          <p:spTgt spid="1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wipe(left)">
                                      <p:cBhvr>
                                        <p:cTn id="52" dur="600"/>
                                        <p:tgtEl>
                                          <p:spTgt spid="15"/>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Graphic spid="5" grpId="0">
        <p:bldAsOne/>
      </p:bldGraphic>
      <p:bldP spid="6" grpId="0" animBg="1"/>
      <p:bldP spid="7" grpId="0" animBg="1"/>
      <p:bldP spid="8" grpId="0" animBg="1"/>
      <p:bldP spid="9" grpId="0" animBg="1"/>
      <p:bldP spid="10" grpId="0" animBg="1"/>
      <p:bldP spid="11" grpId="0" animBg="1"/>
      <p:bldP spid="12" grpId="0" animBg="1"/>
      <p:bldP spid="13" grpId="0" animBg="1"/>
      <p:bldP spid="14" grpId="0" animBg="1"/>
      <p:bldP spid="1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47472"/>
            <a:ext cx="9052560" cy="640080"/>
          </a:xfrm>
          <a:prstGeom prst="rect">
            <a:avLst/>
          </a:prstGeom>
          <a:noFill/>
          <a:ln/>
        </p:spPr>
        <p:txBody>
          <a:bodyPr wrap="square" lIns="0" tIns="0" rIns="0" bIns="0" rtlCol="0" anchor="t"/>
          <a:lstStyle/>
          <a:p>
            <a:pPr marL="0" indent="0" algn="l">
              <a:buNone/>
            </a:pPr>
            <a:r>
              <a:rPr lang="en-US" sz="3400" b="1" dirty="0">
                <a:solidFill>
                  <a:schemeClr val="tx2"/>
                </a:solidFill>
              </a:rPr>
              <a:t>Access layer</a:t>
            </a:r>
            <a:endParaRPr lang="en-US" sz="3400" dirty="0"/>
          </a:p>
        </p:txBody>
      </p:sp>
      <p:sp>
        <p:nvSpPr>
          <p:cNvPr id="3" name="Text 0"/>
          <p:cNvSpPr>
            <a:spLocks noGrp="1"/>
          </p:cNvSpPr>
          <p:nvPr>
            <p:ph type="body" idx="101" hasCustomPrompt="1"/>
          </p:nvPr>
        </p:nvSpPr>
        <p:spPr>
          <a:xfrm>
            <a:off x="548640" y="987552"/>
            <a:ext cx="9326880" cy="411480"/>
          </a:xfrm>
          <a:prstGeom prst="rect">
            <a:avLst/>
          </a:prstGeom>
          <a:noFill/>
          <a:ln/>
        </p:spPr>
        <p:txBody>
          <a:bodyPr wrap="square" lIns="0" tIns="0" rIns="0" bIns="0" rtlCol="0" anchor="t"/>
          <a:lstStyle/>
          <a:p>
            <a:pPr marL="0" indent="0">
              <a:buNone/>
            </a:pPr>
            <a:r>
              <a:rPr lang="en-US" sz="1900" dirty="0">
                <a:solidFill>
                  <a:schemeClr val="accent2"/>
                </a:solidFill>
              </a:rPr>
              <a:t>Ask in English, get checked SPARQL, or a clear “no”</a:t>
            </a:r>
            <a:endParaRPr lang="en-US" sz="1900" dirty="0"/>
          </a:p>
        </p:txBody>
      </p:sp>
      <p:sp>
        <p:nvSpPr>
          <p:cNvPr id="4" name="a0_chip"/>
          <p:cNvSpPr txBox="1"/>
          <p:nvPr/>
        </p:nvSpPr>
        <p:spPr>
          <a:xfrm>
            <a:off x="9720072" y="411480"/>
            <a:ext cx="1920240" cy="384048"/>
          </a:xfrm>
          <a:prstGeom prst="roundRect">
            <a:avLst>
              <a:gd name="adj" fmla="val 50000"/>
            </a:avLst>
          </a:prstGeom>
          <a:solidFill>
            <a:schemeClr val="bg1"/>
          </a:solidFill>
          <a:ln w="12700">
            <a:solidFill>
              <a:schemeClr val="accent4"/>
            </a:solidFill>
          </a:ln>
        </p:spPr>
        <p:txBody>
          <a:bodyPr wrap="square" lIns="0" tIns="0" rIns="0" bIns="0" rtlCol="0" anchor="ctr"/>
          <a:lstStyle/>
          <a:p>
            <a:pPr marL="0" indent="0" algn="ctr">
              <a:buNone/>
            </a:pPr>
            <a:r>
              <a:rPr lang="en-US" sz="1300" b="1" dirty="0">
                <a:solidFill>
                  <a:schemeClr val="accent1"/>
                </a:solidFill>
                <a:latin typeface="Consolas" pitchFamily="34" charset="0"/>
                <a:ea typeface="Consolas" pitchFamily="34" charset="-122"/>
                <a:cs typeface="Consolas" pitchFamily="34" charset="-120"/>
              </a:rPr>
              <a:t>access-layer/</a:t>
            </a:r>
            <a:endParaRPr lang="en-US" sz="1300" dirty="0"/>
          </a:p>
        </p:txBody>
      </p:sp>
      <p:sp>
        <p:nvSpPr>
          <p:cNvPr id="5" name="a1_f0_c"/>
          <p:cNvSpPr/>
          <p:nvPr/>
        </p:nvSpPr>
        <p:spPr>
          <a:xfrm>
            <a:off x="1156716" y="1600200"/>
            <a:ext cx="749808" cy="749808"/>
          </a:xfrm>
          <a:prstGeom prst="ellipse">
            <a:avLst/>
          </a:prstGeom>
          <a:solidFill>
            <a:schemeClr val="accent4"/>
          </a:solidFill>
          <a:ln/>
          <a:effectLst>
            <a:outerShdw blurRad="101600" dist="25400" dir="5400000" algn="bl" rotWithShape="0">
              <a:srgbClr val="1B2A22">
                <a:alpha val="18000"/>
              </a:srgbClr>
            </a:outerShdw>
          </a:effectLst>
        </p:spPr>
        <p:txBody>
          <a:bodyPr/>
          <a:lstStyle/>
          <a:p>
            <a:endParaRPr lang="en-US"/>
          </a:p>
        </p:txBody>
      </p:sp>
      <p:pic>
        <p:nvPicPr>
          <p:cNvPr id="6" name="a1_f0_i" descr="preencoded.png"/>
          <p:cNvPicPr>
            <a:picLocks noChangeAspect="1"/>
          </p:cNvPicPr>
          <p:nvPr/>
        </p:nvPicPr>
        <p:blipFill>
          <a:blip r:embed="rId3"/>
          <a:stretch>
            <a:fillRect/>
          </a:stretch>
        </p:blipFill>
        <p:spPr>
          <a:xfrm>
            <a:off x="1344168" y="1787652"/>
            <a:ext cx="374904" cy="374904"/>
          </a:xfrm>
          <a:prstGeom prst="rect">
            <a:avLst/>
          </a:prstGeom>
        </p:spPr>
      </p:pic>
      <p:sp>
        <p:nvSpPr>
          <p:cNvPr id="7" name="a1_fl0"/>
          <p:cNvSpPr txBox="1"/>
          <p:nvPr/>
        </p:nvSpPr>
        <p:spPr>
          <a:xfrm>
            <a:off x="548640" y="2423160"/>
            <a:ext cx="1965960" cy="365760"/>
          </a:xfrm>
          <a:prstGeom prst="rect">
            <a:avLst/>
          </a:prstGeom>
          <a:noFill/>
          <a:ln/>
        </p:spPr>
        <p:txBody>
          <a:bodyPr wrap="square" lIns="0" tIns="0" rIns="0" bIns="0" rtlCol="0" anchor="t"/>
          <a:lstStyle/>
          <a:p>
            <a:pPr marL="0" indent="0" algn="ctr">
              <a:buNone/>
            </a:pPr>
            <a:r>
              <a:rPr lang="en-US" sz="1700" b="1" dirty="0">
                <a:solidFill>
                  <a:schemeClr val="tx2"/>
                </a:solidFill>
              </a:rPr>
              <a:t>Question</a:t>
            </a:r>
            <a:endParaRPr lang="en-US" sz="1700" dirty="0"/>
          </a:p>
        </p:txBody>
      </p:sp>
      <p:sp>
        <p:nvSpPr>
          <p:cNvPr id="8" name="a1_fd0"/>
          <p:cNvSpPr txBox="1"/>
          <p:nvPr/>
        </p:nvSpPr>
        <p:spPr>
          <a:xfrm>
            <a:off x="548640" y="2788920"/>
            <a:ext cx="1965960" cy="365760"/>
          </a:xfrm>
          <a:prstGeom prst="rect">
            <a:avLst/>
          </a:prstGeom>
          <a:noFill/>
          <a:ln/>
        </p:spPr>
        <p:txBody>
          <a:bodyPr wrap="square" lIns="0" tIns="0" rIns="0" bIns="0" rtlCol="0" anchor="t"/>
          <a:lstStyle/>
          <a:p>
            <a:pPr marL="0" indent="0" algn="ctr">
              <a:buNone/>
            </a:pPr>
            <a:r>
              <a:rPr lang="en-US" sz="1400" dirty="0">
                <a:solidFill>
                  <a:schemeClr val="accent5"/>
                </a:solidFill>
              </a:rPr>
              <a:t>in plain English</a:t>
            </a:r>
            <a:endParaRPr lang="en-US" sz="1400" dirty="0"/>
          </a:p>
        </p:txBody>
      </p:sp>
      <p:sp>
        <p:nvSpPr>
          <p:cNvPr id="9" name="a2_fa0"/>
          <p:cNvSpPr/>
          <p:nvPr/>
        </p:nvSpPr>
        <p:spPr>
          <a:xfrm>
            <a:off x="2011680" y="1975104"/>
            <a:ext cx="1344168" cy="0"/>
          </a:xfrm>
          <a:prstGeom prst="line">
            <a:avLst/>
          </a:prstGeom>
          <a:noFill/>
          <a:ln w="25400">
            <a:solidFill>
              <a:schemeClr val="accent5"/>
            </a:solidFill>
            <a:prstDash val="solid"/>
            <a:tailEnd type="triangle"/>
          </a:ln>
        </p:spPr>
        <p:txBody>
          <a:bodyPr/>
          <a:lstStyle/>
          <a:p>
            <a:endParaRPr lang="en-US"/>
          </a:p>
        </p:txBody>
      </p:sp>
      <p:sp>
        <p:nvSpPr>
          <p:cNvPr id="10" name="a2_f1_c"/>
          <p:cNvSpPr/>
          <p:nvPr/>
        </p:nvSpPr>
        <p:spPr>
          <a:xfrm>
            <a:off x="3438144" y="1600200"/>
            <a:ext cx="749808" cy="749808"/>
          </a:xfrm>
          <a:prstGeom prst="ellipse">
            <a:avLst/>
          </a:prstGeom>
          <a:solidFill>
            <a:schemeClr val="accent2"/>
          </a:solidFill>
          <a:ln/>
          <a:effectLst>
            <a:outerShdw blurRad="101600" dist="25400" dir="5400000" algn="bl" rotWithShape="0">
              <a:srgbClr val="1B2A22">
                <a:alpha val="18000"/>
              </a:srgbClr>
            </a:outerShdw>
          </a:effectLst>
        </p:spPr>
        <p:txBody>
          <a:bodyPr/>
          <a:lstStyle/>
          <a:p>
            <a:endParaRPr lang="en-US"/>
          </a:p>
        </p:txBody>
      </p:sp>
      <p:pic>
        <p:nvPicPr>
          <p:cNvPr id="11" name="a2_f1_i" descr="preencoded.png"/>
          <p:cNvPicPr>
            <a:picLocks noChangeAspect="1"/>
          </p:cNvPicPr>
          <p:nvPr/>
        </p:nvPicPr>
        <p:blipFill>
          <a:blip r:embed="rId4"/>
          <a:stretch>
            <a:fillRect/>
          </a:stretch>
        </p:blipFill>
        <p:spPr>
          <a:xfrm>
            <a:off x="3625596" y="1787652"/>
            <a:ext cx="374904" cy="374904"/>
          </a:xfrm>
          <a:prstGeom prst="rect">
            <a:avLst/>
          </a:prstGeom>
        </p:spPr>
      </p:pic>
      <p:sp>
        <p:nvSpPr>
          <p:cNvPr id="12" name="a2_fl1"/>
          <p:cNvSpPr txBox="1"/>
          <p:nvPr/>
        </p:nvSpPr>
        <p:spPr>
          <a:xfrm>
            <a:off x="2830068" y="2423160"/>
            <a:ext cx="1965960" cy="365760"/>
          </a:xfrm>
          <a:prstGeom prst="rect">
            <a:avLst/>
          </a:prstGeom>
          <a:noFill/>
          <a:ln/>
        </p:spPr>
        <p:txBody>
          <a:bodyPr wrap="square" lIns="0" tIns="0" rIns="0" bIns="0" rtlCol="0" anchor="t"/>
          <a:lstStyle/>
          <a:p>
            <a:pPr marL="0" indent="0" algn="ctr">
              <a:buNone/>
            </a:pPr>
            <a:r>
              <a:rPr lang="en-US" sz="1700" b="1" dirty="0">
                <a:solidFill>
                  <a:schemeClr val="tx2"/>
                </a:solidFill>
              </a:rPr>
              <a:t>Prompt</a:t>
            </a:r>
            <a:endParaRPr lang="en-US" sz="1700" dirty="0"/>
          </a:p>
        </p:txBody>
      </p:sp>
      <p:sp>
        <p:nvSpPr>
          <p:cNvPr id="13" name="a2_fd1"/>
          <p:cNvSpPr txBox="1"/>
          <p:nvPr/>
        </p:nvSpPr>
        <p:spPr>
          <a:xfrm>
            <a:off x="2830068" y="2788920"/>
            <a:ext cx="1965960" cy="365760"/>
          </a:xfrm>
          <a:prstGeom prst="rect">
            <a:avLst/>
          </a:prstGeom>
          <a:noFill/>
          <a:ln/>
        </p:spPr>
        <p:txBody>
          <a:bodyPr wrap="square" lIns="0" tIns="0" rIns="0" bIns="0" rtlCol="0" anchor="t"/>
          <a:lstStyle/>
          <a:p>
            <a:pPr marL="0" indent="0" algn="ctr">
              <a:buNone/>
            </a:pPr>
            <a:r>
              <a:rPr lang="en-US" sz="1400" dirty="0">
                <a:solidFill>
                  <a:schemeClr val="accent5"/>
                </a:solidFill>
              </a:rPr>
              <a:t>VoID, rules, 3 examples</a:t>
            </a:r>
            <a:endParaRPr lang="en-US" sz="1400" dirty="0"/>
          </a:p>
        </p:txBody>
      </p:sp>
      <p:sp>
        <p:nvSpPr>
          <p:cNvPr id="14" name="a3_fa1"/>
          <p:cNvSpPr/>
          <p:nvPr/>
        </p:nvSpPr>
        <p:spPr>
          <a:xfrm>
            <a:off x="4293108" y="1975104"/>
            <a:ext cx="1344168" cy="0"/>
          </a:xfrm>
          <a:prstGeom prst="line">
            <a:avLst/>
          </a:prstGeom>
          <a:noFill/>
          <a:ln w="25400">
            <a:solidFill>
              <a:schemeClr val="accent5"/>
            </a:solidFill>
            <a:prstDash val="solid"/>
            <a:tailEnd type="triangle"/>
          </a:ln>
        </p:spPr>
        <p:txBody>
          <a:bodyPr/>
          <a:lstStyle/>
          <a:p>
            <a:endParaRPr lang="en-US"/>
          </a:p>
        </p:txBody>
      </p:sp>
      <p:sp>
        <p:nvSpPr>
          <p:cNvPr id="15" name="a3_f2_c"/>
          <p:cNvSpPr/>
          <p:nvPr/>
        </p:nvSpPr>
        <p:spPr>
          <a:xfrm>
            <a:off x="5719572" y="1600200"/>
            <a:ext cx="749808" cy="749808"/>
          </a:xfrm>
          <a:prstGeom prst="ellipse">
            <a:avLst/>
          </a:prstGeom>
          <a:solidFill>
            <a:schemeClr val="tx2"/>
          </a:solidFill>
          <a:ln/>
          <a:effectLst>
            <a:outerShdw blurRad="101600" dist="25400" dir="5400000" algn="bl" rotWithShape="0">
              <a:srgbClr val="1B2A22">
                <a:alpha val="18000"/>
              </a:srgbClr>
            </a:outerShdw>
          </a:effectLst>
        </p:spPr>
        <p:txBody>
          <a:bodyPr/>
          <a:lstStyle/>
          <a:p>
            <a:endParaRPr lang="en-US"/>
          </a:p>
        </p:txBody>
      </p:sp>
      <p:pic>
        <p:nvPicPr>
          <p:cNvPr id="16" name="a3_f2_i" descr="preencoded.png"/>
          <p:cNvPicPr>
            <a:picLocks noChangeAspect="1"/>
          </p:cNvPicPr>
          <p:nvPr/>
        </p:nvPicPr>
        <p:blipFill>
          <a:blip r:embed="rId5"/>
          <a:stretch>
            <a:fillRect/>
          </a:stretch>
        </p:blipFill>
        <p:spPr>
          <a:xfrm>
            <a:off x="5907024" y="1787652"/>
            <a:ext cx="374904" cy="374904"/>
          </a:xfrm>
          <a:prstGeom prst="rect">
            <a:avLst/>
          </a:prstGeom>
        </p:spPr>
      </p:pic>
      <p:sp>
        <p:nvSpPr>
          <p:cNvPr id="17" name="a3_fl2"/>
          <p:cNvSpPr txBox="1"/>
          <p:nvPr/>
        </p:nvSpPr>
        <p:spPr>
          <a:xfrm>
            <a:off x="5111496" y="2423160"/>
            <a:ext cx="1965960" cy="365760"/>
          </a:xfrm>
          <a:prstGeom prst="rect">
            <a:avLst/>
          </a:prstGeom>
          <a:noFill/>
          <a:ln/>
        </p:spPr>
        <p:txBody>
          <a:bodyPr wrap="square" lIns="0" tIns="0" rIns="0" bIns="0" rtlCol="0" anchor="t"/>
          <a:lstStyle/>
          <a:p>
            <a:pPr marL="0" indent="0" algn="ctr">
              <a:buNone/>
            </a:pPr>
            <a:r>
              <a:rPr lang="en-US" sz="1700" b="1" dirty="0">
                <a:solidFill>
                  <a:schemeClr val="tx2"/>
                </a:solidFill>
              </a:rPr>
              <a:t>Gemini</a:t>
            </a:r>
            <a:endParaRPr lang="en-US" sz="1700" dirty="0"/>
          </a:p>
        </p:txBody>
      </p:sp>
      <p:sp>
        <p:nvSpPr>
          <p:cNvPr id="18" name="a3_fd2"/>
          <p:cNvSpPr txBox="1"/>
          <p:nvPr/>
        </p:nvSpPr>
        <p:spPr>
          <a:xfrm>
            <a:off x="5111496" y="2788920"/>
            <a:ext cx="1965960" cy="365760"/>
          </a:xfrm>
          <a:prstGeom prst="rect">
            <a:avLst/>
          </a:prstGeom>
          <a:noFill/>
          <a:ln/>
        </p:spPr>
        <p:txBody>
          <a:bodyPr wrap="square" lIns="0" tIns="0" rIns="0" bIns="0" rtlCol="0" anchor="t"/>
          <a:lstStyle/>
          <a:p>
            <a:pPr marL="0" indent="0" algn="ctr">
              <a:buNone/>
            </a:pPr>
            <a:r>
              <a:rPr lang="en-US" sz="1400" dirty="0">
                <a:solidFill>
                  <a:schemeClr val="accent5"/>
                </a:solidFill>
              </a:rPr>
              <a:t>writes one query</a:t>
            </a:r>
            <a:endParaRPr lang="en-US" sz="1400" dirty="0"/>
          </a:p>
        </p:txBody>
      </p:sp>
      <p:sp>
        <p:nvSpPr>
          <p:cNvPr id="19" name="a4_fa2"/>
          <p:cNvSpPr/>
          <p:nvPr/>
        </p:nvSpPr>
        <p:spPr>
          <a:xfrm>
            <a:off x="6574536" y="1975104"/>
            <a:ext cx="1344168" cy="0"/>
          </a:xfrm>
          <a:prstGeom prst="line">
            <a:avLst/>
          </a:prstGeom>
          <a:noFill/>
          <a:ln w="25400">
            <a:solidFill>
              <a:schemeClr val="accent5"/>
            </a:solidFill>
            <a:prstDash val="solid"/>
            <a:tailEnd type="triangle"/>
          </a:ln>
        </p:spPr>
        <p:txBody>
          <a:bodyPr/>
          <a:lstStyle/>
          <a:p>
            <a:endParaRPr lang="en-US"/>
          </a:p>
        </p:txBody>
      </p:sp>
      <p:sp>
        <p:nvSpPr>
          <p:cNvPr id="20" name="a4_f3_c"/>
          <p:cNvSpPr/>
          <p:nvPr/>
        </p:nvSpPr>
        <p:spPr>
          <a:xfrm>
            <a:off x="8001000" y="1600200"/>
            <a:ext cx="749808" cy="749808"/>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21" name="a4_f3_i" descr="preencoded.png"/>
          <p:cNvPicPr>
            <a:picLocks noChangeAspect="1"/>
          </p:cNvPicPr>
          <p:nvPr/>
        </p:nvPicPr>
        <p:blipFill>
          <a:blip r:embed="rId6"/>
          <a:stretch>
            <a:fillRect/>
          </a:stretch>
        </p:blipFill>
        <p:spPr>
          <a:xfrm>
            <a:off x="8188452" y="1787652"/>
            <a:ext cx="374904" cy="374904"/>
          </a:xfrm>
          <a:prstGeom prst="rect">
            <a:avLst/>
          </a:prstGeom>
        </p:spPr>
      </p:pic>
      <p:sp>
        <p:nvSpPr>
          <p:cNvPr id="22" name="a4_fl3"/>
          <p:cNvSpPr txBox="1"/>
          <p:nvPr/>
        </p:nvSpPr>
        <p:spPr>
          <a:xfrm>
            <a:off x="7392924" y="2423160"/>
            <a:ext cx="1965960" cy="365760"/>
          </a:xfrm>
          <a:prstGeom prst="rect">
            <a:avLst/>
          </a:prstGeom>
          <a:noFill/>
          <a:ln/>
        </p:spPr>
        <p:txBody>
          <a:bodyPr wrap="square" lIns="0" tIns="0" rIns="0" bIns="0" rtlCol="0" anchor="t"/>
          <a:lstStyle/>
          <a:p>
            <a:pPr marL="0" indent="0" algn="ctr">
              <a:buNone/>
            </a:pPr>
            <a:r>
              <a:rPr lang="en-US" sz="1700" b="1" dirty="0">
                <a:solidFill>
                  <a:schemeClr val="tx2"/>
                </a:solidFill>
              </a:rPr>
              <a:t>Check</a:t>
            </a:r>
            <a:endParaRPr lang="en-US" sz="1700" dirty="0"/>
          </a:p>
        </p:txBody>
      </p:sp>
      <p:sp>
        <p:nvSpPr>
          <p:cNvPr id="23" name="a4_fd3"/>
          <p:cNvSpPr txBox="1"/>
          <p:nvPr/>
        </p:nvSpPr>
        <p:spPr>
          <a:xfrm>
            <a:off x="7392924" y="2788920"/>
            <a:ext cx="1965960" cy="365760"/>
          </a:xfrm>
          <a:prstGeom prst="rect">
            <a:avLst/>
          </a:prstGeom>
          <a:noFill/>
          <a:ln/>
        </p:spPr>
        <p:txBody>
          <a:bodyPr wrap="square" lIns="0" tIns="0" rIns="0" bIns="0" rtlCol="0" anchor="t"/>
          <a:lstStyle/>
          <a:p>
            <a:pPr marL="0" indent="0" algn="ctr">
              <a:buNone/>
            </a:pPr>
            <a:r>
              <a:rPr lang="en-US" sz="1400" dirty="0">
                <a:solidFill>
                  <a:schemeClr val="accent5"/>
                </a:solidFill>
              </a:rPr>
              <a:t>real terms; repair ≤ 2</a:t>
            </a:r>
            <a:endParaRPr lang="en-US" sz="1400" dirty="0"/>
          </a:p>
        </p:txBody>
      </p:sp>
      <p:sp>
        <p:nvSpPr>
          <p:cNvPr id="24" name="a5_fa3"/>
          <p:cNvSpPr/>
          <p:nvPr/>
        </p:nvSpPr>
        <p:spPr>
          <a:xfrm>
            <a:off x="8855964" y="1975104"/>
            <a:ext cx="1344168" cy="0"/>
          </a:xfrm>
          <a:prstGeom prst="line">
            <a:avLst/>
          </a:prstGeom>
          <a:noFill/>
          <a:ln w="25400">
            <a:solidFill>
              <a:schemeClr val="accent5"/>
            </a:solidFill>
            <a:prstDash val="solid"/>
            <a:tailEnd type="triangle"/>
          </a:ln>
        </p:spPr>
        <p:txBody>
          <a:bodyPr/>
          <a:lstStyle/>
          <a:p>
            <a:endParaRPr lang="en-US"/>
          </a:p>
        </p:txBody>
      </p:sp>
      <p:sp>
        <p:nvSpPr>
          <p:cNvPr id="25" name="a5_f4_c"/>
          <p:cNvSpPr/>
          <p:nvPr/>
        </p:nvSpPr>
        <p:spPr>
          <a:xfrm>
            <a:off x="10282428" y="1600200"/>
            <a:ext cx="749808" cy="749808"/>
          </a:xfrm>
          <a:prstGeom prst="ellipse">
            <a:avLst/>
          </a:prstGeom>
          <a:solidFill>
            <a:schemeClr val="accent3"/>
          </a:solidFill>
          <a:ln/>
          <a:effectLst>
            <a:outerShdw blurRad="101600" dist="25400" dir="5400000" algn="bl" rotWithShape="0">
              <a:srgbClr val="1B2A22">
                <a:alpha val="18000"/>
              </a:srgbClr>
            </a:outerShdw>
          </a:effectLst>
        </p:spPr>
        <p:txBody>
          <a:bodyPr/>
          <a:lstStyle/>
          <a:p>
            <a:endParaRPr lang="en-US"/>
          </a:p>
        </p:txBody>
      </p:sp>
      <p:pic>
        <p:nvPicPr>
          <p:cNvPr id="26" name="a5_f4_i" descr="preencoded.png"/>
          <p:cNvPicPr>
            <a:picLocks noChangeAspect="1"/>
          </p:cNvPicPr>
          <p:nvPr/>
        </p:nvPicPr>
        <p:blipFill>
          <a:blip r:embed="rId7"/>
          <a:stretch>
            <a:fillRect/>
          </a:stretch>
        </p:blipFill>
        <p:spPr>
          <a:xfrm>
            <a:off x="10469880" y="1787652"/>
            <a:ext cx="374904" cy="374904"/>
          </a:xfrm>
          <a:prstGeom prst="rect">
            <a:avLst/>
          </a:prstGeom>
        </p:spPr>
      </p:pic>
      <p:sp>
        <p:nvSpPr>
          <p:cNvPr id="27" name="a5_fl4"/>
          <p:cNvSpPr txBox="1"/>
          <p:nvPr/>
        </p:nvSpPr>
        <p:spPr>
          <a:xfrm>
            <a:off x="9674352" y="2423160"/>
            <a:ext cx="1965960" cy="365760"/>
          </a:xfrm>
          <a:prstGeom prst="rect">
            <a:avLst/>
          </a:prstGeom>
          <a:noFill/>
          <a:ln/>
        </p:spPr>
        <p:txBody>
          <a:bodyPr wrap="square" lIns="0" tIns="0" rIns="0" bIns="0" rtlCol="0" anchor="t"/>
          <a:lstStyle/>
          <a:p>
            <a:pPr marL="0" indent="0" algn="ctr">
              <a:buNone/>
            </a:pPr>
            <a:r>
              <a:rPr lang="en-US" sz="1700" b="1" dirty="0">
                <a:solidFill>
                  <a:schemeClr val="tx2"/>
                </a:solidFill>
              </a:rPr>
              <a:t>Answer or refuse</a:t>
            </a:r>
            <a:endParaRPr lang="en-US" sz="1700" dirty="0"/>
          </a:p>
        </p:txBody>
      </p:sp>
      <p:sp>
        <p:nvSpPr>
          <p:cNvPr id="28" name="a5_fd4"/>
          <p:cNvSpPr txBox="1"/>
          <p:nvPr/>
        </p:nvSpPr>
        <p:spPr>
          <a:xfrm>
            <a:off x="9674352" y="2788920"/>
            <a:ext cx="1965960" cy="365760"/>
          </a:xfrm>
          <a:prstGeom prst="rect">
            <a:avLst/>
          </a:prstGeom>
          <a:noFill/>
          <a:ln/>
        </p:spPr>
        <p:txBody>
          <a:bodyPr wrap="square" lIns="0" tIns="0" rIns="0" bIns="0" rtlCol="0" anchor="t"/>
          <a:lstStyle/>
          <a:p>
            <a:pPr marL="0" indent="0" algn="ctr">
              <a:buNone/>
            </a:pPr>
            <a:r>
              <a:rPr lang="en-US" sz="1400" dirty="0">
                <a:solidFill>
                  <a:schemeClr val="accent5"/>
                </a:solidFill>
              </a:rPr>
              <a:t>run it, or say why not</a:t>
            </a:r>
            <a:endParaRPr lang="en-US" sz="1400" dirty="0"/>
          </a:p>
        </p:txBody>
      </p:sp>
      <p:sp>
        <p:nvSpPr>
          <p:cNvPr id="29" name="a6_x1"/>
          <p:cNvSpPr/>
          <p:nvPr/>
        </p:nvSpPr>
        <p:spPr>
          <a:xfrm>
            <a:off x="548640" y="3429000"/>
            <a:ext cx="3566160" cy="1417320"/>
          </a:xfrm>
          <a:prstGeom prst="roundRect">
            <a:avLst>
              <a:gd name="adj" fmla="val 9032"/>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30" name="a6_x1s_n"/>
          <p:cNvSpPr txBox="1"/>
          <p:nvPr/>
        </p:nvSpPr>
        <p:spPr>
          <a:xfrm>
            <a:off x="777240" y="3474720"/>
            <a:ext cx="3200400" cy="594360"/>
          </a:xfrm>
          <a:prstGeom prst="rect">
            <a:avLst/>
          </a:prstGeom>
          <a:noFill/>
          <a:ln/>
        </p:spPr>
        <p:txBody>
          <a:bodyPr wrap="square" lIns="0" tIns="0" rIns="0" bIns="0" rtlCol="0" anchor="b"/>
          <a:lstStyle/>
          <a:p>
            <a:pPr marL="0" indent="0">
              <a:buNone/>
            </a:pPr>
            <a:r>
              <a:rPr lang="en-US" sz="3000" b="1" dirty="0">
                <a:solidFill>
                  <a:schemeClr val="accent1"/>
                </a:solidFill>
              </a:rPr>
              <a:t>0.856 → 0.954</a:t>
            </a:r>
            <a:endParaRPr lang="en-US" sz="3000" dirty="0"/>
          </a:p>
        </p:txBody>
      </p:sp>
      <p:sp>
        <p:nvSpPr>
          <p:cNvPr id="31" name="a6_x1s_l"/>
          <p:cNvSpPr txBox="1"/>
          <p:nvPr/>
        </p:nvSpPr>
        <p:spPr>
          <a:xfrm>
            <a:off x="777240" y="4114800"/>
            <a:ext cx="3200400" cy="411480"/>
          </a:xfrm>
          <a:prstGeom prst="rect">
            <a:avLst/>
          </a:prstGeom>
          <a:noFill/>
          <a:ln/>
        </p:spPr>
        <p:txBody>
          <a:bodyPr wrap="square" lIns="0" tIns="0" rIns="0" bIns="0" rtlCol="0" anchor="t"/>
          <a:lstStyle/>
          <a:p>
            <a:pPr marL="0" indent="0">
              <a:buNone/>
            </a:pPr>
            <a:r>
              <a:rPr lang="en-US" sz="1400" dirty="0">
                <a:solidFill>
                  <a:schemeClr val="accent5"/>
                </a:solidFill>
              </a:rPr>
              <a:t>mean F1 on 8 questions</a:t>
            </a:r>
            <a:endParaRPr lang="en-US" sz="1400" dirty="0"/>
          </a:p>
        </p:txBody>
      </p:sp>
      <p:sp>
        <p:nvSpPr>
          <p:cNvPr id="32" name="a7_x2"/>
          <p:cNvSpPr/>
          <p:nvPr/>
        </p:nvSpPr>
        <p:spPr>
          <a:xfrm>
            <a:off x="4297680" y="3429000"/>
            <a:ext cx="3108960" cy="1417320"/>
          </a:xfrm>
          <a:prstGeom prst="roundRect">
            <a:avLst>
              <a:gd name="adj" fmla="val 9032"/>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33" name="a7_x2s_n"/>
          <p:cNvSpPr txBox="1"/>
          <p:nvPr/>
        </p:nvSpPr>
        <p:spPr>
          <a:xfrm>
            <a:off x="4526280" y="3474720"/>
            <a:ext cx="2743200" cy="594360"/>
          </a:xfrm>
          <a:prstGeom prst="rect">
            <a:avLst/>
          </a:prstGeom>
          <a:noFill/>
          <a:ln/>
        </p:spPr>
        <p:txBody>
          <a:bodyPr wrap="square" lIns="0" tIns="0" rIns="0" bIns="0" rtlCol="0" anchor="b"/>
          <a:lstStyle/>
          <a:p>
            <a:pPr marL="0" indent="0">
              <a:buNone/>
            </a:pPr>
            <a:r>
              <a:rPr lang="en-US" sz="3000" b="1" dirty="0">
                <a:solidFill>
                  <a:schemeClr val="accent1"/>
                </a:solidFill>
              </a:rPr>
              <a:t>3 of 3</a:t>
            </a:r>
            <a:endParaRPr lang="en-US" sz="3000" dirty="0"/>
          </a:p>
        </p:txBody>
      </p:sp>
      <p:sp>
        <p:nvSpPr>
          <p:cNvPr id="34" name="a7_x2s_l"/>
          <p:cNvSpPr txBox="1"/>
          <p:nvPr/>
        </p:nvSpPr>
        <p:spPr>
          <a:xfrm>
            <a:off x="4526280" y="4114800"/>
            <a:ext cx="2743200" cy="411480"/>
          </a:xfrm>
          <a:prstGeom prst="rect">
            <a:avLst/>
          </a:prstGeom>
          <a:noFill/>
          <a:ln/>
        </p:spPr>
        <p:txBody>
          <a:bodyPr wrap="square" lIns="0" tIns="0" rIns="0" bIns="0" rtlCol="0" anchor="t"/>
          <a:lstStyle/>
          <a:p>
            <a:pPr marL="0" indent="0">
              <a:buNone/>
            </a:pPr>
            <a:r>
              <a:rPr lang="en-US" sz="1400" dirty="0">
                <a:solidFill>
                  <a:schemeClr val="accent5"/>
                </a:solidFill>
              </a:rPr>
              <a:t>unanswerable questions refused</a:t>
            </a:r>
            <a:endParaRPr lang="en-US" sz="1400" dirty="0"/>
          </a:p>
        </p:txBody>
      </p:sp>
      <p:sp>
        <p:nvSpPr>
          <p:cNvPr id="35" name="a8_x3"/>
          <p:cNvSpPr/>
          <p:nvPr/>
        </p:nvSpPr>
        <p:spPr>
          <a:xfrm>
            <a:off x="7589520" y="3429000"/>
            <a:ext cx="4050792" cy="1417320"/>
          </a:xfrm>
          <a:prstGeom prst="roundRect">
            <a:avLst>
              <a:gd name="adj" fmla="val 9032"/>
            </a:avLst>
          </a:prstGeom>
          <a:solidFill>
            <a:schemeClr val="accent3">
              <a:alpha val="12000"/>
            </a:schemeClr>
          </a:solidFill>
          <a:ln/>
        </p:spPr>
        <p:txBody>
          <a:bodyPr/>
          <a:lstStyle/>
          <a:p>
            <a:endParaRPr lang="en-US"/>
          </a:p>
        </p:txBody>
      </p:sp>
      <p:sp>
        <p:nvSpPr>
          <p:cNvPr id="36" name="a8_x3q"/>
          <p:cNvSpPr txBox="1"/>
          <p:nvPr/>
        </p:nvSpPr>
        <p:spPr>
          <a:xfrm>
            <a:off x="7818120" y="3566160"/>
            <a:ext cx="3657600" cy="457200"/>
          </a:xfrm>
          <a:prstGeom prst="rect">
            <a:avLst/>
          </a:prstGeom>
          <a:noFill/>
          <a:ln/>
        </p:spPr>
        <p:txBody>
          <a:bodyPr wrap="square" lIns="0" tIns="0" rIns="0" bIns="0" rtlCol="0" anchor="t"/>
          <a:lstStyle/>
          <a:p>
            <a:pPr marL="0" indent="0">
              <a:buNone/>
            </a:pPr>
            <a:r>
              <a:rPr lang="en-US" sz="1600" b="1" dirty="0">
                <a:solidFill>
                  <a:schemeClr val="tx2"/>
                </a:solidFill>
              </a:rPr>
              <a:t>“What is the price of each food?”</a:t>
            </a:r>
            <a:endParaRPr lang="en-US" sz="1600" dirty="0"/>
          </a:p>
        </p:txBody>
      </p:sp>
      <p:sp>
        <p:nvSpPr>
          <p:cNvPr id="37" name="a8_x3a"/>
          <p:cNvSpPr txBox="1"/>
          <p:nvPr/>
        </p:nvSpPr>
        <p:spPr>
          <a:xfrm>
            <a:off x="7818120" y="4114800"/>
            <a:ext cx="3657600" cy="502920"/>
          </a:xfrm>
          <a:prstGeom prst="rect">
            <a:avLst/>
          </a:prstGeom>
          <a:noFill/>
          <a:ln/>
        </p:spPr>
        <p:txBody>
          <a:bodyPr wrap="square" lIns="0" tIns="0" rIns="0" bIns="0" rtlCol="0" anchor="t"/>
          <a:lstStyle/>
          <a:p>
            <a:pPr marL="0" indent="0">
              <a:buNone/>
            </a:pPr>
            <a:r>
              <a:rPr lang="en-US" sz="2000" b="1" dirty="0">
                <a:solidFill>
                  <a:schemeClr val="accent3"/>
                </a:solidFill>
                <a:latin typeface="Consolas" pitchFamily="34" charset="0"/>
                <a:ea typeface="Consolas" pitchFamily="34" charset="-122"/>
                <a:cs typeface="Consolas" pitchFamily="34" charset="-120"/>
              </a:rPr>
              <a:t>→ REFUSE: price</a:t>
            </a:r>
            <a:endParaRPr lang="en-US" sz="2000" dirty="0"/>
          </a:p>
        </p:txBody>
      </p:sp>
      <p:pic>
        <p:nvPicPr>
          <p:cNvPr id="38" name="a9_desc_bg" descr="preencoded.png"/>
          <p:cNvPicPr>
            <a:picLocks noChangeAspect="1"/>
          </p:cNvPicPr>
          <p:nvPr/>
        </p:nvPicPr>
        <p:blipFill>
          <a:blip r:embed="rId8"/>
          <a:stretch>
            <a:fillRect/>
          </a:stretch>
        </p:blipFill>
        <p:spPr>
          <a:xfrm>
            <a:off x="548640" y="5029200"/>
            <a:ext cx="11091672" cy="1261872"/>
          </a:xfrm>
          <a:prstGeom prst="rect">
            <a:avLst/>
          </a:prstGeom>
          <a:effectLst>
            <a:outerShdw blurRad="152400" dist="25400" dir="5400000" algn="bl" rotWithShape="0">
              <a:srgbClr val="1B2A22">
                <a:alpha val="25000"/>
              </a:srgbClr>
            </a:outerShdw>
          </a:effectLst>
        </p:spPr>
      </p:pic>
      <p:sp>
        <p:nvSpPr>
          <p:cNvPr id="39" name="a9_desc_tx"/>
          <p:cNvSpPr txBox="1"/>
          <p:nvPr/>
        </p:nvSpPr>
        <p:spPr>
          <a:xfrm>
            <a:off x="914400" y="5029200"/>
            <a:ext cx="10360152" cy="1261872"/>
          </a:xfrm>
          <a:prstGeom prst="rect">
            <a:avLst/>
          </a:prstGeom>
          <a:noFill/>
          <a:ln/>
        </p:spPr>
        <p:txBody>
          <a:bodyPr wrap="square" lIns="0" tIns="0" rIns="0" bIns="0" rtlCol="0" anchor="ctr"/>
          <a:lstStyle/>
          <a:p>
            <a:pPr marL="0" indent="0">
              <a:lnSpc>
                <a:spcPct val="100000"/>
              </a:lnSpc>
              <a:buNone/>
            </a:pPr>
            <a:r>
              <a:rPr lang="en-US" sz="1400" dirty="0">
                <a:solidFill>
                  <a:schemeClr val="bg1"/>
                </a:solidFill>
              </a:rPr>
              <a:t>A question in English becomes a prompt with the graph’s description, our naming rules and the three closest example queries. Gemini writes one SPARQL query; we check that it uses only real classes and properties, let Gemini repair it up to two times, or refuse. On </a:t>
            </a:r>
            <a:r>
              <a:rPr lang="en-US" sz="1400" b="1" dirty="0">
                <a:solidFill>
                  <a:schemeClr val="accent6"/>
                </a:solidFill>
              </a:rPr>
              <a:t>11</a:t>
            </a:r>
            <a:r>
              <a:rPr lang="en-US" sz="1400" dirty="0">
                <a:solidFill>
                  <a:schemeClr val="bg1"/>
                </a:solidFill>
              </a:rPr>
              <a:t> test questions, examples raised the mean F1 from </a:t>
            </a:r>
            <a:r>
              <a:rPr lang="en-US" sz="1400" b="1" dirty="0">
                <a:solidFill>
                  <a:schemeClr val="accent6"/>
                </a:solidFill>
              </a:rPr>
              <a:t>0.856</a:t>
            </a:r>
            <a:r>
              <a:rPr lang="en-US" sz="1400" dirty="0">
                <a:solidFill>
                  <a:schemeClr val="bg1"/>
                </a:solidFill>
              </a:rPr>
              <a:t> to </a:t>
            </a:r>
            <a:r>
              <a:rPr lang="en-US" sz="1400" b="1" dirty="0">
                <a:solidFill>
                  <a:schemeClr val="accent6"/>
                </a:solidFill>
              </a:rPr>
              <a:t>0.954</a:t>
            </a:r>
            <a:r>
              <a:rPr lang="en-US" sz="1400" dirty="0">
                <a:solidFill>
                  <a:schemeClr val="bg1"/>
                </a:solidFill>
              </a:rPr>
              <a:t>, and all three unanswerable questions were refused with a reason.</a:t>
            </a:r>
            <a:endParaRPr lang="en-US" sz="1400" dirty="0"/>
          </a:p>
        </p:txBody>
      </p:sp>
      <p:sp>
        <p:nvSpPr>
          <p:cNvPr id="40" name="Slide Number Placeholder 0"/>
          <p:cNvSpPr>
            <a:spLocks noGrp="1"/>
          </p:cNvSpPr>
          <p:nvPr>
            <p:ph type="sldNum" sz="quarter" idx="4294967295"/>
          </p:nvPr>
        </p:nvSpPr>
        <p:spPr>
          <a:xfrm>
            <a:off x="11183112"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6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10" presetClass="entr" presetSubtype="0" fill="hold"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500"/>
                                        <p:tgtEl>
                                          <p:spTgt spid="8"/>
                                        </p:tgtEl>
                                      </p:cBhvr>
                                    </p:animEffect>
                                  </p:childTnLst>
                                </p:cTn>
                              </p:par>
                            </p:childTnLst>
                          </p:cTn>
                        </p:par>
                        <p:par>
                          <p:cTn id="25" fill="hold">
                            <p:stCondLst>
                              <p:cond delay="280"/>
                            </p:stCondLst>
                            <p:childTnLst>
                              <p:par>
                                <p:cTn id="26" presetID="22" presetClass="entr" presetSubtype="8" fill="hold" grpId="0" nodeType="after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wipe(left)">
                                      <p:cBhvr>
                                        <p:cTn id="28" dur="600"/>
                                        <p:tgtEl>
                                          <p:spTgt spid="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childTnLst>
                          </p:cTn>
                        </p:par>
                        <p:par>
                          <p:cTn id="41" fill="hold">
                            <p:stCondLst>
                              <p:cond delay="560"/>
                            </p:stCondLst>
                            <p:childTnLst>
                              <p:par>
                                <p:cTn id="42" presetID="22" presetClass="entr" presetSubtype="8" fill="hold" grpId="0" nodeType="after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wipe(left)">
                                      <p:cBhvr>
                                        <p:cTn id="44" dur="600"/>
                                        <p:tgtEl>
                                          <p:spTgt spid="14"/>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500"/>
                                        <p:tgtEl>
                                          <p:spTgt spid="15"/>
                                        </p:tgtEl>
                                      </p:cBhvr>
                                    </p:animEffect>
                                  </p:childTnLst>
                                </p:cTn>
                              </p:par>
                              <p:par>
                                <p:cTn id="48" presetID="10" presetClass="entr" presetSubtype="0" fill="hold" nodeType="with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500"/>
                                        <p:tgtEl>
                                          <p:spTgt spid="16"/>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500"/>
                                        <p:tgtEl>
                                          <p:spTgt spid="18"/>
                                        </p:tgtEl>
                                      </p:cBhvr>
                                    </p:animEffect>
                                  </p:childTnLst>
                                </p:cTn>
                              </p:par>
                            </p:childTnLst>
                          </p:cTn>
                        </p:par>
                        <p:par>
                          <p:cTn id="57" fill="hold">
                            <p:stCondLst>
                              <p:cond delay="840"/>
                            </p:stCondLst>
                            <p:childTnLst>
                              <p:par>
                                <p:cTn id="58" presetID="22" presetClass="entr" presetSubtype="8" fill="hold" grpId="0" nodeType="afterEffect">
                                  <p:stCondLst>
                                    <p:cond delay="0"/>
                                  </p:stCondLst>
                                  <p:childTnLst>
                                    <p:set>
                                      <p:cBhvr>
                                        <p:cTn id="59" dur="1" fill="hold">
                                          <p:stCondLst>
                                            <p:cond delay="0"/>
                                          </p:stCondLst>
                                        </p:cTn>
                                        <p:tgtEl>
                                          <p:spTgt spid="19"/>
                                        </p:tgtEl>
                                        <p:attrNameLst>
                                          <p:attrName>style.visibility</p:attrName>
                                        </p:attrNameLst>
                                      </p:cBhvr>
                                      <p:to>
                                        <p:strVal val="visible"/>
                                      </p:to>
                                    </p:set>
                                    <p:animEffect transition="in" filter="wipe(left)">
                                      <p:cBhvr>
                                        <p:cTn id="60" dur="600"/>
                                        <p:tgtEl>
                                          <p:spTgt spid="19"/>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fade">
                                      <p:cBhvr>
                                        <p:cTn id="63" dur="500"/>
                                        <p:tgtEl>
                                          <p:spTgt spid="20"/>
                                        </p:tgtEl>
                                      </p:cBhvr>
                                    </p:animEffect>
                                  </p:childTnLst>
                                </p:cTn>
                              </p:par>
                              <p:par>
                                <p:cTn id="64" presetID="10" presetClass="entr" presetSubtype="0" fill="hold" nodeType="withEffect">
                                  <p:stCondLst>
                                    <p:cond delay="0"/>
                                  </p:stCondLst>
                                  <p:childTnLst>
                                    <p:set>
                                      <p:cBhvr>
                                        <p:cTn id="65" dur="1" fill="hold">
                                          <p:stCondLst>
                                            <p:cond delay="0"/>
                                          </p:stCondLst>
                                        </p:cTn>
                                        <p:tgtEl>
                                          <p:spTgt spid="21"/>
                                        </p:tgtEl>
                                        <p:attrNameLst>
                                          <p:attrName>style.visibility</p:attrName>
                                        </p:attrNameLst>
                                      </p:cBhvr>
                                      <p:to>
                                        <p:strVal val="visible"/>
                                      </p:to>
                                    </p:set>
                                    <p:animEffect transition="in" filter="fade">
                                      <p:cBhvr>
                                        <p:cTn id="66" dur="500"/>
                                        <p:tgtEl>
                                          <p:spTgt spid="21"/>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fade">
                                      <p:cBhvr>
                                        <p:cTn id="69" dur="500"/>
                                        <p:tgtEl>
                                          <p:spTgt spid="22"/>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3"/>
                                        </p:tgtEl>
                                        <p:attrNameLst>
                                          <p:attrName>style.visibility</p:attrName>
                                        </p:attrNameLst>
                                      </p:cBhvr>
                                      <p:to>
                                        <p:strVal val="visible"/>
                                      </p:to>
                                    </p:set>
                                    <p:animEffect transition="in" filter="fade">
                                      <p:cBhvr>
                                        <p:cTn id="72" dur="500"/>
                                        <p:tgtEl>
                                          <p:spTgt spid="23"/>
                                        </p:tgtEl>
                                      </p:cBhvr>
                                    </p:animEffect>
                                  </p:childTnLst>
                                </p:cTn>
                              </p:par>
                            </p:childTnLst>
                          </p:cTn>
                        </p:par>
                        <p:par>
                          <p:cTn id="73" fill="hold">
                            <p:stCondLst>
                              <p:cond delay="1120"/>
                            </p:stCondLst>
                            <p:childTnLst>
                              <p:par>
                                <p:cTn id="74" presetID="22" presetClass="entr" presetSubtype="8" fill="hold" grpId="0" nodeType="afterEffect">
                                  <p:stCondLst>
                                    <p:cond delay="0"/>
                                  </p:stCondLst>
                                  <p:childTnLst>
                                    <p:set>
                                      <p:cBhvr>
                                        <p:cTn id="75" dur="1" fill="hold">
                                          <p:stCondLst>
                                            <p:cond delay="0"/>
                                          </p:stCondLst>
                                        </p:cTn>
                                        <p:tgtEl>
                                          <p:spTgt spid="24"/>
                                        </p:tgtEl>
                                        <p:attrNameLst>
                                          <p:attrName>style.visibility</p:attrName>
                                        </p:attrNameLst>
                                      </p:cBhvr>
                                      <p:to>
                                        <p:strVal val="visible"/>
                                      </p:to>
                                    </p:set>
                                    <p:animEffect transition="in" filter="wipe(left)">
                                      <p:cBhvr>
                                        <p:cTn id="76" dur="600"/>
                                        <p:tgtEl>
                                          <p:spTgt spid="24"/>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500"/>
                                        <p:tgtEl>
                                          <p:spTgt spid="25"/>
                                        </p:tgtEl>
                                      </p:cBhvr>
                                    </p:animEffect>
                                  </p:childTnLst>
                                </p:cTn>
                              </p:par>
                              <p:par>
                                <p:cTn id="80" presetID="10" presetClass="entr" presetSubtype="0" fill="hold" nodeType="with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5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5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500"/>
                                        <p:tgtEl>
                                          <p:spTgt spid="28"/>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29"/>
                                        </p:tgtEl>
                                        <p:attrNameLst>
                                          <p:attrName>style.visibility</p:attrName>
                                        </p:attrNameLst>
                                      </p:cBhvr>
                                      <p:to>
                                        <p:strVal val="visible"/>
                                      </p:to>
                                    </p:set>
                                    <p:animEffect transition="in" filter="wipe(left)">
                                      <p:cBhvr>
                                        <p:cTn id="93" dur="600"/>
                                        <p:tgtEl>
                                          <p:spTgt spid="29"/>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5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500"/>
                                        <p:tgtEl>
                                          <p:spTgt spid="31"/>
                                        </p:tgtEl>
                                      </p:cBhvr>
                                    </p:animEffect>
                                  </p:childTnLst>
                                </p:cTn>
                              </p:par>
                            </p:childTnLst>
                          </p:cTn>
                        </p:par>
                        <p:par>
                          <p:cTn id="100" fill="hold">
                            <p:stCondLst>
                              <p:cond delay="280"/>
                            </p:stCondLst>
                            <p:childTnLst>
                              <p:par>
                                <p:cTn id="101" presetID="22" presetClass="entr" presetSubtype="8" fill="hold" grpId="0" nodeType="afterEffect">
                                  <p:stCondLst>
                                    <p:cond delay="0"/>
                                  </p:stCondLst>
                                  <p:childTnLst>
                                    <p:set>
                                      <p:cBhvr>
                                        <p:cTn id="102" dur="1" fill="hold">
                                          <p:stCondLst>
                                            <p:cond delay="0"/>
                                          </p:stCondLst>
                                        </p:cTn>
                                        <p:tgtEl>
                                          <p:spTgt spid="32"/>
                                        </p:tgtEl>
                                        <p:attrNameLst>
                                          <p:attrName>style.visibility</p:attrName>
                                        </p:attrNameLst>
                                      </p:cBhvr>
                                      <p:to>
                                        <p:strVal val="visible"/>
                                      </p:to>
                                    </p:set>
                                    <p:animEffect transition="in" filter="wipe(left)">
                                      <p:cBhvr>
                                        <p:cTn id="103" dur="600"/>
                                        <p:tgtEl>
                                          <p:spTgt spid="32"/>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fade">
                                      <p:cBhvr>
                                        <p:cTn id="106" dur="500"/>
                                        <p:tgtEl>
                                          <p:spTgt spid="33"/>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34"/>
                                        </p:tgtEl>
                                        <p:attrNameLst>
                                          <p:attrName>style.visibility</p:attrName>
                                        </p:attrNameLst>
                                      </p:cBhvr>
                                      <p:to>
                                        <p:strVal val="visible"/>
                                      </p:to>
                                    </p:set>
                                    <p:animEffect transition="in" filter="fade">
                                      <p:cBhvr>
                                        <p:cTn id="109" dur="500"/>
                                        <p:tgtEl>
                                          <p:spTgt spid="34"/>
                                        </p:tgtEl>
                                      </p:cBhvr>
                                    </p:animEffect>
                                  </p:childTnLst>
                                </p:cTn>
                              </p:par>
                            </p:childTnLst>
                          </p:cTn>
                        </p:par>
                        <p:par>
                          <p:cTn id="110" fill="hold">
                            <p:stCondLst>
                              <p:cond delay="560"/>
                            </p:stCondLst>
                            <p:childTnLst>
                              <p:par>
                                <p:cTn id="111" presetID="22" presetClass="entr" presetSubtype="8" fill="hold" grpId="0" nodeType="afterEffect">
                                  <p:stCondLst>
                                    <p:cond delay="0"/>
                                  </p:stCondLst>
                                  <p:childTnLst>
                                    <p:set>
                                      <p:cBhvr>
                                        <p:cTn id="112" dur="1" fill="hold">
                                          <p:stCondLst>
                                            <p:cond delay="0"/>
                                          </p:stCondLst>
                                        </p:cTn>
                                        <p:tgtEl>
                                          <p:spTgt spid="35"/>
                                        </p:tgtEl>
                                        <p:attrNameLst>
                                          <p:attrName>style.visibility</p:attrName>
                                        </p:attrNameLst>
                                      </p:cBhvr>
                                      <p:to>
                                        <p:strVal val="visible"/>
                                      </p:to>
                                    </p:set>
                                    <p:animEffect transition="in" filter="wipe(left)">
                                      <p:cBhvr>
                                        <p:cTn id="113" dur="600"/>
                                        <p:tgtEl>
                                          <p:spTgt spid="3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36"/>
                                        </p:tgtEl>
                                        <p:attrNameLst>
                                          <p:attrName>style.visibility</p:attrName>
                                        </p:attrNameLst>
                                      </p:cBhvr>
                                      <p:to>
                                        <p:strVal val="visible"/>
                                      </p:to>
                                    </p:set>
                                    <p:animEffect transition="in" filter="fade">
                                      <p:cBhvr>
                                        <p:cTn id="116" dur="500"/>
                                        <p:tgtEl>
                                          <p:spTgt spid="36"/>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37"/>
                                        </p:tgtEl>
                                        <p:attrNameLst>
                                          <p:attrName>style.visibility</p:attrName>
                                        </p:attrNameLst>
                                      </p:cBhvr>
                                      <p:to>
                                        <p:strVal val="visible"/>
                                      </p:to>
                                    </p:set>
                                    <p:animEffect transition="in" filter="fade">
                                      <p:cBhvr>
                                        <p:cTn id="119" dur="500"/>
                                        <p:tgtEl>
                                          <p:spTgt spid="37"/>
                                        </p:tgtEl>
                                      </p:cBhvr>
                                    </p:animEffect>
                                  </p:childTnLst>
                                </p:cTn>
                              </p:par>
                            </p:childTnLst>
                          </p:cTn>
                        </p:par>
                      </p:childTnLst>
                    </p:cTn>
                  </p:par>
                  <p:par>
                    <p:cTn id="120" fill="hold">
                      <p:stCondLst>
                        <p:cond delay="indefinite"/>
                      </p:stCondLst>
                      <p:childTnLst>
                        <p:par>
                          <p:cTn id="121" fill="hold">
                            <p:stCondLst>
                              <p:cond delay="0"/>
                            </p:stCondLst>
                            <p:childTnLst>
                              <p:par>
                                <p:cTn id="122" presetID="22" presetClass="entr" presetSubtype="8" fill="hold" nodeType="clickEffect">
                                  <p:stCondLst>
                                    <p:cond delay="0"/>
                                  </p:stCondLst>
                                  <p:childTnLst>
                                    <p:set>
                                      <p:cBhvr>
                                        <p:cTn id="123" dur="1" fill="hold">
                                          <p:stCondLst>
                                            <p:cond delay="0"/>
                                          </p:stCondLst>
                                        </p:cTn>
                                        <p:tgtEl>
                                          <p:spTgt spid="38"/>
                                        </p:tgtEl>
                                        <p:attrNameLst>
                                          <p:attrName>style.visibility</p:attrName>
                                        </p:attrNameLst>
                                      </p:cBhvr>
                                      <p:to>
                                        <p:strVal val="visible"/>
                                      </p:to>
                                    </p:set>
                                    <p:animEffect transition="in" filter="wipe(left)">
                                      <p:cBhvr>
                                        <p:cTn id="124" dur="600"/>
                                        <p:tgtEl>
                                          <p:spTgt spid="38"/>
                                        </p:tgtEl>
                                      </p:cBhvr>
                                    </p:animEffect>
                                  </p:childTnLst>
                                </p:cTn>
                              </p:par>
                              <p:par>
                                <p:cTn id="125" presetID="10" presetClass="entr" presetSubtype="0" fill="hold" grpId="0" nodeType="withEffect">
                                  <p:stCondLst>
                                    <p:cond delay="0"/>
                                  </p:stCondLst>
                                  <p:childTnLst>
                                    <p:set>
                                      <p:cBhvr>
                                        <p:cTn id="126" dur="1" fill="hold">
                                          <p:stCondLst>
                                            <p:cond delay="0"/>
                                          </p:stCondLst>
                                        </p:cTn>
                                        <p:tgtEl>
                                          <p:spTgt spid="39"/>
                                        </p:tgtEl>
                                        <p:attrNameLst>
                                          <p:attrName>style.visibility</p:attrName>
                                        </p:attrNameLst>
                                      </p:cBhvr>
                                      <p:to>
                                        <p:strVal val="visible"/>
                                      </p:to>
                                    </p:set>
                                    <p:animEffect transition="in" filter="fade">
                                      <p:cBhvr>
                                        <p:cTn id="127"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47472"/>
            <a:ext cx="9052560" cy="640080"/>
          </a:xfrm>
          <a:prstGeom prst="rect">
            <a:avLst/>
          </a:prstGeom>
          <a:noFill/>
          <a:ln/>
        </p:spPr>
        <p:txBody>
          <a:bodyPr wrap="square" lIns="0" tIns="0" rIns="0" bIns="0" rtlCol="0" anchor="t"/>
          <a:lstStyle/>
          <a:p>
            <a:pPr marL="0" indent="0" algn="l">
              <a:buNone/>
            </a:pPr>
            <a:r>
              <a:rPr lang="en-US" sz="3400" b="1" dirty="0">
                <a:solidFill>
                  <a:schemeClr val="tx2"/>
                </a:solidFill>
              </a:rPr>
              <a:t>Deployment and reproducibility</a:t>
            </a:r>
            <a:endParaRPr lang="en-US" sz="3400" dirty="0"/>
          </a:p>
        </p:txBody>
      </p:sp>
      <p:sp>
        <p:nvSpPr>
          <p:cNvPr id="3" name="Text 0"/>
          <p:cNvSpPr>
            <a:spLocks noGrp="1"/>
          </p:cNvSpPr>
          <p:nvPr>
            <p:ph type="body" idx="101" hasCustomPrompt="1"/>
          </p:nvPr>
        </p:nvSpPr>
        <p:spPr>
          <a:xfrm>
            <a:off x="548640" y="987552"/>
            <a:ext cx="9326880" cy="411480"/>
          </a:xfrm>
          <a:prstGeom prst="rect">
            <a:avLst/>
          </a:prstGeom>
          <a:noFill/>
          <a:ln/>
        </p:spPr>
        <p:txBody>
          <a:bodyPr wrap="square" lIns="0" tIns="0" rIns="0" bIns="0" rtlCol="0" anchor="t"/>
          <a:lstStyle/>
          <a:p>
            <a:pPr marL="0" indent="0">
              <a:buNone/>
            </a:pPr>
            <a:r>
              <a:rPr lang="en-US" sz="1900" dirty="0">
                <a:solidFill>
                  <a:schemeClr val="accent2"/>
                </a:solidFill>
              </a:rPr>
              <a:t>One command, from a clean checkout</a:t>
            </a:r>
            <a:endParaRPr lang="en-US" sz="1900" dirty="0"/>
          </a:p>
        </p:txBody>
      </p:sp>
      <p:sp>
        <p:nvSpPr>
          <p:cNvPr id="4" name="a0_chip"/>
          <p:cNvSpPr txBox="1"/>
          <p:nvPr/>
        </p:nvSpPr>
        <p:spPr>
          <a:xfrm>
            <a:off x="9720072" y="411480"/>
            <a:ext cx="1920240" cy="384048"/>
          </a:xfrm>
          <a:prstGeom prst="roundRect">
            <a:avLst>
              <a:gd name="adj" fmla="val 50000"/>
            </a:avLst>
          </a:prstGeom>
          <a:solidFill>
            <a:schemeClr val="bg1"/>
          </a:solidFill>
          <a:ln w="12700">
            <a:solidFill>
              <a:schemeClr val="accent4"/>
            </a:solidFill>
          </a:ln>
        </p:spPr>
        <p:txBody>
          <a:bodyPr wrap="square" lIns="0" tIns="0" rIns="0" bIns="0" rtlCol="0" anchor="ctr"/>
          <a:lstStyle/>
          <a:p>
            <a:pPr marL="0" indent="0" algn="ctr">
              <a:buNone/>
            </a:pPr>
            <a:r>
              <a:rPr lang="en-US" sz="1300" b="1" dirty="0">
                <a:solidFill>
                  <a:schemeClr val="accent1"/>
                </a:solidFill>
                <a:latin typeface="Consolas" pitchFamily="34" charset="0"/>
                <a:ea typeface="Consolas" pitchFamily="34" charset="-122"/>
                <a:cs typeface="Consolas" pitchFamily="34" charset="-120"/>
              </a:rPr>
              <a:t>docker-compose</a:t>
            </a:r>
            <a:endParaRPr lang="en-US" sz="1300" dirty="0"/>
          </a:p>
        </p:txBody>
      </p:sp>
      <p:sp>
        <p:nvSpPr>
          <p:cNvPr id="5" name="a1_cmd_bg"/>
          <p:cNvSpPr/>
          <p:nvPr/>
        </p:nvSpPr>
        <p:spPr>
          <a:xfrm>
            <a:off x="548640" y="1645920"/>
            <a:ext cx="5852160" cy="685800"/>
          </a:xfrm>
          <a:prstGeom prst="roundRect">
            <a:avLst>
              <a:gd name="adj" fmla="val 18667"/>
            </a:avLst>
          </a:prstGeom>
          <a:solidFill>
            <a:schemeClr val="tx1"/>
          </a:solidFill>
          <a:ln/>
          <a:effectLst>
            <a:outerShdw blurRad="127000" dist="25400" dir="5400000" algn="bl" rotWithShape="0">
              <a:srgbClr val="1B2A22">
                <a:alpha val="14000"/>
              </a:srgbClr>
            </a:outerShdw>
          </a:effectLst>
        </p:spPr>
        <p:txBody>
          <a:bodyPr/>
          <a:lstStyle/>
          <a:p>
            <a:endParaRPr lang="en-US"/>
          </a:p>
        </p:txBody>
      </p:sp>
      <p:sp>
        <p:nvSpPr>
          <p:cNvPr id="6" name="a1_cmd_tx"/>
          <p:cNvSpPr txBox="1"/>
          <p:nvPr/>
        </p:nvSpPr>
        <p:spPr>
          <a:xfrm>
            <a:off x="868680" y="1645920"/>
            <a:ext cx="5212080" cy="685800"/>
          </a:xfrm>
          <a:prstGeom prst="rect">
            <a:avLst/>
          </a:prstGeom>
          <a:noFill/>
          <a:ln/>
        </p:spPr>
        <p:txBody>
          <a:bodyPr wrap="square" lIns="0" tIns="0" rIns="0" bIns="0" rtlCol="0" anchor="ctr"/>
          <a:lstStyle/>
          <a:p>
            <a:pPr marL="0" indent="0">
              <a:buNone/>
            </a:pPr>
            <a:r>
              <a:rPr lang="en-US" sz="2200" b="1" dirty="0">
                <a:solidFill>
                  <a:schemeClr val="accent4"/>
                </a:solidFill>
                <a:latin typeface="Consolas" pitchFamily="34" charset="0"/>
                <a:ea typeface="Consolas" pitchFamily="34" charset="-122"/>
                <a:cs typeface="Consolas" pitchFamily="34" charset="-120"/>
              </a:rPr>
              <a:t>docker compose up --build</a:t>
            </a:r>
            <a:endParaRPr lang="en-US" sz="2200" dirty="0"/>
          </a:p>
        </p:txBody>
      </p:sp>
      <p:sp>
        <p:nvSpPr>
          <p:cNvPr id="7" name="a2_sv0"/>
          <p:cNvSpPr/>
          <p:nvPr/>
        </p:nvSpPr>
        <p:spPr>
          <a:xfrm>
            <a:off x="548640" y="2514600"/>
            <a:ext cx="5852160" cy="658368"/>
          </a:xfrm>
          <a:prstGeom prst="roundRect">
            <a:avLst>
              <a:gd name="adj" fmla="val 19444"/>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8" name="a2_svb0_c"/>
          <p:cNvSpPr/>
          <p:nvPr/>
        </p:nvSpPr>
        <p:spPr>
          <a:xfrm>
            <a:off x="685800" y="2587752"/>
            <a:ext cx="512064" cy="512064"/>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9" name="a2_svb0_i" descr="preencoded.png"/>
          <p:cNvPicPr>
            <a:picLocks noChangeAspect="1"/>
          </p:cNvPicPr>
          <p:nvPr/>
        </p:nvPicPr>
        <p:blipFill>
          <a:blip r:embed="rId3"/>
          <a:stretch>
            <a:fillRect/>
          </a:stretch>
        </p:blipFill>
        <p:spPr>
          <a:xfrm>
            <a:off x="813816" y="2715768"/>
            <a:ext cx="256032" cy="256032"/>
          </a:xfrm>
          <a:prstGeom prst="rect">
            <a:avLst/>
          </a:prstGeom>
        </p:spPr>
      </p:pic>
      <p:sp>
        <p:nvSpPr>
          <p:cNvPr id="10" name="a2_svt0"/>
          <p:cNvSpPr txBox="1"/>
          <p:nvPr/>
        </p:nvSpPr>
        <p:spPr>
          <a:xfrm>
            <a:off x="1371600" y="2514600"/>
            <a:ext cx="4892040" cy="658368"/>
          </a:xfrm>
          <a:prstGeom prst="rect">
            <a:avLst/>
          </a:prstGeom>
          <a:noFill/>
          <a:ln/>
        </p:spPr>
        <p:txBody>
          <a:bodyPr wrap="square" lIns="0" tIns="0" rIns="0" bIns="0" rtlCol="0" anchor="ctr"/>
          <a:lstStyle/>
          <a:p>
            <a:pPr marL="0" indent="0">
              <a:buNone/>
            </a:pPr>
            <a:r>
              <a:rPr lang="en-US" sz="1500" b="1" dirty="0">
                <a:solidFill>
                  <a:schemeClr val="tx2"/>
                </a:solidFill>
              </a:rPr>
              <a:t>fuseki   </a:t>
            </a:r>
            <a:r>
              <a:rPr lang="en-US" sz="1500" dirty="0">
                <a:solidFill>
                  <a:schemeClr val="accent5"/>
                </a:solidFill>
              </a:rPr>
              <a:t>SPARQL endpoint on 127.0.0.1:3030</a:t>
            </a:r>
            <a:endParaRPr lang="en-US" sz="1500" dirty="0"/>
          </a:p>
        </p:txBody>
      </p:sp>
      <p:sp>
        <p:nvSpPr>
          <p:cNvPr id="11" name="a3_sv1"/>
          <p:cNvSpPr/>
          <p:nvPr/>
        </p:nvSpPr>
        <p:spPr>
          <a:xfrm>
            <a:off x="548640" y="3300984"/>
            <a:ext cx="5852160" cy="658368"/>
          </a:xfrm>
          <a:prstGeom prst="roundRect">
            <a:avLst>
              <a:gd name="adj" fmla="val 19444"/>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12" name="a3_svb1_c"/>
          <p:cNvSpPr/>
          <p:nvPr/>
        </p:nvSpPr>
        <p:spPr>
          <a:xfrm>
            <a:off x="685800" y="3374136"/>
            <a:ext cx="512064" cy="512064"/>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13" name="a3_svb1_i" descr="preencoded.png"/>
          <p:cNvPicPr>
            <a:picLocks noChangeAspect="1"/>
          </p:cNvPicPr>
          <p:nvPr/>
        </p:nvPicPr>
        <p:blipFill>
          <a:blip r:embed="rId4"/>
          <a:stretch>
            <a:fillRect/>
          </a:stretch>
        </p:blipFill>
        <p:spPr>
          <a:xfrm>
            <a:off x="813816" y="3502152"/>
            <a:ext cx="256032" cy="256032"/>
          </a:xfrm>
          <a:prstGeom prst="rect">
            <a:avLst/>
          </a:prstGeom>
        </p:spPr>
      </p:pic>
      <p:sp>
        <p:nvSpPr>
          <p:cNvPr id="14" name="a3_svt1"/>
          <p:cNvSpPr txBox="1"/>
          <p:nvPr/>
        </p:nvSpPr>
        <p:spPr>
          <a:xfrm>
            <a:off x="1371600" y="3300984"/>
            <a:ext cx="4892040" cy="658368"/>
          </a:xfrm>
          <a:prstGeom prst="rect">
            <a:avLst/>
          </a:prstGeom>
          <a:noFill/>
          <a:ln/>
        </p:spPr>
        <p:txBody>
          <a:bodyPr wrap="square" lIns="0" tIns="0" rIns="0" bIns="0" rtlCol="0" anchor="ctr"/>
          <a:lstStyle/>
          <a:p>
            <a:pPr marL="0" indent="0">
              <a:buNone/>
            </a:pPr>
            <a:r>
              <a:rPr lang="en-US" sz="1500" b="1" dirty="0">
                <a:solidFill>
                  <a:schemeClr val="tx2"/>
                </a:solidFill>
              </a:rPr>
              <a:t>pipeline   </a:t>
            </a:r>
            <a:r>
              <a:rPr lang="en-US" sz="1500" dirty="0">
                <a:solidFill>
                  <a:schemeClr val="accent5"/>
                </a:solidFill>
              </a:rPr>
              <a:t>runs once; stops the stack on a Violation</a:t>
            </a:r>
            <a:endParaRPr lang="en-US" sz="1500" dirty="0"/>
          </a:p>
        </p:txBody>
      </p:sp>
      <p:sp>
        <p:nvSpPr>
          <p:cNvPr id="15" name="a4_sv2"/>
          <p:cNvSpPr/>
          <p:nvPr/>
        </p:nvSpPr>
        <p:spPr>
          <a:xfrm>
            <a:off x="548640" y="4087368"/>
            <a:ext cx="5852160" cy="658368"/>
          </a:xfrm>
          <a:prstGeom prst="roundRect">
            <a:avLst>
              <a:gd name="adj" fmla="val 19444"/>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16" name="a4_svb2_c"/>
          <p:cNvSpPr/>
          <p:nvPr/>
        </p:nvSpPr>
        <p:spPr>
          <a:xfrm>
            <a:off x="685800" y="4160520"/>
            <a:ext cx="512064" cy="512064"/>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17" name="a4_svb2_i" descr="preencoded.png"/>
          <p:cNvPicPr>
            <a:picLocks noChangeAspect="1"/>
          </p:cNvPicPr>
          <p:nvPr/>
        </p:nvPicPr>
        <p:blipFill>
          <a:blip r:embed="rId5"/>
          <a:stretch>
            <a:fillRect/>
          </a:stretch>
        </p:blipFill>
        <p:spPr>
          <a:xfrm>
            <a:off x="813816" y="4288536"/>
            <a:ext cx="256032" cy="256032"/>
          </a:xfrm>
          <a:prstGeom prst="rect">
            <a:avLst/>
          </a:prstGeom>
        </p:spPr>
      </p:pic>
      <p:sp>
        <p:nvSpPr>
          <p:cNvPr id="18" name="a4_svt2"/>
          <p:cNvSpPr txBox="1"/>
          <p:nvPr/>
        </p:nvSpPr>
        <p:spPr>
          <a:xfrm>
            <a:off x="1371600" y="4087368"/>
            <a:ext cx="4892040" cy="658368"/>
          </a:xfrm>
          <a:prstGeom prst="rect">
            <a:avLst/>
          </a:prstGeom>
          <a:noFill/>
          <a:ln/>
        </p:spPr>
        <p:txBody>
          <a:bodyPr wrap="square" lIns="0" tIns="0" rIns="0" bIns="0" rtlCol="0" anchor="ctr"/>
          <a:lstStyle/>
          <a:p>
            <a:pPr marL="0" indent="0">
              <a:buNone/>
            </a:pPr>
            <a:r>
              <a:rPr lang="en-US" sz="1500" b="1" dirty="0">
                <a:solidFill>
                  <a:schemeClr val="tx2"/>
                </a:solidFill>
              </a:rPr>
              <a:t>access-layer   </a:t>
            </a:r>
            <a:r>
              <a:rPr lang="en-US" sz="1500" dirty="0">
                <a:solidFill>
                  <a:schemeClr val="accent5"/>
                </a:solidFill>
              </a:rPr>
              <a:t>questions and web page on 127.0.0.1:8000</a:t>
            </a:r>
            <a:endParaRPr lang="en-US" sz="1500" dirty="0"/>
          </a:p>
        </p:txBody>
      </p:sp>
      <p:sp>
        <p:nvSpPr>
          <p:cNvPr id="19" name="a5_ck0_c"/>
          <p:cNvSpPr/>
          <p:nvPr/>
        </p:nvSpPr>
        <p:spPr>
          <a:xfrm>
            <a:off x="6858000" y="1645920"/>
            <a:ext cx="347472" cy="347472"/>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20" name="a5_ck0_i" descr="preencoded.png"/>
          <p:cNvPicPr>
            <a:picLocks noChangeAspect="1"/>
          </p:cNvPicPr>
          <p:nvPr/>
        </p:nvPicPr>
        <p:blipFill>
          <a:blip r:embed="rId6"/>
          <a:stretch>
            <a:fillRect/>
          </a:stretch>
        </p:blipFill>
        <p:spPr>
          <a:xfrm>
            <a:off x="6944868" y="1732788"/>
            <a:ext cx="173736" cy="173736"/>
          </a:xfrm>
          <a:prstGeom prst="rect">
            <a:avLst/>
          </a:prstGeom>
        </p:spPr>
      </p:pic>
      <p:sp>
        <p:nvSpPr>
          <p:cNvPr id="21" name="a5_ckt0"/>
          <p:cNvSpPr txBox="1"/>
          <p:nvPr/>
        </p:nvSpPr>
        <p:spPr>
          <a:xfrm>
            <a:off x="7360920" y="1609344"/>
            <a:ext cx="4251960" cy="420624"/>
          </a:xfrm>
          <a:prstGeom prst="rect">
            <a:avLst/>
          </a:prstGeom>
          <a:noFill/>
          <a:ln/>
        </p:spPr>
        <p:txBody>
          <a:bodyPr wrap="square" lIns="0" tIns="0" rIns="0" bIns="0" rtlCol="0" anchor="ctr"/>
          <a:lstStyle/>
          <a:p>
            <a:pPr marL="0" indent="0">
              <a:buNone/>
            </a:pPr>
            <a:r>
              <a:rPr lang="en-US" sz="1500" dirty="0">
                <a:solidFill>
                  <a:schemeClr val="tx2"/>
                </a:solidFill>
              </a:rPr>
              <a:t>One command from a clean checkout</a:t>
            </a:r>
            <a:endParaRPr lang="en-US" sz="1500" dirty="0"/>
          </a:p>
        </p:txBody>
      </p:sp>
      <p:sp>
        <p:nvSpPr>
          <p:cNvPr id="22" name="a5_ck1_c"/>
          <p:cNvSpPr/>
          <p:nvPr/>
        </p:nvSpPr>
        <p:spPr>
          <a:xfrm>
            <a:off x="6858000" y="2103120"/>
            <a:ext cx="347472" cy="347472"/>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23" name="a5_ck1_i" descr="preencoded.png"/>
          <p:cNvPicPr>
            <a:picLocks noChangeAspect="1"/>
          </p:cNvPicPr>
          <p:nvPr/>
        </p:nvPicPr>
        <p:blipFill>
          <a:blip r:embed="rId6"/>
          <a:stretch>
            <a:fillRect/>
          </a:stretch>
        </p:blipFill>
        <p:spPr>
          <a:xfrm>
            <a:off x="6944868" y="2189988"/>
            <a:ext cx="173736" cy="173736"/>
          </a:xfrm>
          <a:prstGeom prst="rect">
            <a:avLst/>
          </a:prstGeom>
        </p:spPr>
      </p:pic>
      <p:sp>
        <p:nvSpPr>
          <p:cNvPr id="24" name="a5_ckt1"/>
          <p:cNvSpPr txBox="1"/>
          <p:nvPr/>
        </p:nvSpPr>
        <p:spPr>
          <a:xfrm>
            <a:off x="7360920" y="2066544"/>
            <a:ext cx="4251960" cy="420624"/>
          </a:xfrm>
          <a:prstGeom prst="rect">
            <a:avLst/>
          </a:prstGeom>
          <a:noFill/>
          <a:ln/>
        </p:spPr>
        <p:txBody>
          <a:bodyPr wrap="square" lIns="0" tIns="0" rIns="0" bIns="0" rtlCol="0" anchor="ctr"/>
          <a:lstStyle/>
          <a:p>
            <a:pPr marL="0" indent="0">
              <a:buNone/>
            </a:pPr>
            <a:r>
              <a:rPr lang="en-US" sz="1500" dirty="0">
                <a:solidFill>
                  <a:schemeClr val="tx2"/>
                </a:solidFill>
              </a:rPr>
              <a:t>Ports on 127.0.0.1 only</a:t>
            </a:r>
            <a:endParaRPr lang="en-US" sz="1500" dirty="0"/>
          </a:p>
        </p:txBody>
      </p:sp>
      <p:sp>
        <p:nvSpPr>
          <p:cNvPr id="25" name="a6_ck2_c"/>
          <p:cNvSpPr/>
          <p:nvPr/>
        </p:nvSpPr>
        <p:spPr>
          <a:xfrm>
            <a:off x="6858000" y="2560320"/>
            <a:ext cx="347472" cy="347472"/>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26" name="a6_ck2_i" descr="preencoded.png"/>
          <p:cNvPicPr>
            <a:picLocks noChangeAspect="1"/>
          </p:cNvPicPr>
          <p:nvPr/>
        </p:nvPicPr>
        <p:blipFill>
          <a:blip r:embed="rId6"/>
          <a:stretch>
            <a:fillRect/>
          </a:stretch>
        </p:blipFill>
        <p:spPr>
          <a:xfrm>
            <a:off x="6944868" y="2647188"/>
            <a:ext cx="173736" cy="173736"/>
          </a:xfrm>
          <a:prstGeom prst="rect">
            <a:avLst/>
          </a:prstGeom>
        </p:spPr>
      </p:pic>
      <p:sp>
        <p:nvSpPr>
          <p:cNvPr id="27" name="a6_ckt2"/>
          <p:cNvSpPr txBox="1"/>
          <p:nvPr/>
        </p:nvSpPr>
        <p:spPr>
          <a:xfrm>
            <a:off x="7360920" y="2523744"/>
            <a:ext cx="4251960" cy="420624"/>
          </a:xfrm>
          <a:prstGeom prst="rect">
            <a:avLst/>
          </a:prstGeom>
          <a:noFill/>
          <a:ln/>
        </p:spPr>
        <p:txBody>
          <a:bodyPr wrap="square" lIns="0" tIns="0" rIns="0" bIns="0" rtlCol="0" anchor="ctr"/>
          <a:lstStyle/>
          <a:p>
            <a:pPr marL="0" indent="0">
              <a:buNone/>
            </a:pPr>
            <a:r>
              <a:rPr lang="en-US" sz="1500" dirty="0">
                <a:solidFill>
                  <a:schemeClr val="tx2"/>
                </a:solidFill>
              </a:rPr>
              <a:t>Keys only in .env, never committed</a:t>
            </a:r>
            <a:endParaRPr lang="en-US" sz="1500" dirty="0"/>
          </a:p>
        </p:txBody>
      </p:sp>
      <p:sp>
        <p:nvSpPr>
          <p:cNvPr id="28" name="a6_ck3_c"/>
          <p:cNvSpPr/>
          <p:nvPr/>
        </p:nvSpPr>
        <p:spPr>
          <a:xfrm>
            <a:off x="6858000" y="3017520"/>
            <a:ext cx="347472" cy="347472"/>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29" name="a6_ck3_i" descr="preencoded.png"/>
          <p:cNvPicPr>
            <a:picLocks noChangeAspect="1"/>
          </p:cNvPicPr>
          <p:nvPr/>
        </p:nvPicPr>
        <p:blipFill>
          <a:blip r:embed="rId6"/>
          <a:stretch>
            <a:fillRect/>
          </a:stretch>
        </p:blipFill>
        <p:spPr>
          <a:xfrm>
            <a:off x="6944868" y="3104388"/>
            <a:ext cx="173736" cy="173736"/>
          </a:xfrm>
          <a:prstGeom prst="rect">
            <a:avLst/>
          </a:prstGeom>
        </p:spPr>
      </p:pic>
      <p:sp>
        <p:nvSpPr>
          <p:cNvPr id="30" name="a6_ckt3"/>
          <p:cNvSpPr txBox="1"/>
          <p:nvPr/>
        </p:nvSpPr>
        <p:spPr>
          <a:xfrm>
            <a:off x="7360920" y="2980944"/>
            <a:ext cx="4251960" cy="420624"/>
          </a:xfrm>
          <a:prstGeom prst="rect">
            <a:avLst/>
          </a:prstGeom>
          <a:noFill/>
          <a:ln/>
        </p:spPr>
        <p:txBody>
          <a:bodyPr wrap="square" lIns="0" tIns="0" rIns="0" bIns="0" rtlCol="0" anchor="ctr"/>
          <a:lstStyle/>
          <a:p>
            <a:pPr marL="0" indent="0">
              <a:buNone/>
            </a:pPr>
            <a:r>
              <a:rPr lang="en-US" sz="1500" dirty="0">
                <a:solidFill>
                  <a:schemeClr val="tx2"/>
                </a:solidFill>
              </a:rPr>
              <a:t>SHACL gate before the endpoint and in CI</a:t>
            </a:r>
            <a:endParaRPr lang="en-US" sz="1500" dirty="0"/>
          </a:p>
        </p:txBody>
      </p:sp>
      <p:sp>
        <p:nvSpPr>
          <p:cNvPr id="31" name="a7_ck4_c"/>
          <p:cNvSpPr/>
          <p:nvPr/>
        </p:nvSpPr>
        <p:spPr>
          <a:xfrm>
            <a:off x="6858000" y="3474720"/>
            <a:ext cx="347472" cy="347472"/>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32" name="a7_ck4_i" descr="preencoded.png"/>
          <p:cNvPicPr>
            <a:picLocks noChangeAspect="1"/>
          </p:cNvPicPr>
          <p:nvPr/>
        </p:nvPicPr>
        <p:blipFill>
          <a:blip r:embed="rId6"/>
          <a:stretch>
            <a:fillRect/>
          </a:stretch>
        </p:blipFill>
        <p:spPr>
          <a:xfrm>
            <a:off x="6944868" y="3561588"/>
            <a:ext cx="173736" cy="173736"/>
          </a:xfrm>
          <a:prstGeom prst="rect">
            <a:avLst/>
          </a:prstGeom>
        </p:spPr>
      </p:pic>
      <p:sp>
        <p:nvSpPr>
          <p:cNvPr id="33" name="a7_ckt4"/>
          <p:cNvSpPr txBox="1"/>
          <p:nvPr/>
        </p:nvSpPr>
        <p:spPr>
          <a:xfrm>
            <a:off x="7360920" y="3438144"/>
            <a:ext cx="4251960" cy="420624"/>
          </a:xfrm>
          <a:prstGeom prst="rect">
            <a:avLst/>
          </a:prstGeom>
          <a:noFill/>
          <a:ln/>
        </p:spPr>
        <p:txBody>
          <a:bodyPr wrap="square" lIns="0" tIns="0" rIns="0" bIns="0" rtlCol="0" anchor="ctr"/>
          <a:lstStyle/>
          <a:p>
            <a:pPr marL="0" indent="0">
              <a:buNone/>
            </a:pPr>
            <a:r>
              <a:rPr lang="en-US" sz="1500" dirty="0">
                <a:solidFill>
                  <a:schemeClr val="tx2"/>
                </a:solidFill>
              </a:rPr>
              <a:t>Score recorded with model and date</a:t>
            </a:r>
            <a:endParaRPr lang="en-US" sz="1500" dirty="0"/>
          </a:p>
        </p:txBody>
      </p:sp>
      <p:sp>
        <p:nvSpPr>
          <p:cNvPr id="34" name="a7_ck5_c"/>
          <p:cNvSpPr/>
          <p:nvPr/>
        </p:nvSpPr>
        <p:spPr>
          <a:xfrm>
            <a:off x="6858000" y="3931920"/>
            <a:ext cx="347472" cy="347472"/>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35" name="a7_ck5_i" descr="preencoded.png"/>
          <p:cNvPicPr>
            <a:picLocks noChangeAspect="1"/>
          </p:cNvPicPr>
          <p:nvPr/>
        </p:nvPicPr>
        <p:blipFill>
          <a:blip r:embed="rId6"/>
          <a:stretch>
            <a:fillRect/>
          </a:stretch>
        </p:blipFill>
        <p:spPr>
          <a:xfrm>
            <a:off x="6944868" y="4018788"/>
            <a:ext cx="173736" cy="173736"/>
          </a:xfrm>
          <a:prstGeom prst="rect">
            <a:avLst/>
          </a:prstGeom>
        </p:spPr>
      </p:pic>
      <p:sp>
        <p:nvSpPr>
          <p:cNvPr id="36" name="a7_ckt5"/>
          <p:cNvSpPr txBox="1"/>
          <p:nvPr/>
        </p:nvSpPr>
        <p:spPr>
          <a:xfrm>
            <a:off x="7360920" y="3895344"/>
            <a:ext cx="4251960" cy="420624"/>
          </a:xfrm>
          <a:prstGeom prst="rect">
            <a:avLst/>
          </a:prstGeom>
          <a:noFill/>
          <a:ln/>
        </p:spPr>
        <p:txBody>
          <a:bodyPr wrap="square" lIns="0" tIns="0" rIns="0" bIns="0" rtlCol="0" anchor="ctr"/>
          <a:lstStyle/>
          <a:p>
            <a:pPr marL="0" indent="0">
              <a:buNone/>
            </a:pPr>
            <a:r>
              <a:rPr lang="en-US" sz="1500" dirty="0">
                <a:solidFill>
                  <a:schemeClr val="tx2"/>
                </a:solidFill>
              </a:rPr>
              <a:t>A real question refused, with a reason</a:t>
            </a:r>
            <a:endParaRPr lang="en-US" sz="1500" dirty="0"/>
          </a:p>
        </p:txBody>
      </p:sp>
      <p:sp>
        <p:nvSpPr>
          <p:cNvPr id="37" name="a8_ck6_c"/>
          <p:cNvSpPr/>
          <p:nvPr/>
        </p:nvSpPr>
        <p:spPr>
          <a:xfrm>
            <a:off x="6858000" y="4389120"/>
            <a:ext cx="347472" cy="347472"/>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38" name="a8_ck6_i" descr="preencoded.png"/>
          <p:cNvPicPr>
            <a:picLocks noChangeAspect="1"/>
          </p:cNvPicPr>
          <p:nvPr/>
        </p:nvPicPr>
        <p:blipFill>
          <a:blip r:embed="rId6"/>
          <a:stretch>
            <a:fillRect/>
          </a:stretch>
        </p:blipFill>
        <p:spPr>
          <a:xfrm>
            <a:off x="6944868" y="4475988"/>
            <a:ext cx="173736" cy="173736"/>
          </a:xfrm>
          <a:prstGeom prst="rect">
            <a:avLst/>
          </a:prstGeom>
        </p:spPr>
      </p:pic>
      <p:sp>
        <p:nvSpPr>
          <p:cNvPr id="39" name="a8_ckt6"/>
          <p:cNvSpPr txBox="1"/>
          <p:nvPr/>
        </p:nvSpPr>
        <p:spPr>
          <a:xfrm>
            <a:off x="7360920" y="4352544"/>
            <a:ext cx="4251960" cy="420624"/>
          </a:xfrm>
          <a:prstGeom prst="rect">
            <a:avLst/>
          </a:prstGeom>
          <a:noFill/>
          <a:ln/>
        </p:spPr>
        <p:txBody>
          <a:bodyPr wrap="square" lIns="0" tIns="0" rIns="0" bIns="0" rtlCol="0" anchor="ctr"/>
          <a:lstStyle/>
          <a:p>
            <a:pPr marL="0" indent="0">
              <a:buNone/>
            </a:pPr>
            <a:r>
              <a:rPr lang="en-US" sz="1500" dirty="0">
                <a:solidFill>
                  <a:schemeClr val="tx2"/>
                </a:solidFill>
              </a:rPr>
              <a:t>Provenance: source hashes in PROV-O</a:t>
            </a:r>
            <a:endParaRPr lang="en-US" sz="1500" dirty="0"/>
          </a:p>
        </p:txBody>
      </p:sp>
      <p:pic>
        <p:nvPicPr>
          <p:cNvPr id="40" name="a9_desc_bg" descr="preencoded.png"/>
          <p:cNvPicPr>
            <a:picLocks noChangeAspect="1"/>
          </p:cNvPicPr>
          <p:nvPr/>
        </p:nvPicPr>
        <p:blipFill>
          <a:blip r:embed="rId7"/>
          <a:stretch>
            <a:fillRect/>
          </a:stretch>
        </p:blipFill>
        <p:spPr>
          <a:xfrm>
            <a:off x="548640" y="5029200"/>
            <a:ext cx="11091672" cy="1261872"/>
          </a:xfrm>
          <a:prstGeom prst="rect">
            <a:avLst/>
          </a:prstGeom>
          <a:effectLst>
            <a:outerShdw blurRad="152400" dist="25400" dir="5400000" algn="bl" rotWithShape="0">
              <a:srgbClr val="1B2A22">
                <a:alpha val="25000"/>
              </a:srgbClr>
            </a:outerShdw>
          </a:effectLst>
        </p:spPr>
      </p:pic>
      <p:sp>
        <p:nvSpPr>
          <p:cNvPr id="41" name="a9_desc_tx"/>
          <p:cNvSpPr txBox="1"/>
          <p:nvPr/>
        </p:nvSpPr>
        <p:spPr>
          <a:xfrm>
            <a:off x="914400" y="5029200"/>
            <a:ext cx="10360152" cy="1261872"/>
          </a:xfrm>
          <a:prstGeom prst="rect">
            <a:avLst/>
          </a:prstGeom>
          <a:noFill/>
          <a:ln/>
        </p:spPr>
        <p:txBody>
          <a:bodyPr wrap="square" lIns="0" tIns="0" rIns="0" bIns="0" rtlCol="0" anchor="ctr"/>
          <a:lstStyle/>
          <a:p>
            <a:pPr marL="0" indent="0">
              <a:lnSpc>
                <a:spcPct val="100000"/>
              </a:lnSpc>
              <a:buNone/>
            </a:pPr>
            <a:r>
              <a:rPr lang="en-US" sz="1400" dirty="0">
                <a:solidFill>
                  <a:schemeClr val="bg1"/>
                </a:solidFill>
              </a:rPr>
              <a:t>The whole system starts with one command. Fuseki serves the graph, the pipeline runs once and stops everything if the data fails the gate, and the access layer serves questions and our web page. Every port listens only on this computer, and the key lives only in .env. Our first clean checkout test found one broken Docker file; we fixed it, and the second test passed all eight pipeline steps.</a:t>
            </a:r>
            <a:endParaRPr lang="en-US" sz="1400" dirty="0"/>
          </a:p>
        </p:txBody>
      </p:sp>
      <p:sp>
        <p:nvSpPr>
          <p:cNvPr id="42" name="Slide Number Placeholder 0"/>
          <p:cNvSpPr>
            <a:spLocks noGrp="1"/>
          </p:cNvSpPr>
          <p:nvPr>
            <p:ph type="sldNum" sz="quarter" idx="4294967295"/>
          </p:nvPr>
        </p:nvSpPr>
        <p:spPr>
          <a:xfrm>
            <a:off x="11183112"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6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6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childTnLst>
                          </p:cTn>
                        </p:par>
                        <p:par>
                          <p:cTn id="19" fill="hold">
                            <p:stCondLst>
                              <p:cond delay="280"/>
                            </p:stCondLst>
                            <p:childTnLst>
                              <p:par>
                                <p:cTn id="20" presetID="22" presetClass="entr" presetSubtype="8"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600"/>
                                        <p:tgtEl>
                                          <p:spTgt spid="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childTnLst>
                          </p:cTn>
                        </p:par>
                        <p:par>
                          <p:cTn id="32" fill="hold">
                            <p:stCondLst>
                              <p:cond delay="560"/>
                            </p:stCondLst>
                            <p:childTnLst>
                              <p:par>
                                <p:cTn id="33" presetID="22" presetClass="entr" presetSubtype="8" fill="hold" grpId="0" nodeType="after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wipe(left)">
                                      <p:cBhvr>
                                        <p:cTn id="35" dur="600"/>
                                        <p:tgtEl>
                                          <p:spTgt spid="1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childTnLst>
                                </p:cTn>
                              </p:par>
                              <p:par>
                                <p:cTn id="39" presetID="10" presetClass="entr" presetSubtype="0" fill="hold"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500"/>
                                        <p:tgtEl>
                                          <p:spTgt spid="1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500"/>
                                        <p:tgtEl>
                                          <p:spTgt spid="14"/>
                                        </p:tgtEl>
                                      </p:cBhvr>
                                    </p:animEffect>
                                  </p:childTnLst>
                                </p:cTn>
                              </p:par>
                            </p:childTnLst>
                          </p:cTn>
                        </p:par>
                        <p:par>
                          <p:cTn id="45" fill="hold">
                            <p:stCondLst>
                              <p:cond delay="840"/>
                            </p:stCondLst>
                            <p:childTnLst>
                              <p:par>
                                <p:cTn id="46" presetID="22" presetClass="entr" presetSubtype="8" fill="hold" grpId="0" nodeType="after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wipe(left)">
                                      <p:cBhvr>
                                        <p:cTn id="48" dur="600"/>
                                        <p:tgtEl>
                                          <p:spTgt spid="1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500"/>
                                        <p:tgtEl>
                                          <p:spTgt spid="16"/>
                                        </p:tgtEl>
                                      </p:cBhvr>
                                    </p:animEffect>
                                  </p:childTnLst>
                                </p:cTn>
                              </p:par>
                              <p:par>
                                <p:cTn id="52" presetID="10" presetClass="entr" presetSubtype="0" fill="hold" nodeType="withEffect">
                                  <p:stCondLst>
                                    <p:cond delay="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500"/>
                                        <p:tgtEl>
                                          <p:spTgt spid="1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8"/>
                                        </p:tgtEl>
                                        <p:attrNameLst>
                                          <p:attrName>style.visibility</p:attrName>
                                        </p:attrNameLst>
                                      </p:cBhvr>
                                      <p:to>
                                        <p:strVal val="visible"/>
                                      </p:to>
                                    </p:set>
                                    <p:animEffect transition="in" filter="fade">
                                      <p:cBhvr>
                                        <p:cTn id="57" dur="500"/>
                                        <p:tgtEl>
                                          <p:spTgt spid="18"/>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500"/>
                                        <p:tgtEl>
                                          <p:spTgt spid="19"/>
                                        </p:tgtEl>
                                      </p:cBhvr>
                                    </p:animEffect>
                                  </p:childTnLst>
                                </p:cTn>
                              </p:par>
                              <p:par>
                                <p:cTn id="63" presetID="10" presetClass="entr" presetSubtype="0" fill="hold" nodeType="withEffect">
                                  <p:stCondLst>
                                    <p:cond delay="0"/>
                                  </p:stCondLst>
                                  <p:childTnLst>
                                    <p:set>
                                      <p:cBhvr>
                                        <p:cTn id="64" dur="1" fill="hold">
                                          <p:stCondLst>
                                            <p:cond delay="0"/>
                                          </p:stCondLst>
                                        </p:cTn>
                                        <p:tgtEl>
                                          <p:spTgt spid="20"/>
                                        </p:tgtEl>
                                        <p:attrNameLst>
                                          <p:attrName>style.visibility</p:attrName>
                                        </p:attrNameLst>
                                      </p:cBhvr>
                                      <p:to>
                                        <p:strVal val="visible"/>
                                      </p:to>
                                    </p:set>
                                    <p:animEffect transition="in" filter="fade">
                                      <p:cBhvr>
                                        <p:cTn id="65" dur="500"/>
                                        <p:tgtEl>
                                          <p:spTgt spid="2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500"/>
                                        <p:tgtEl>
                                          <p:spTgt spid="2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500"/>
                                        <p:tgtEl>
                                          <p:spTgt spid="22"/>
                                        </p:tgtEl>
                                      </p:cBhvr>
                                    </p:animEffect>
                                  </p:childTnLst>
                                </p:cTn>
                              </p:par>
                              <p:par>
                                <p:cTn id="72" presetID="10" presetClass="entr" presetSubtype="0" fill="hold" nodeType="with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fade">
                                      <p:cBhvr>
                                        <p:cTn id="74" dur="500"/>
                                        <p:tgtEl>
                                          <p:spTgt spid="2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4"/>
                                        </p:tgtEl>
                                        <p:attrNameLst>
                                          <p:attrName>style.visibility</p:attrName>
                                        </p:attrNameLst>
                                      </p:cBhvr>
                                      <p:to>
                                        <p:strVal val="visible"/>
                                      </p:to>
                                    </p:set>
                                    <p:animEffect transition="in" filter="fade">
                                      <p:cBhvr>
                                        <p:cTn id="77" dur="500"/>
                                        <p:tgtEl>
                                          <p:spTgt spid="24"/>
                                        </p:tgtEl>
                                      </p:cBhvr>
                                    </p:animEffect>
                                  </p:childTnLst>
                                </p:cTn>
                              </p:par>
                            </p:childTnLst>
                          </p:cTn>
                        </p:par>
                        <p:par>
                          <p:cTn id="78" fill="hold">
                            <p:stCondLst>
                              <p:cond delay="280"/>
                            </p:stCondLst>
                            <p:childTnLst>
                              <p:par>
                                <p:cTn id="79" presetID="10" presetClass="entr" presetSubtype="0" fill="hold" grpId="0" nodeType="afterEffect">
                                  <p:stCondLst>
                                    <p:cond delay="0"/>
                                  </p:stCondLst>
                                  <p:childTnLst>
                                    <p:set>
                                      <p:cBhvr>
                                        <p:cTn id="80" dur="1" fill="hold">
                                          <p:stCondLst>
                                            <p:cond delay="0"/>
                                          </p:stCondLst>
                                        </p:cTn>
                                        <p:tgtEl>
                                          <p:spTgt spid="25"/>
                                        </p:tgtEl>
                                        <p:attrNameLst>
                                          <p:attrName>style.visibility</p:attrName>
                                        </p:attrNameLst>
                                      </p:cBhvr>
                                      <p:to>
                                        <p:strVal val="visible"/>
                                      </p:to>
                                    </p:set>
                                    <p:animEffect transition="in" filter="fade">
                                      <p:cBhvr>
                                        <p:cTn id="81" dur="500"/>
                                        <p:tgtEl>
                                          <p:spTgt spid="25"/>
                                        </p:tgtEl>
                                      </p:cBhvr>
                                    </p:animEffect>
                                  </p:childTnLst>
                                </p:cTn>
                              </p:par>
                              <p:par>
                                <p:cTn id="82" presetID="10" presetClass="entr" presetSubtype="0" fill="hold" nodeType="withEffect">
                                  <p:stCondLst>
                                    <p:cond delay="0"/>
                                  </p:stCondLst>
                                  <p:childTnLst>
                                    <p:set>
                                      <p:cBhvr>
                                        <p:cTn id="83" dur="1" fill="hold">
                                          <p:stCondLst>
                                            <p:cond delay="0"/>
                                          </p:stCondLst>
                                        </p:cTn>
                                        <p:tgtEl>
                                          <p:spTgt spid="26"/>
                                        </p:tgtEl>
                                        <p:attrNameLst>
                                          <p:attrName>style.visibility</p:attrName>
                                        </p:attrNameLst>
                                      </p:cBhvr>
                                      <p:to>
                                        <p:strVal val="visible"/>
                                      </p:to>
                                    </p:set>
                                    <p:animEffect transition="in" filter="fade">
                                      <p:cBhvr>
                                        <p:cTn id="84" dur="500"/>
                                        <p:tgtEl>
                                          <p:spTgt spid="2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500"/>
                                        <p:tgtEl>
                                          <p:spTgt spid="27"/>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8"/>
                                        </p:tgtEl>
                                        <p:attrNameLst>
                                          <p:attrName>style.visibility</p:attrName>
                                        </p:attrNameLst>
                                      </p:cBhvr>
                                      <p:to>
                                        <p:strVal val="visible"/>
                                      </p:to>
                                    </p:set>
                                    <p:animEffect transition="in" filter="fade">
                                      <p:cBhvr>
                                        <p:cTn id="90" dur="500"/>
                                        <p:tgtEl>
                                          <p:spTgt spid="28"/>
                                        </p:tgtEl>
                                      </p:cBhvr>
                                    </p:animEffect>
                                  </p:childTnLst>
                                </p:cTn>
                              </p:par>
                              <p:par>
                                <p:cTn id="91" presetID="10" presetClass="entr" presetSubtype="0" fill="hold" nodeType="withEffect">
                                  <p:stCondLst>
                                    <p:cond delay="0"/>
                                  </p:stCondLst>
                                  <p:childTnLst>
                                    <p:set>
                                      <p:cBhvr>
                                        <p:cTn id="92" dur="1" fill="hold">
                                          <p:stCondLst>
                                            <p:cond delay="0"/>
                                          </p:stCondLst>
                                        </p:cTn>
                                        <p:tgtEl>
                                          <p:spTgt spid="29"/>
                                        </p:tgtEl>
                                        <p:attrNameLst>
                                          <p:attrName>style.visibility</p:attrName>
                                        </p:attrNameLst>
                                      </p:cBhvr>
                                      <p:to>
                                        <p:strVal val="visible"/>
                                      </p:to>
                                    </p:set>
                                    <p:animEffect transition="in" filter="fade">
                                      <p:cBhvr>
                                        <p:cTn id="93" dur="500"/>
                                        <p:tgtEl>
                                          <p:spTgt spid="29"/>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500"/>
                                        <p:tgtEl>
                                          <p:spTgt spid="30"/>
                                        </p:tgtEl>
                                      </p:cBhvr>
                                    </p:animEffect>
                                  </p:childTnLst>
                                </p:cTn>
                              </p:par>
                            </p:childTnLst>
                          </p:cTn>
                        </p:par>
                        <p:par>
                          <p:cTn id="97" fill="hold">
                            <p:stCondLst>
                              <p:cond delay="560"/>
                            </p:stCondLst>
                            <p:childTnLst>
                              <p:par>
                                <p:cTn id="98" presetID="10" presetClass="entr" presetSubtype="0" fill="hold" grpId="0" nodeType="afterEffect">
                                  <p:stCondLst>
                                    <p:cond delay="0"/>
                                  </p:stCondLst>
                                  <p:childTnLst>
                                    <p:set>
                                      <p:cBhvr>
                                        <p:cTn id="99" dur="1" fill="hold">
                                          <p:stCondLst>
                                            <p:cond delay="0"/>
                                          </p:stCondLst>
                                        </p:cTn>
                                        <p:tgtEl>
                                          <p:spTgt spid="31"/>
                                        </p:tgtEl>
                                        <p:attrNameLst>
                                          <p:attrName>style.visibility</p:attrName>
                                        </p:attrNameLst>
                                      </p:cBhvr>
                                      <p:to>
                                        <p:strVal val="visible"/>
                                      </p:to>
                                    </p:set>
                                    <p:animEffect transition="in" filter="fade">
                                      <p:cBhvr>
                                        <p:cTn id="100" dur="500"/>
                                        <p:tgtEl>
                                          <p:spTgt spid="31"/>
                                        </p:tgtEl>
                                      </p:cBhvr>
                                    </p:animEffect>
                                  </p:childTnLst>
                                </p:cTn>
                              </p:par>
                              <p:par>
                                <p:cTn id="101" presetID="10" presetClass="entr" presetSubtype="0" fill="hold" nodeType="withEffect">
                                  <p:stCondLst>
                                    <p:cond delay="0"/>
                                  </p:stCondLst>
                                  <p:childTnLst>
                                    <p:set>
                                      <p:cBhvr>
                                        <p:cTn id="102" dur="1" fill="hold">
                                          <p:stCondLst>
                                            <p:cond delay="0"/>
                                          </p:stCondLst>
                                        </p:cTn>
                                        <p:tgtEl>
                                          <p:spTgt spid="32"/>
                                        </p:tgtEl>
                                        <p:attrNameLst>
                                          <p:attrName>style.visibility</p:attrName>
                                        </p:attrNameLst>
                                      </p:cBhvr>
                                      <p:to>
                                        <p:strVal val="visible"/>
                                      </p:to>
                                    </p:set>
                                    <p:animEffect transition="in" filter="fade">
                                      <p:cBhvr>
                                        <p:cTn id="103" dur="500"/>
                                        <p:tgtEl>
                                          <p:spTgt spid="32"/>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fade">
                                      <p:cBhvr>
                                        <p:cTn id="106" dur="500"/>
                                        <p:tgtEl>
                                          <p:spTgt spid="33"/>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34"/>
                                        </p:tgtEl>
                                        <p:attrNameLst>
                                          <p:attrName>style.visibility</p:attrName>
                                        </p:attrNameLst>
                                      </p:cBhvr>
                                      <p:to>
                                        <p:strVal val="visible"/>
                                      </p:to>
                                    </p:set>
                                    <p:animEffect transition="in" filter="fade">
                                      <p:cBhvr>
                                        <p:cTn id="109" dur="500"/>
                                        <p:tgtEl>
                                          <p:spTgt spid="34"/>
                                        </p:tgtEl>
                                      </p:cBhvr>
                                    </p:animEffect>
                                  </p:childTnLst>
                                </p:cTn>
                              </p:par>
                              <p:par>
                                <p:cTn id="110" presetID="10" presetClass="entr" presetSubtype="0" fill="hold" nodeType="withEffect">
                                  <p:stCondLst>
                                    <p:cond delay="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500"/>
                                        <p:tgtEl>
                                          <p:spTgt spid="35"/>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36"/>
                                        </p:tgtEl>
                                        <p:attrNameLst>
                                          <p:attrName>style.visibility</p:attrName>
                                        </p:attrNameLst>
                                      </p:cBhvr>
                                      <p:to>
                                        <p:strVal val="visible"/>
                                      </p:to>
                                    </p:set>
                                    <p:animEffect transition="in" filter="fade">
                                      <p:cBhvr>
                                        <p:cTn id="115" dur="500"/>
                                        <p:tgtEl>
                                          <p:spTgt spid="36"/>
                                        </p:tgtEl>
                                      </p:cBhvr>
                                    </p:animEffect>
                                  </p:childTnLst>
                                </p:cTn>
                              </p:par>
                            </p:childTnLst>
                          </p:cTn>
                        </p:par>
                        <p:par>
                          <p:cTn id="116" fill="hold">
                            <p:stCondLst>
                              <p:cond delay="840"/>
                            </p:stCondLst>
                            <p:childTnLst>
                              <p:par>
                                <p:cTn id="117" presetID="10" presetClass="entr" presetSubtype="0" fill="hold" grpId="0" nodeType="afterEffect">
                                  <p:stCondLst>
                                    <p:cond delay="0"/>
                                  </p:stCondLst>
                                  <p:childTnLst>
                                    <p:set>
                                      <p:cBhvr>
                                        <p:cTn id="118" dur="1" fill="hold">
                                          <p:stCondLst>
                                            <p:cond delay="0"/>
                                          </p:stCondLst>
                                        </p:cTn>
                                        <p:tgtEl>
                                          <p:spTgt spid="37"/>
                                        </p:tgtEl>
                                        <p:attrNameLst>
                                          <p:attrName>style.visibility</p:attrName>
                                        </p:attrNameLst>
                                      </p:cBhvr>
                                      <p:to>
                                        <p:strVal val="visible"/>
                                      </p:to>
                                    </p:set>
                                    <p:animEffect transition="in" filter="fade">
                                      <p:cBhvr>
                                        <p:cTn id="119" dur="500"/>
                                        <p:tgtEl>
                                          <p:spTgt spid="37"/>
                                        </p:tgtEl>
                                      </p:cBhvr>
                                    </p:animEffect>
                                  </p:childTnLst>
                                </p:cTn>
                              </p:par>
                              <p:par>
                                <p:cTn id="120" presetID="10" presetClass="entr" presetSubtype="0" fill="hold" nodeType="withEffect">
                                  <p:stCondLst>
                                    <p:cond delay="0"/>
                                  </p:stCondLst>
                                  <p:childTnLst>
                                    <p:set>
                                      <p:cBhvr>
                                        <p:cTn id="121" dur="1" fill="hold">
                                          <p:stCondLst>
                                            <p:cond delay="0"/>
                                          </p:stCondLst>
                                        </p:cTn>
                                        <p:tgtEl>
                                          <p:spTgt spid="38"/>
                                        </p:tgtEl>
                                        <p:attrNameLst>
                                          <p:attrName>style.visibility</p:attrName>
                                        </p:attrNameLst>
                                      </p:cBhvr>
                                      <p:to>
                                        <p:strVal val="visible"/>
                                      </p:to>
                                    </p:set>
                                    <p:animEffect transition="in" filter="fade">
                                      <p:cBhvr>
                                        <p:cTn id="122" dur="500"/>
                                        <p:tgtEl>
                                          <p:spTgt spid="38"/>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39"/>
                                        </p:tgtEl>
                                        <p:attrNameLst>
                                          <p:attrName>style.visibility</p:attrName>
                                        </p:attrNameLst>
                                      </p:cBhvr>
                                      <p:to>
                                        <p:strVal val="visible"/>
                                      </p:to>
                                    </p:set>
                                    <p:animEffect transition="in" filter="fade">
                                      <p:cBhvr>
                                        <p:cTn id="125" dur="500"/>
                                        <p:tgtEl>
                                          <p:spTgt spid="39"/>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8" fill="hold" nodeType="clickEffect">
                                  <p:stCondLst>
                                    <p:cond delay="0"/>
                                  </p:stCondLst>
                                  <p:childTnLst>
                                    <p:set>
                                      <p:cBhvr>
                                        <p:cTn id="129" dur="1" fill="hold">
                                          <p:stCondLst>
                                            <p:cond delay="0"/>
                                          </p:stCondLst>
                                        </p:cTn>
                                        <p:tgtEl>
                                          <p:spTgt spid="40"/>
                                        </p:tgtEl>
                                        <p:attrNameLst>
                                          <p:attrName>style.visibility</p:attrName>
                                        </p:attrNameLst>
                                      </p:cBhvr>
                                      <p:to>
                                        <p:strVal val="visible"/>
                                      </p:to>
                                    </p:set>
                                    <p:animEffect transition="in" filter="wipe(left)">
                                      <p:cBhvr>
                                        <p:cTn id="130" dur="600"/>
                                        <p:tgtEl>
                                          <p:spTgt spid="40"/>
                                        </p:tgtEl>
                                      </p:cBhvr>
                                    </p:animEffect>
                                  </p:childTnLst>
                                </p:cTn>
                              </p:par>
                              <p:par>
                                <p:cTn id="131" presetID="10" presetClass="entr" presetSubtype="0" fill="hold" grpId="0" nodeType="withEffect">
                                  <p:stCondLst>
                                    <p:cond delay="0"/>
                                  </p:stCondLst>
                                  <p:childTnLst>
                                    <p:set>
                                      <p:cBhvr>
                                        <p:cTn id="132" dur="1" fill="hold">
                                          <p:stCondLst>
                                            <p:cond delay="0"/>
                                          </p:stCondLst>
                                        </p:cTn>
                                        <p:tgtEl>
                                          <p:spTgt spid="41"/>
                                        </p:tgtEl>
                                        <p:attrNameLst>
                                          <p:attrName>style.visibility</p:attrName>
                                        </p:attrNameLst>
                                      </p:cBhvr>
                                      <p:to>
                                        <p:strVal val="visible"/>
                                      </p:to>
                                    </p:set>
                                    <p:animEffect transition="in" filter="fade">
                                      <p:cBhvr>
                                        <p:cTn id="133"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10" grpId="0" animBg="1"/>
      <p:bldP spid="11" grpId="0" animBg="1"/>
      <p:bldP spid="12" grpId="0" animBg="1"/>
      <p:bldP spid="14" grpId="0" animBg="1"/>
      <p:bldP spid="15" grpId="0" animBg="1"/>
      <p:bldP spid="16" grpId="0" animBg="1"/>
      <p:bldP spid="18" grpId="0" animBg="1"/>
      <p:bldP spid="19" grpId="0" animBg="1"/>
      <p:bldP spid="21" grpId="0" animBg="1"/>
      <p:bldP spid="22" grpId="0" animBg="1"/>
      <p:bldP spid="24" grpId="0" animBg="1"/>
      <p:bldP spid="25" grpId="0" animBg="1"/>
      <p:bldP spid="27" grpId="0" animBg="1"/>
      <p:bldP spid="28" grpId="0" animBg="1"/>
      <p:bldP spid="30" grpId="0" animBg="1"/>
      <p:bldP spid="31" grpId="0" animBg="1"/>
      <p:bldP spid="33" grpId="0" animBg="1"/>
      <p:bldP spid="34" grpId="0" animBg="1"/>
      <p:bldP spid="36" grpId="0" animBg="1"/>
      <p:bldP spid="37" grpId="0" animBg="1"/>
      <p:bldP spid="39" grpId="0" animBg="1"/>
      <p:bldP spid="4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47472"/>
            <a:ext cx="9052560" cy="640080"/>
          </a:xfrm>
          <a:prstGeom prst="rect">
            <a:avLst/>
          </a:prstGeom>
          <a:noFill/>
          <a:ln/>
        </p:spPr>
        <p:txBody>
          <a:bodyPr wrap="square" lIns="0" tIns="0" rIns="0" bIns="0" rtlCol="0" anchor="t"/>
          <a:lstStyle/>
          <a:p>
            <a:pPr marL="0" indent="0" algn="l">
              <a:buNone/>
            </a:pPr>
            <a:r>
              <a:rPr lang="en-US" sz="3400" b="1" dirty="0">
                <a:solidFill>
                  <a:schemeClr val="tx2"/>
                </a:solidFill>
              </a:rPr>
              <a:t>Open problem: reproducible results</a:t>
            </a:r>
            <a:endParaRPr lang="en-US" sz="3400" dirty="0"/>
          </a:p>
        </p:txBody>
      </p:sp>
      <p:sp>
        <p:nvSpPr>
          <p:cNvPr id="3" name="Text 0"/>
          <p:cNvSpPr>
            <a:spLocks noGrp="1"/>
          </p:cNvSpPr>
          <p:nvPr>
            <p:ph type="body" idx="101" hasCustomPrompt="1"/>
          </p:nvPr>
        </p:nvSpPr>
        <p:spPr>
          <a:xfrm>
            <a:off x="548640" y="987552"/>
            <a:ext cx="9326880" cy="411480"/>
          </a:xfrm>
          <a:prstGeom prst="rect">
            <a:avLst/>
          </a:prstGeom>
          <a:noFill/>
          <a:ln/>
        </p:spPr>
        <p:txBody>
          <a:bodyPr wrap="square" lIns="0" tIns="0" rIns="0" bIns="0" rtlCol="0" anchor="t"/>
          <a:lstStyle/>
          <a:p>
            <a:pPr marL="0" indent="0">
              <a:buNone/>
            </a:pPr>
            <a:r>
              <a:rPr lang="en-US" sz="1900" dirty="0">
                <a:solidFill>
                  <a:schemeClr val="accent2"/>
                </a:solidFill>
              </a:rPr>
              <a:t>When a model loses to a count, what did we learn?</a:t>
            </a:r>
            <a:endParaRPr lang="en-US" sz="1900" dirty="0"/>
          </a:p>
        </p:txBody>
      </p:sp>
      <p:sp>
        <p:nvSpPr>
          <p:cNvPr id="4" name="a0_chip"/>
          <p:cNvSpPr txBox="1"/>
          <p:nvPr/>
        </p:nvSpPr>
        <p:spPr>
          <a:xfrm>
            <a:off x="9720072" y="411480"/>
            <a:ext cx="1920240" cy="384048"/>
          </a:xfrm>
          <a:prstGeom prst="roundRect">
            <a:avLst>
              <a:gd name="adj" fmla="val 50000"/>
            </a:avLst>
          </a:prstGeom>
          <a:solidFill>
            <a:schemeClr val="bg1"/>
          </a:solidFill>
          <a:ln w="12700">
            <a:solidFill>
              <a:schemeClr val="accent4"/>
            </a:solidFill>
          </a:ln>
        </p:spPr>
        <p:txBody>
          <a:bodyPr wrap="square" lIns="0" tIns="0" rIns="0" bIns="0" rtlCol="0" anchor="ctr"/>
          <a:lstStyle/>
          <a:p>
            <a:pPr marL="0" indent="0" algn="ctr">
              <a:buNone/>
            </a:pPr>
            <a:r>
              <a:rPr lang="en-US" sz="1300" b="1" dirty="0">
                <a:solidFill>
                  <a:schemeClr val="accent1"/>
                </a:solidFill>
                <a:latin typeface="Consolas" pitchFamily="34" charset="0"/>
                <a:ea typeface="Consolas" pitchFamily="34" charset="-122"/>
                <a:cs typeface="Consolas" pitchFamily="34" charset="-120"/>
              </a:rPr>
              <a:t>report/ §9</a:t>
            </a:r>
            <a:endParaRPr lang="en-US" sz="1300" dirty="0"/>
          </a:p>
        </p:txBody>
      </p:sp>
      <p:sp>
        <p:nvSpPr>
          <p:cNvPr id="5" name="a1_q_bg"/>
          <p:cNvSpPr/>
          <p:nvPr/>
        </p:nvSpPr>
        <p:spPr>
          <a:xfrm>
            <a:off x="548640" y="1645920"/>
            <a:ext cx="11091672" cy="777240"/>
          </a:xfrm>
          <a:prstGeom prst="roundRect">
            <a:avLst>
              <a:gd name="adj" fmla="val 16471"/>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6" name="a1_q_tx"/>
          <p:cNvSpPr txBox="1"/>
          <p:nvPr/>
        </p:nvSpPr>
        <p:spPr>
          <a:xfrm>
            <a:off x="914400" y="1645920"/>
            <a:ext cx="10360152" cy="777240"/>
          </a:xfrm>
          <a:prstGeom prst="rect">
            <a:avLst/>
          </a:prstGeom>
          <a:noFill/>
          <a:ln/>
        </p:spPr>
        <p:txBody>
          <a:bodyPr wrap="square" lIns="0" tIns="0" rIns="0" bIns="0" rtlCol="0" anchor="ctr"/>
          <a:lstStyle/>
          <a:p>
            <a:pPr marL="0" indent="0">
              <a:buNone/>
            </a:pPr>
            <a:r>
              <a:rPr lang="en-US" sz="2100" b="1" i="1" dirty="0">
                <a:solidFill>
                  <a:schemeClr val="tx2"/>
                </a:solidFill>
              </a:rPr>
              <a:t>Is a model's score a property of the model, or of how we trained and tested it?</a:t>
            </a:r>
            <a:endParaRPr lang="en-US" sz="2100" dirty="0"/>
          </a:p>
        </p:txBody>
      </p:sp>
      <p:sp>
        <p:nvSpPr>
          <p:cNvPr id="7" name="a2_f"/>
          <p:cNvSpPr/>
          <p:nvPr/>
        </p:nvSpPr>
        <p:spPr>
          <a:xfrm>
            <a:off x="548640" y="2606040"/>
            <a:ext cx="5440680" cy="2240280"/>
          </a:xfrm>
          <a:prstGeom prst="roundRect">
            <a:avLst>
              <a:gd name="adj" fmla="val 5714"/>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8" name="a2_fb_c"/>
          <p:cNvSpPr/>
          <p:nvPr/>
        </p:nvSpPr>
        <p:spPr>
          <a:xfrm>
            <a:off x="777240" y="2743200"/>
            <a:ext cx="502920" cy="502920"/>
          </a:xfrm>
          <a:prstGeom prst="ellipse">
            <a:avLst/>
          </a:prstGeom>
          <a:solidFill>
            <a:schemeClr val="accent2"/>
          </a:solidFill>
          <a:ln/>
          <a:effectLst>
            <a:outerShdw blurRad="101600" dist="25400" dir="5400000" algn="bl" rotWithShape="0">
              <a:srgbClr val="1B2A22">
                <a:alpha val="18000"/>
              </a:srgbClr>
            </a:outerShdw>
          </a:effectLst>
        </p:spPr>
        <p:txBody>
          <a:bodyPr/>
          <a:lstStyle/>
          <a:p>
            <a:endParaRPr lang="en-US"/>
          </a:p>
        </p:txBody>
      </p:sp>
      <p:pic>
        <p:nvPicPr>
          <p:cNvPr id="9" name="a2_fb_i" descr="preencoded.png"/>
          <p:cNvPicPr>
            <a:picLocks noChangeAspect="1"/>
          </p:cNvPicPr>
          <p:nvPr/>
        </p:nvPicPr>
        <p:blipFill>
          <a:blip r:embed="rId3"/>
          <a:stretch>
            <a:fillRect/>
          </a:stretch>
        </p:blipFill>
        <p:spPr>
          <a:xfrm>
            <a:off x="902970" y="2868930"/>
            <a:ext cx="251460" cy="251460"/>
          </a:xfrm>
          <a:prstGeom prst="rect">
            <a:avLst/>
          </a:prstGeom>
        </p:spPr>
      </p:pic>
      <p:sp>
        <p:nvSpPr>
          <p:cNvPr id="10" name="a2_fh"/>
          <p:cNvSpPr txBox="1"/>
          <p:nvPr/>
        </p:nvSpPr>
        <p:spPr>
          <a:xfrm>
            <a:off x="1417320" y="2743200"/>
            <a:ext cx="4389120" cy="502920"/>
          </a:xfrm>
          <a:prstGeom prst="rect">
            <a:avLst/>
          </a:prstGeom>
          <a:noFill/>
          <a:ln/>
        </p:spPr>
        <p:txBody>
          <a:bodyPr wrap="square" lIns="0" tIns="0" rIns="0" bIns="0" rtlCol="0" anchor="ctr"/>
          <a:lstStyle/>
          <a:p>
            <a:pPr marL="0" indent="0">
              <a:buNone/>
            </a:pPr>
            <a:r>
              <a:rPr lang="en-US" sz="1800" b="1" dirty="0">
                <a:solidFill>
                  <a:schemeClr val="tx2"/>
                </a:solidFill>
              </a:rPr>
              <a:t>What we found</a:t>
            </a:r>
            <a:endParaRPr lang="en-US" sz="1800" dirty="0"/>
          </a:p>
        </p:txBody>
      </p:sp>
      <p:sp>
        <p:nvSpPr>
          <p:cNvPr id="11" name="a3_ft_bul"/>
          <p:cNvSpPr txBox="1"/>
          <p:nvPr/>
        </p:nvSpPr>
        <p:spPr>
          <a:xfrm>
            <a:off x="822960" y="3383280"/>
            <a:ext cx="4983480" cy="13716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TransE loses to a count: 0.339 vs 0.448</a:t>
            </a:r>
            <a:endParaRPr lang="en-US" sz="1500" dirty="0"/>
          </a:p>
          <a:p>
            <a:pPr marL="342900" indent="-342900">
              <a:spcAft>
                <a:spcPts val="600"/>
              </a:spcAft>
              <a:buSzPct val="100000"/>
              <a:buChar char="•"/>
            </a:pPr>
            <a:r>
              <a:rPr lang="en-US" sz="1500" dirty="0">
                <a:solidFill>
                  <a:schemeClr val="tx2"/>
                </a:solidFill>
              </a:rPr>
              <a:t>Tie handling changes the score by at most 0.001</a:t>
            </a:r>
            <a:endParaRPr lang="en-US" sz="1500" dirty="0"/>
          </a:p>
          <a:p>
            <a:pPr marL="342900" indent="-342900">
              <a:spcAft>
                <a:spcPts val="600"/>
              </a:spcAft>
              <a:buSzPct val="100000"/>
              <a:buChar char="•"/>
            </a:pPr>
            <a:r>
              <a:rPr lang="en-US" sz="1500" dirty="0">
                <a:solidFill>
                  <a:schemeClr val="tx2"/>
                </a:solidFill>
              </a:rPr>
              <a:t>TransE was never tuned: one setting only</a:t>
            </a:r>
            <a:endParaRPr lang="en-US" sz="1500" dirty="0"/>
          </a:p>
        </p:txBody>
      </p:sp>
      <p:sp>
        <p:nvSpPr>
          <p:cNvPr id="12" name="a4_p"/>
          <p:cNvSpPr/>
          <p:nvPr/>
        </p:nvSpPr>
        <p:spPr>
          <a:xfrm>
            <a:off x="6199632" y="2606040"/>
            <a:ext cx="5440680" cy="2240280"/>
          </a:xfrm>
          <a:prstGeom prst="roundRect">
            <a:avLst>
              <a:gd name="adj" fmla="val 5714"/>
            </a:avLst>
          </a:prstGeom>
          <a:solidFill>
            <a:schemeClr val="accent1">
              <a:alpha val="15000"/>
            </a:schemeClr>
          </a:solidFill>
          <a:ln/>
        </p:spPr>
        <p:txBody>
          <a:bodyPr/>
          <a:lstStyle/>
          <a:p>
            <a:endParaRPr lang="en-US"/>
          </a:p>
        </p:txBody>
      </p:sp>
      <p:sp>
        <p:nvSpPr>
          <p:cNvPr id="13" name="a4_pb_c"/>
          <p:cNvSpPr/>
          <p:nvPr/>
        </p:nvSpPr>
        <p:spPr>
          <a:xfrm>
            <a:off x="6428232" y="2743200"/>
            <a:ext cx="502920" cy="502920"/>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14" name="a4_pb_i" descr="preencoded.png"/>
          <p:cNvPicPr>
            <a:picLocks noChangeAspect="1"/>
          </p:cNvPicPr>
          <p:nvPr/>
        </p:nvPicPr>
        <p:blipFill>
          <a:blip r:embed="rId4"/>
          <a:stretch>
            <a:fillRect/>
          </a:stretch>
        </p:blipFill>
        <p:spPr>
          <a:xfrm>
            <a:off x="6553962" y="2868930"/>
            <a:ext cx="251460" cy="251460"/>
          </a:xfrm>
          <a:prstGeom prst="rect">
            <a:avLst/>
          </a:prstGeom>
        </p:spPr>
      </p:pic>
      <p:sp>
        <p:nvSpPr>
          <p:cNvPr id="15" name="a4_ph"/>
          <p:cNvSpPr txBox="1"/>
          <p:nvPr/>
        </p:nvSpPr>
        <p:spPr>
          <a:xfrm>
            <a:off x="7068312" y="2743200"/>
            <a:ext cx="4389120" cy="502920"/>
          </a:xfrm>
          <a:prstGeom prst="rect">
            <a:avLst/>
          </a:prstGeom>
          <a:noFill/>
          <a:ln/>
        </p:spPr>
        <p:txBody>
          <a:bodyPr wrap="square" lIns="0" tIns="0" rIns="0" bIns="0" rtlCol="0" anchor="ctr"/>
          <a:lstStyle/>
          <a:p>
            <a:pPr marL="0" indent="0">
              <a:buNone/>
            </a:pPr>
            <a:r>
              <a:rPr lang="en-US" sz="1800" b="1" dirty="0">
                <a:solidFill>
                  <a:schemeClr val="tx2"/>
                </a:solidFill>
              </a:rPr>
              <a:t>Our position</a:t>
            </a:r>
            <a:endParaRPr lang="en-US" sz="1800" dirty="0"/>
          </a:p>
        </p:txBody>
      </p:sp>
      <p:sp>
        <p:nvSpPr>
          <p:cNvPr id="16" name="a5_pt_bul"/>
          <p:cNvSpPr txBox="1"/>
          <p:nvPr/>
        </p:nvSpPr>
        <p:spPr>
          <a:xfrm>
            <a:off x="6473952" y="3383280"/>
            <a:ext cx="4983480" cy="13716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Same tuning budget for model and baseline</a:t>
            </a:r>
            <a:endParaRPr lang="en-US" sz="1500" dirty="0"/>
          </a:p>
          <a:p>
            <a:pPr marL="342900" indent="-342900">
              <a:spcAft>
                <a:spcPts val="600"/>
              </a:spcAft>
              <a:buSzPct val="100000"/>
              <a:buChar char="•"/>
            </a:pPr>
            <a:r>
              <a:rPr lang="en-US" sz="1500" dirty="0">
                <a:solidFill>
                  <a:schemeClr val="tx2"/>
                </a:solidFill>
              </a:rPr>
              <a:t>State the test protocol, ties included</a:t>
            </a:r>
            <a:endParaRPr lang="en-US" sz="1500" dirty="0"/>
          </a:p>
          <a:p>
            <a:pPr marL="342900" indent="-342900">
              <a:spcAft>
                <a:spcPts val="600"/>
              </a:spcAft>
              <a:buSzPct val="100000"/>
              <a:buChar char="•"/>
            </a:pPr>
            <a:r>
              <a:rPr lang="en-US" sz="1500" dirty="0">
                <a:solidFill>
                  <a:schemeClr val="tx2"/>
                </a:solidFill>
              </a:rPr>
              <a:t>The gap must be bigger than the seed spread</a:t>
            </a:r>
            <a:endParaRPr lang="en-US" sz="1500" dirty="0"/>
          </a:p>
          <a:p>
            <a:pPr marL="342900" indent="-342900">
              <a:spcAft>
                <a:spcPts val="600"/>
              </a:spcAft>
              <a:buSzPct val="100000"/>
              <a:buChar char="•"/>
            </a:pPr>
            <a:r>
              <a:rPr lang="en-US" sz="1500" dirty="0">
                <a:solidFill>
                  <a:schemeClr val="tx2"/>
                </a:solidFill>
              </a:rPr>
              <a:t>Until then: no predictions shown as facts</a:t>
            </a:r>
            <a:endParaRPr lang="en-US" sz="1500" dirty="0"/>
          </a:p>
        </p:txBody>
      </p:sp>
      <p:pic>
        <p:nvPicPr>
          <p:cNvPr id="17" name="a6_desc_bg" descr="preencoded.png"/>
          <p:cNvPicPr>
            <a:picLocks noChangeAspect="1"/>
          </p:cNvPicPr>
          <p:nvPr/>
        </p:nvPicPr>
        <p:blipFill>
          <a:blip r:embed="rId5"/>
          <a:stretch>
            <a:fillRect/>
          </a:stretch>
        </p:blipFill>
        <p:spPr>
          <a:xfrm>
            <a:off x="548640" y="5029200"/>
            <a:ext cx="11091672" cy="1261872"/>
          </a:xfrm>
          <a:prstGeom prst="rect">
            <a:avLst/>
          </a:prstGeom>
          <a:effectLst>
            <a:outerShdw blurRad="152400" dist="25400" dir="5400000" algn="bl" rotWithShape="0">
              <a:srgbClr val="1B2A22">
                <a:alpha val="25000"/>
              </a:srgbClr>
            </a:outerShdw>
          </a:effectLst>
        </p:spPr>
      </p:pic>
      <p:sp>
        <p:nvSpPr>
          <p:cNvPr id="18" name="a6_desc_tx"/>
          <p:cNvSpPr txBox="1"/>
          <p:nvPr/>
        </p:nvSpPr>
        <p:spPr>
          <a:xfrm>
            <a:off x="914400" y="5029200"/>
            <a:ext cx="10360152" cy="1261872"/>
          </a:xfrm>
          <a:prstGeom prst="rect">
            <a:avLst/>
          </a:prstGeom>
          <a:noFill/>
          <a:ln/>
        </p:spPr>
        <p:txBody>
          <a:bodyPr wrap="square" lIns="0" tIns="0" rIns="0" bIns="0" rtlCol="0" anchor="ctr"/>
          <a:lstStyle/>
          <a:p>
            <a:pPr marL="0" indent="0">
              <a:lnSpc>
                <a:spcPct val="100000"/>
              </a:lnSpc>
              <a:buNone/>
            </a:pPr>
            <a:r>
              <a:rPr lang="en-US" sz="1400" dirty="0">
                <a:solidFill>
                  <a:schemeClr val="bg1"/>
                </a:solidFill>
              </a:rPr>
              <a:t>Our TransE lost to a simple count. The literature (Kadlec </a:t>
            </a:r>
            <a:r>
              <a:rPr lang="en-US" sz="1400" b="1" dirty="0">
                <a:solidFill>
                  <a:schemeClr val="accent6"/>
                </a:solidFill>
              </a:rPr>
              <a:t>2017</a:t>
            </a:r>
            <a:r>
              <a:rPr lang="en-US" sz="1400" dirty="0">
                <a:solidFill>
                  <a:schemeClr val="bg1"/>
                </a:solidFill>
              </a:rPr>
              <a:t>, Ruffinelli </a:t>
            </a:r>
            <a:r>
              <a:rPr lang="en-US" sz="1400" b="1" dirty="0">
                <a:solidFill>
                  <a:schemeClr val="accent6"/>
                </a:solidFill>
              </a:rPr>
              <a:t>2020</a:t>
            </a:r>
            <a:r>
              <a:rPr lang="en-US" sz="1400" dirty="0">
                <a:solidFill>
                  <a:schemeClr val="bg1"/>
                </a:solidFill>
              </a:rPr>
              <a:t>, Sun </a:t>
            </a:r>
            <a:r>
              <a:rPr lang="en-US" sz="1400" b="1" dirty="0">
                <a:solidFill>
                  <a:schemeClr val="accent6"/>
                </a:solidFill>
              </a:rPr>
              <a:t>2020</a:t>
            </a:r>
            <a:r>
              <a:rPr lang="en-US" sz="1400" dirty="0">
                <a:solidFill>
                  <a:schemeClr val="bg1"/>
                </a:solidFill>
              </a:rPr>
              <a:t>, Ali </a:t>
            </a:r>
            <a:r>
              <a:rPr lang="en-US" sz="1400" b="1" dirty="0">
                <a:solidFill>
                  <a:schemeClr val="accent6"/>
                </a:solidFill>
              </a:rPr>
              <a:t>2022</a:t>
            </a:r>
            <a:r>
              <a:rPr lang="en-US" sz="1400" dirty="0">
                <a:solidFill>
                  <a:schemeClr val="bg1"/>
                </a:solidFill>
              </a:rPr>
              <a:t>) shows that many reported gains vanish with fair tuning or a fair way to break ties. We checked ties on our own run: they change the score by at most </a:t>
            </a:r>
            <a:r>
              <a:rPr lang="en-US" sz="1400" b="1" dirty="0">
                <a:solidFill>
                  <a:schemeClr val="accent6"/>
                </a:solidFill>
              </a:rPr>
              <a:t>0.001</a:t>
            </a:r>
            <a:r>
              <a:rPr lang="en-US" sz="1400" dirty="0">
                <a:solidFill>
                  <a:schemeClr val="bg1"/>
                </a:solidFill>
              </a:rPr>
              <a:t>. But we never tuned TransE. So a model beats a baseline only with the same tuning budget, a stated protocol and a gap bigger than the seed spread.</a:t>
            </a:r>
            <a:endParaRPr lang="en-US" sz="1400" dirty="0"/>
          </a:p>
        </p:txBody>
      </p:sp>
      <p:sp>
        <p:nvSpPr>
          <p:cNvPr id="19" name="Slide Number Placeholder 0"/>
          <p:cNvSpPr>
            <a:spLocks noGrp="1"/>
          </p:cNvSpPr>
          <p:nvPr>
            <p:ph type="sldNum" sz="quarter" idx="4294967295"/>
          </p:nvPr>
        </p:nvSpPr>
        <p:spPr>
          <a:xfrm>
            <a:off x="11183112"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6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6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600"/>
                                        <p:tgtEl>
                                          <p:spTgt spid="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par>
                                <p:cTn id="27" presetID="10"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childTnLst>
                                </p:cTn>
                              </p:par>
                            </p:childTnLst>
                          </p:cTn>
                        </p:par>
                        <p:par>
                          <p:cTn id="33" fill="hold">
                            <p:stCondLst>
                              <p:cond delay="280"/>
                            </p:stCondLst>
                            <p:childTnLst>
                              <p:par>
                                <p:cTn id="34" presetID="10" presetClass="entr" presetSubtype="0" fill="hold" grpId="0" nodeType="afterEffect">
                                  <p:stCondLst>
                                    <p:cond delay="0"/>
                                  </p:stCondLst>
                                  <p:childTnLst>
                                    <p:set>
                                      <p:cBhvr>
                                        <p:cTn id="35" dur="1" fill="hold">
                                          <p:stCondLst>
                                            <p:cond delay="0"/>
                                          </p:stCondLst>
                                        </p:cTn>
                                        <p:tgtEl>
                                          <p:spTgt spid="11">
                                            <p:txEl>
                                              <p:pRg st="0" end="0"/>
                                            </p:txEl>
                                          </p:spTgt>
                                        </p:tgtEl>
                                        <p:attrNameLst>
                                          <p:attrName>style.visibility</p:attrName>
                                        </p:attrNameLst>
                                      </p:cBhvr>
                                      <p:to>
                                        <p:strVal val="visible"/>
                                      </p:to>
                                    </p:set>
                                    <p:animEffect transition="in" filter="fade">
                                      <p:cBhvr>
                                        <p:cTn id="36" dur="500"/>
                                        <p:tgtEl>
                                          <p:spTgt spid="11">
                                            <p:txEl>
                                              <p:pRg st="0" end="0"/>
                                            </p:txEl>
                                          </p:spTgt>
                                        </p:tgtEl>
                                      </p:cBhvr>
                                    </p:animEffect>
                                  </p:childTnLst>
                                </p:cTn>
                              </p:par>
                            </p:childTnLst>
                          </p:cTn>
                        </p:par>
                        <p:par>
                          <p:cTn id="37" fill="hold">
                            <p:stCondLst>
                              <p:cond delay="560"/>
                            </p:stCondLst>
                            <p:childTnLst>
                              <p:par>
                                <p:cTn id="38" presetID="10" presetClass="entr" presetSubtype="0" fill="hold" grpId="0" nodeType="afterEffect">
                                  <p:stCondLst>
                                    <p:cond delay="0"/>
                                  </p:stCondLst>
                                  <p:childTnLst>
                                    <p:set>
                                      <p:cBhvr>
                                        <p:cTn id="39" dur="1" fill="hold">
                                          <p:stCondLst>
                                            <p:cond delay="0"/>
                                          </p:stCondLst>
                                        </p:cTn>
                                        <p:tgtEl>
                                          <p:spTgt spid="11">
                                            <p:txEl>
                                              <p:pRg st="1" end="1"/>
                                            </p:txEl>
                                          </p:spTgt>
                                        </p:tgtEl>
                                        <p:attrNameLst>
                                          <p:attrName>style.visibility</p:attrName>
                                        </p:attrNameLst>
                                      </p:cBhvr>
                                      <p:to>
                                        <p:strVal val="visible"/>
                                      </p:to>
                                    </p:set>
                                    <p:animEffect transition="in" filter="fade">
                                      <p:cBhvr>
                                        <p:cTn id="40" dur="500"/>
                                        <p:tgtEl>
                                          <p:spTgt spid="11">
                                            <p:txEl>
                                              <p:pRg st="1" end="1"/>
                                            </p:txEl>
                                          </p:spTgt>
                                        </p:tgtEl>
                                      </p:cBhvr>
                                    </p:animEffect>
                                  </p:childTnLst>
                                </p:cTn>
                              </p:par>
                            </p:childTnLst>
                          </p:cTn>
                        </p:par>
                        <p:par>
                          <p:cTn id="41" fill="hold">
                            <p:stCondLst>
                              <p:cond delay="840"/>
                            </p:stCondLst>
                            <p:childTnLst>
                              <p:par>
                                <p:cTn id="42" presetID="10" presetClass="entr" presetSubtype="0" fill="hold" grpId="0" nodeType="afterEffect">
                                  <p:stCondLst>
                                    <p:cond delay="0"/>
                                  </p:stCondLst>
                                  <p:childTnLst>
                                    <p:set>
                                      <p:cBhvr>
                                        <p:cTn id="43" dur="1" fill="hold">
                                          <p:stCondLst>
                                            <p:cond delay="0"/>
                                          </p:stCondLst>
                                        </p:cTn>
                                        <p:tgtEl>
                                          <p:spTgt spid="11">
                                            <p:txEl>
                                              <p:pRg st="2" end="2"/>
                                            </p:txEl>
                                          </p:spTgt>
                                        </p:tgtEl>
                                        <p:attrNameLst>
                                          <p:attrName>style.visibility</p:attrName>
                                        </p:attrNameLst>
                                      </p:cBhvr>
                                      <p:to>
                                        <p:strVal val="visible"/>
                                      </p:to>
                                    </p:set>
                                    <p:animEffect transition="in" filter="fade">
                                      <p:cBhvr>
                                        <p:cTn id="44" dur="500"/>
                                        <p:tgtEl>
                                          <p:spTgt spid="11">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grpId="0" nodeType="click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wipe(left)">
                                      <p:cBhvr>
                                        <p:cTn id="49" dur="600"/>
                                        <p:tgtEl>
                                          <p:spTgt spid="1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childTnLst>
                                </p:cTn>
                              </p:par>
                              <p:par>
                                <p:cTn id="53" presetID="10" presetClass="entr" presetSubtype="0" fill="hold" nodeType="withEffect">
                                  <p:stCondLst>
                                    <p:cond delay="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500"/>
                                        <p:tgtEl>
                                          <p:spTgt spid="14"/>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5"/>
                                        </p:tgtEl>
                                        <p:attrNameLst>
                                          <p:attrName>style.visibility</p:attrName>
                                        </p:attrNameLst>
                                      </p:cBhvr>
                                      <p:to>
                                        <p:strVal val="visible"/>
                                      </p:to>
                                    </p:set>
                                    <p:animEffect transition="in" filter="fade">
                                      <p:cBhvr>
                                        <p:cTn id="58" dur="500"/>
                                        <p:tgtEl>
                                          <p:spTgt spid="15"/>
                                        </p:tgtEl>
                                      </p:cBhvr>
                                    </p:animEffect>
                                  </p:childTnLst>
                                </p:cTn>
                              </p:par>
                            </p:childTnLst>
                          </p:cTn>
                        </p:par>
                        <p:par>
                          <p:cTn id="59" fill="hold">
                            <p:stCondLst>
                              <p:cond delay="280"/>
                            </p:stCondLst>
                            <p:childTnLst>
                              <p:par>
                                <p:cTn id="60" presetID="10" presetClass="entr" presetSubtype="0" fill="hold" grpId="0" nodeType="afterEffect">
                                  <p:stCondLst>
                                    <p:cond delay="0"/>
                                  </p:stCondLst>
                                  <p:childTnLst>
                                    <p:set>
                                      <p:cBhvr>
                                        <p:cTn id="61" dur="1" fill="hold">
                                          <p:stCondLst>
                                            <p:cond delay="0"/>
                                          </p:stCondLst>
                                        </p:cTn>
                                        <p:tgtEl>
                                          <p:spTgt spid="16">
                                            <p:txEl>
                                              <p:pRg st="0" end="0"/>
                                            </p:txEl>
                                          </p:spTgt>
                                        </p:tgtEl>
                                        <p:attrNameLst>
                                          <p:attrName>style.visibility</p:attrName>
                                        </p:attrNameLst>
                                      </p:cBhvr>
                                      <p:to>
                                        <p:strVal val="visible"/>
                                      </p:to>
                                    </p:set>
                                    <p:animEffect transition="in" filter="fade">
                                      <p:cBhvr>
                                        <p:cTn id="62" dur="500"/>
                                        <p:tgtEl>
                                          <p:spTgt spid="16">
                                            <p:txEl>
                                              <p:pRg st="0" end="0"/>
                                            </p:txEl>
                                          </p:spTgt>
                                        </p:tgtEl>
                                      </p:cBhvr>
                                    </p:animEffect>
                                  </p:childTnLst>
                                </p:cTn>
                              </p:par>
                            </p:childTnLst>
                          </p:cTn>
                        </p:par>
                        <p:par>
                          <p:cTn id="63" fill="hold">
                            <p:stCondLst>
                              <p:cond delay="560"/>
                            </p:stCondLst>
                            <p:childTnLst>
                              <p:par>
                                <p:cTn id="64" presetID="10" presetClass="entr" presetSubtype="0" fill="hold" grpId="0" nodeType="afterEffect">
                                  <p:stCondLst>
                                    <p:cond delay="0"/>
                                  </p:stCondLst>
                                  <p:childTnLst>
                                    <p:set>
                                      <p:cBhvr>
                                        <p:cTn id="65" dur="1" fill="hold">
                                          <p:stCondLst>
                                            <p:cond delay="0"/>
                                          </p:stCondLst>
                                        </p:cTn>
                                        <p:tgtEl>
                                          <p:spTgt spid="16">
                                            <p:txEl>
                                              <p:pRg st="1" end="1"/>
                                            </p:txEl>
                                          </p:spTgt>
                                        </p:tgtEl>
                                        <p:attrNameLst>
                                          <p:attrName>style.visibility</p:attrName>
                                        </p:attrNameLst>
                                      </p:cBhvr>
                                      <p:to>
                                        <p:strVal val="visible"/>
                                      </p:to>
                                    </p:set>
                                    <p:animEffect transition="in" filter="fade">
                                      <p:cBhvr>
                                        <p:cTn id="66" dur="500"/>
                                        <p:tgtEl>
                                          <p:spTgt spid="16">
                                            <p:txEl>
                                              <p:pRg st="1" end="1"/>
                                            </p:txEl>
                                          </p:spTgt>
                                        </p:tgtEl>
                                      </p:cBhvr>
                                    </p:animEffect>
                                  </p:childTnLst>
                                </p:cTn>
                              </p:par>
                            </p:childTnLst>
                          </p:cTn>
                        </p:par>
                        <p:par>
                          <p:cTn id="67" fill="hold">
                            <p:stCondLst>
                              <p:cond delay="840"/>
                            </p:stCondLst>
                            <p:childTnLst>
                              <p:par>
                                <p:cTn id="68" presetID="10" presetClass="entr" presetSubtype="0" fill="hold" grpId="0" nodeType="afterEffect">
                                  <p:stCondLst>
                                    <p:cond delay="0"/>
                                  </p:stCondLst>
                                  <p:childTnLst>
                                    <p:set>
                                      <p:cBhvr>
                                        <p:cTn id="69" dur="1" fill="hold">
                                          <p:stCondLst>
                                            <p:cond delay="0"/>
                                          </p:stCondLst>
                                        </p:cTn>
                                        <p:tgtEl>
                                          <p:spTgt spid="16">
                                            <p:txEl>
                                              <p:pRg st="2" end="2"/>
                                            </p:txEl>
                                          </p:spTgt>
                                        </p:tgtEl>
                                        <p:attrNameLst>
                                          <p:attrName>style.visibility</p:attrName>
                                        </p:attrNameLst>
                                      </p:cBhvr>
                                      <p:to>
                                        <p:strVal val="visible"/>
                                      </p:to>
                                    </p:set>
                                    <p:animEffect transition="in" filter="fade">
                                      <p:cBhvr>
                                        <p:cTn id="70" dur="500"/>
                                        <p:tgtEl>
                                          <p:spTgt spid="16">
                                            <p:txEl>
                                              <p:pRg st="2" end="2"/>
                                            </p:txEl>
                                          </p:spTgt>
                                        </p:tgtEl>
                                      </p:cBhvr>
                                    </p:animEffect>
                                  </p:childTnLst>
                                </p:cTn>
                              </p:par>
                            </p:childTnLst>
                          </p:cTn>
                        </p:par>
                        <p:par>
                          <p:cTn id="71" fill="hold">
                            <p:stCondLst>
                              <p:cond delay="1120"/>
                            </p:stCondLst>
                            <p:childTnLst>
                              <p:par>
                                <p:cTn id="72" presetID="10" presetClass="entr" presetSubtype="0" fill="hold" grpId="0" nodeType="afterEffect">
                                  <p:stCondLst>
                                    <p:cond delay="0"/>
                                  </p:stCondLst>
                                  <p:childTnLst>
                                    <p:set>
                                      <p:cBhvr>
                                        <p:cTn id="73" dur="1" fill="hold">
                                          <p:stCondLst>
                                            <p:cond delay="0"/>
                                          </p:stCondLst>
                                        </p:cTn>
                                        <p:tgtEl>
                                          <p:spTgt spid="16">
                                            <p:txEl>
                                              <p:pRg st="3" end="3"/>
                                            </p:txEl>
                                          </p:spTgt>
                                        </p:tgtEl>
                                        <p:attrNameLst>
                                          <p:attrName>style.visibility</p:attrName>
                                        </p:attrNameLst>
                                      </p:cBhvr>
                                      <p:to>
                                        <p:strVal val="visible"/>
                                      </p:to>
                                    </p:set>
                                    <p:animEffect transition="in" filter="fade">
                                      <p:cBhvr>
                                        <p:cTn id="74" dur="500"/>
                                        <p:tgtEl>
                                          <p:spTgt spid="16">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nodeType="clickEffect">
                                  <p:stCondLst>
                                    <p:cond delay="0"/>
                                  </p:stCondLst>
                                  <p:childTnLst>
                                    <p:set>
                                      <p:cBhvr>
                                        <p:cTn id="78" dur="1" fill="hold">
                                          <p:stCondLst>
                                            <p:cond delay="0"/>
                                          </p:stCondLst>
                                        </p:cTn>
                                        <p:tgtEl>
                                          <p:spTgt spid="17"/>
                                        </p:tgtEl>
                                        <p:attrNameLst>
                                          <p:attrName>style.visibility</p:attrName>
                                        </p:attrNameLst>
                                      </p:cBhvr>
                                      <p:to>
                                        <p:strVal val="visible"/>
                                      </p:to>
                                    </p:set>
                                    <p:animEffect transition="in" filter="wipe(left)">
                                      <p:cBhvr>
                                        <p:cTn id="79" dur="600"/>
                                        <p:tgtEl>
                                          <p:spTgt spid="17"/>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18"/>
                                        </p:tgtEl>
                                        <p:attrNameLst>
                                          <p:attrName>style.visibility</p:attrName>
                                        </p:attrNameLst>
                                      </p:cBhvr>
                                      <p:to>
                                        <p:strVal val="visible"/>
                                      </p:to>
                                    </p:set>
                                    <p:animEffect transition="in" filter="fade">
                                      <p:cBhvr>
                                        <p:cTn id="82"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10" grpId="0" animBg="1"/>
      <p:bldP spid="11" grpId="0" build="p"/>
      <p:bldP spid="12" grpId="0" animBg="1"/>
      <p:bldP spid="13" grpId="0" animBg="1"/>
      <p:bldP spid="15" grpId="0" animBg="1"/>
      <p:bldP spid="16" grpId="0" build="p"/>
      <p:bldP spid="1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325880"/>
            <a:ext cx="7863840" cy="1600200"/>
          </a:xfrm>
          <a:prstGeom prst="rect">
            <a:avLst/>
          </a:prstGeom>
          <a:noFill/>
          <a:ln/>
        </p:spPr>
        <p:txBody>
          <a:bodyPr wrap="square" lIns="0" tIns="0" rIns="0" bIns="0" rtlCol="0" anchor="b"/>
          <a:lstStyle/>
          <a:p>
            <a:pPr marL="0" indent="0" algn="l">
              <a:buNone/>
            </a:pPr>
            <a:r>
              <a:rPr lang="en-US" sz="4400" b="1" dirty="0">
                <a:solidFill>
                  <a:schemeClr val="bg1"/>
                </a:solidFill>
              </a:rPr>
              <a:t>Thank you</a:t>
            </a:r>
            <a:endParaRPr lang="en-US" sz="4400" dirty="0"/>
          </a:p>
        </p:txBody>
      </p:sp>
      <p:sp>
        <p:nvSpPr>
          <p:cNvPr id="3" name="a1_demo"/>
          <p:cNvSpPr txBox="1"/>
          <p:nvPr/>
        </p:nvSpPr>
        <p:spPr>
          <a:xfrm>
            <a:off x="731520" y="3108960"/>
            <a:ext cx="7498080" cy="502920"/>
          </a:xfrm>
          <a:prstGeom prst="rect">
            <a:avLst/>
          </a:prstGeom>
          <a:noFill/>
          <a:ln/>
        </p:spPr>
        <p:txBody>
          <a:bodyPr wrap="square" lIns="0" tIns="0" rIns="0" bIns="0" rtlCol="0" anchor="t"/>
          <a:lstStyle/>
          <a:p>
            <a:pPr marL="0" indent="0">
              <a:buNone/>
            </a:pPr>
            <a:r>
              <a:rPr lang="en-US" sz="2400" dirty="0">
                <a:solidFill>
                  <a:schemeClr val="bg2"/>
                </a:solidFill>
              </a:rPr>
              <a:t>Live demo: one question answered, one refused</a:t>
            </a:r>
            <a:endParaRPr lang="en-US" sz="2400" dirty="0"/>
          </a:p>
        </p:txBody>
      </p:sp>
      <p:sp>
        <p:nvSpPr>
          <p:cNvPr id="4" name="a2_q"/>
          <p:cNvSpPr txBox="1"/>
          <p:nvPr/>
        </p:nvSpPr>
        <p:spPr>
          <a:xfrm>
            <a:off x="731520" y="3840480"/>
            <a:ext cx="7498080" cy="548640"/>
          </a:xfrm>
          <a:prstGeom prst="rect">
            <a:avLst/>
          </a:prstGeom>
          <a:noFill/>
          <a:ln/>
        </p:spPr>
        <p:txBody>
          <a:bodyPr wrap="square" lIns="0" tIns="0" rIns="0" bIns="0" rtlCol="0" anchor="t"/>
          <a:lstStyle/>
          <a:p>
            <a:pPr marL="0" indent="0">
              <a:buNone/>
            </a:pPr>
            <a:r>
              <a:rPr lang="en-US" sz="2600" b="1" dirty="0">
                <a:solidFill>
                  <a:schemeClr val="accent2"/>
                </a:solidFill>
              </a:rPr>
              <a:t>Questions?</a:t>
            </a:r>
            <a:endParaRPr lang="en-US" sz="2600" dirty="0"/>
          </a:p>
        </p:txBody>
      </p:sp>
      <p:sp>
        <p:nvSpPr>
          <p:cNvPr id="5" name="a3_names"/>
          <p:cNvSpPr txBox="1"/>
          <p:nvPr/>
        </p:nvSpPr>
        <p:spPr>
          <a:xfrm>
            <a:off x="731520" y="4846320"/>
            <a:ext cx="7498080" cy="457200"/>
          </a:xfrm>
          <a:prstGeom prst="rect">
            <a:avLst/>
          </a:prstGeom>
          <a:noFill/>
          <a:ln/>
        </p:spPr>
        <p:txBody>
          <a:bodyPr wrap="square" lIns="0" tIns="0" rIns="0" bIns="0" rtlCol="0" anchor="t"/>
          <a:lstStyle/>
          <a:p>
            <a:pPr marL="0" indent="0">
              <a:buNone/>
            </a:pPr>
            <a:r>
              <a:rPr lang="en-US" sz="2000" b="1" dirty="0">
                <a:solidFill>
                  <a:schemeClr val="bg1"/>
                </a:solidFill>
              </a:rPr>
              <a:t>Mohammed Zaiter   ·   Ali Tarhini</a:t>
            </a:r>
            <a:endParaRPr lang="en-US" sz="2000" dirty="0"/>
          </a:p>
        </p:txBody>
      </p:sp>
      <p:sp>
        <p:nvSpPr>
          <p:cNvPr id="6" name="a1_leaf_c"/>
          <p:cNvSpPr/>
          <p:nvPr/>
        </p:nvSpPr>
        <p:spPr>
          <a:xfrm>
            <a:off x="8778240" y="1920240"/>
            <a:ext cx="2377440" cy="2377440"/>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7" name="a1_leaf_i" descr="preencoded.png"/>
          <p:cNvPicPr>
            <a:picLocks noChangeAspect="1"/>
          </p:cNvPicPr>
          <p:nvPr/>
        </p:nvPicPr>
        <p:blipFill>
          <a:blip r:embed="rId3"/>
          <a:stretch>
            <a:fillRect/>
          </a:stretch>
        </p:blipFill>
        <p:spPr>
          <a:xfrm>
            <a:off x="9372600" y="2514600"/>
            <a:ext cx="1188720" cy="118872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280"/>
                            </p:stCondLst>
                            <p:childTnLst>
                              <p:par>
                                <p:cTn id="9" presetID="10" presetClass="entr" presetSubtype="0"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childTnLst>
                          </p:cTn>
                        </p:par>
                        <p:par>
                          <p:cTn id="18" fill="hold">
                            <p:stCondLst>
                              <p:cond delay="560"/>
                            </p:stCondLst>
                            <p:childTnLst>
                              <p:par>
                                <p:cTn id="19" presetID="10" presetClass="entr" presetSubtype="0" fill="hold" grpId="0" nodeType="after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500"/>
                                        <p:tgtEl>
                                          <p:spTgt spid="4"/>
                                        </p:tgtEl>
                                      </p:cBhvr>
                                    </p:animEffect>
                                  </p:childTnLst>
                                </p:cTn>
                              </p:par>
                            </p:childTnLst>
                          </p:cTn>
                        </p:par>
                        <p:par>
                          <p:cTn id="22" fill="hold">
                            <p:stCondLst>
                              <p:cond delay="840"/>
                            </p:stCondLst>
                            <p:childTnLst>
                              <p:par>
                                <p:cTn id="23" presetID="10" presetClass="entr" presetSubtype="0" fill="hold" grpId="0"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Lst>
  </p:timing>
</p:sld>
</file>

<file path=ppt/theme/theme1.xml><?xml version="1.0" encoding="utf-8"?>
<a:theme xmlns:a="http://schemas.openxmlformats.org/drawingml/2006/main" name="FoodScope">
  <a:themeElements>
    <a:clrScheme name="FoodScope">
      <a:dk1>
        <a:srgbClr val="1B2A22"/>
      </a:dk1>
      <a:lt1>
        <a:srgbClr val="FFFFFF"/>
      </a:lt1>
      <a:dk2>
        <a:srgbClr val="1F4D3A"/>
      </a:dk2>
      <a:lt2>
        <a:srgbClr val="EDF4EE"/>
      </a:lt2>
      <a:accent1>
        <a:srgbClr val="2E7D57"/>
      </a:accent1>
      <a:accent2>
        <a:srgbClr val="F2994A"/>
      </a:accent2>
      <a:accent3>
        <a:srgbClr val="D9534F"/>
      </a:accent3>
      <a:accent4>
        <a:srgbClr val="7FB77E"/>
      </a:accent4>
      <a:accent5>
        <a:srgbClr val="5E6E66"/>
      </a:accent5>
      <a:accent6>
        <a:srgbClr val="F6C85F"/>
      </a:accent6>
      <a:hlink>
        <a:srgbClr val="2E7D57"/>
      </a:hlink>
      <a:folHlink>
        <a:srgbClr val="1F4D3A"/>
      </a:folHlink>
    </a:clrScheme>
    <a:fontScheme name="FoodScop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1690</Words>
  <Application>Microsoft Office PowerPoint</Application>
  <PresentationFormat>Widescreen</PresentationFormat>
  <Paragraphs>206</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Consolas</vt:lpstr>
      <vt:lpstr>Segoe UI</vt:lpstr>
      <vt:lpstr>FoodScope</vt:lpstr>
      <vt:lpstr>Knowledge Representation and Reasoning</vt:lpstr>
      <vt:lpstr>FoodScope</vt:lpstr>
      <vt:lpstr>Problem and scope</vt:lpstr>
      <vt:lpstr>Data and constraints</vt:lpstr>
      <vt:lpstr>Ontology</vt:lpstr>
      <vt:lpstr>Validation with SHACL</vt:lpstr>
      <vt:lpstr>Data integration</vt:lpstr>
      <vt:lpstr>Learning over the graph</vt:lpstr>
      <vt:lpstr>Access layer</vt:lpstr>
      <vt:lpstr>Deployment and reproducibility</vt:lpstr>
      <vt:lpstr>Open problem: reproducible results</vt:lpstr>
      <vt:lpstr>Thank you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FoodScope</dc:title>
  <dc:subject>PptxGenJS Presentation</dc:subject>
  <dc:creator>Mohammed Zaiter, Ali Tarhini</dc:creator>
  <cp:lastModifiedBy>Mohammed Zaiter</cp:lastModifiedBy>
  <cp:revision>2</cp:revision>
  <dcterms:created xsi:type="dcterms:W3CDTF">2026-10-18T18:57:01Z</dcterms:created>
  <dcterms:modified xsi:type="dcterms:W3CDTF">2026-10-19T12:34:52Z</dcterms:modified>
</cp:coreProperties>
</file>