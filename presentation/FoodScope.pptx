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7"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BB05BE-E82C-CB6C-90AF-E5F8C50D7528}">
          <p14:sldIdLst>
            <p14:sldId id="256"/>
          </p14:sldIdLst>
        </p14:section>
        <p14:section name="Overview" id="{36D0652F-F2B4-7768-28CE-65C97889664D}">
          <p14:sldIdLst>
            <p14:sldId id="257"/>
          </p14:sldIdLst>
        </p14:section>
        <p14:section name="1 Problem and scope" id="{B23D2013-6032-935D-FF64-BC7571CEA66C}">
          <p14:sldIdLst>
            <p14:sldId id="258"/>
          </p14:sldIdLst>
        </p14:section>
        <p14:section name="2 Data and constraints" id="{324AB812-DAA6-2D41-DCE5-AD1680056DC1}">
          <p14:sldIdLst>
            <p14:sldId id="259"/>
          </p14:sldIdLst>
        </p14:section>
        <p14:section name="3 Ontology" id="{6E62B4B3-9D30-ABA9-B52B-73367E35A0E7}">
          <p14:sldIdLst>
            <p14:sldId id="260"/>
          </p14:sldIdLst>
        </p14:section>
        <p14:section name="4 Validation" id="{8DE290ED-49F6-0F08-0D2E-69E5A430F1E5}">
          <p14:sldIdLst>
            <p14:sldId id="261"/>
          </p14:sldIdLst>
        </p14:section>
        <p14:section name="5 Integration" id="{E54F3D6D-21B6-9A49-37AE-CD4A5F1AE9B6}">
          <p14:sldIdLst>
            <p14:sldId id="262"/>
          </p14:sldIdLst>
        </p14:section>
        <p14:section name="6 Learning" id="{D096BEFA-BA93-3385-94FC-E600A2C5628D}">
          <p14:sldIdLst>
            <p14:sldId id="263"/>
          </p14:sldIdLst>
        </p14:section>
        <p14:section name="7 Access layer" id="{813FA7AC-9357-7BA3-9920-4D1FC56427D3}">
          <p14:sldIdLst>
            <p14:sldId id="264"/>
          </p14:sldIdLst>
        </p14:section>
        <p14:section name="8 Deployment" id="{F8ACF7EA-B2B3-1A23-7435-CB11B0B6BBEA}">
          <p14:sldIdLst>
            <p14:sldId id="265"/>
          </p14:sldIdLst>
        </p14:section>
        <p14:section name="9 Open problem" id="{A06A0D32-FCF0-EBA5-02B0-FFA64960F805}">
          <p14:sldIdLst/>
        </p14:section>
        <p14:section name="Closing" id="{A0FB85CB-CD30-1C41-A80B-46723D1D320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102" d="100"/>
          <a:sy n="102" d="100"/>
        </p:scale>
        <p:origin x="87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1F4D3A"/>
                </a:solidFill>
                <a:latin typeface="+mn-lt"/>
              </a:defRPr>
            </a:pPr>
            <a:r>
              <a:rPr lang="en-US" sz="1500" b="0" i="0" u="none" strike="noStrike">
                <a:solidFill>
                  <a:srgbClr val="1F4D3A"/>
                </a:solidFill>
                <a:latin typeface="+mn-lt"/>
              </a:rPr>
              <a:t>Foods with no value, by nutrient (of 358)</a:t>
            </a:r>
          </a:p>
        </c:rich>
      </c:tx>
      <c:overlay val="0"/>
    </c:title>
    <c:autoTitleDeleted val="0"/>
    <c:plotArea>
      <c:layout/>
      <c:barChart>
        <c:barDir val="bar"/>
        <c:grouping val="clustered"/>
        <c:varyColors val="0"/>
        <c:ser>
          <c:idx val="0"/>
          <c:order val="0"/>
          <c:tx>
            <c:strRef>
              <c:f>Sheet1!$B$1</c:f>
              <c:strCache>
                <c:ptCount val="1"/>
                <c:pt idx="0">
                  <c:v>Foods with no value</c:v>
                </c:pt>
              </c:strCache>
            </c:strRef>
          </c:tx>
          <c:spPr>
            <a:solidFill>
              <a:srgbClr val="F2994A"/>
            </a:solidFill>
            <a:effectLst/>
          </c:spPr>
          <c:invertIfNegative val="0"/>
          <c:dLbls>
            <c:numFmt formatCode="#,##0" sourceLinked="0"/>
            <c:spPr>
              <a:noFill/>
              <a:ln>
                <a:noFill/>
              </a:ln>
              <a:effectLst/>
            </c:spPr>
            <c:txPr>
              <a:bodyPr/>
              <a:lstStyle/>
              <a:p>
                <a:pPr>
                  <a:defRPr sz="13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sugars</c:v>
                </c:pt>
                <c:pt idx="1">
                  <c:v>fiber</c:v>
                </c:pt>
                <c:pt idx="2">
                  <c:v>sodium</c:v>
                </c:pt>
                <c:pt idx="3">
                  <c:v>carbohydrate</c:v>
                </c:pt>
                <c:pt idx="4">
                  <c:v>protein</c:v>
                </c:pt>
                <c:pt idx="5">
                  <c:v>fat</c:v>
                </c:pt>
              </c:strCache>
            </c:strRef>
          </c:cat>
          <c:val>
            <c:numRef>
              <c:f>Sheet1!$B$2:$B$7</c:f>
              <c:numCache>
                <c:formatCode>General</c:formatCode>
                <c:ptCount val="6"/>
                <c:pt idx="0">
                  <c:v>353</c:v>
                </c:pt>
                <c:pt idx="1">
                  <c:v>177</c:v>
                </c:pt>
                <c:pt idx="2">
                  <c:v>49</c:v>
                </c:pt>
                <c:pt idx="3">
                  <c:v>48</c:v>
                </c:pt>
                <c:pt idx="4">
                  <c:v>12</c:v>
                </c:pt>
                <c:pt idx="5">
                  <c:v>10</c:v>
                </c:pt>
              </c:numCache>
            </c:numRef>
          </c:val>
          <c:extLst>
            <c:ext xmlns:c16="http://schemas.microsoft.com/office/drawing/2014/chart" uri="{C3380CC4-5D6E-409C-BE32-E72D297353CC}">
              <c16:uniqueId val="{00000000-87E6-4108-9BFF-92EBFF4F3073}"/>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2A22"/>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1F4D3A"/>
                </a:solidFill>
                <a:latin typeface="+mn-lt"/>
              </a:defRPr>
            </a:pPr>
            <a:r>
              <a:rPr lang="en-US" sz="1500" b="0" i="0" u="none" strike="noStrike">
                <a:solidFill>
                  <a:srgbClr val="1F4D3A"/>
                </a:solidFill>
                <a:latin typeface="+mn-lt"/>
              </a:rPr>
              <a:t>Is a food high in fat? PR-AUC, split by category</a:t>
            </a:r>
          </a:p>
        </c:rich>
      </c:tx>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5E6E66"/>
            </a:solidFill>
            <a:effectLst/>
          </c:spPr>
          <c:invertIfNegative val="0"/>
          <c:dLbls>
            <c:numFmt formatCode="0.00" sourceLinked="0"/>
            <c:spPr>
              <a:noFill/>
              <a:ln>
                <a:noFill/>
              </a:ln>
              <a:effectLst/>
            </c:spPr>
            <c:txPr>
              <a:bodyPr/>
              <a:lstStyle/>
              <a:p>
                <a:pPr>
                  <a:defRPr sz="12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seed 0</c:v>
                </c:pt>
                <c:pt idx="1">
                  <c:v>seed 1</c:v>
                </c:pt>
                <c:pt idx="2">
                  <c:v>seed 3</c:v>
                </c:pt>
                <c:pt idx="3">
                  <c:v>seed 4</c:v>
                </c:pt>
              </c:strCache>
            </c:strRef>
          </c:cat>
          <c:val>
            <c:numRef>
              <c:f>Sheet1!$B$2:$B$5</c:f>
              <c:numCache>
                <c:formatCode>General</c:formatCode>
                <c:ptCount val="4"/>
                <c:pt idx="0">
                  <c:v>0.16300000000000001</c:v>
                </c:pt>
                <c:pt idx="1">
                  <c:v>0.52300000000000002</c:v>
                </c:pt>
                <c:pt idx="2">
                  <c:v>0.129</c:v>
                </c:pt>
                <c:pt idx="3">
                  <c:v>0.754</c:v>
                </c:pt>
              </c:numCache>
            </c:numRef>
          </c:val>
          <c:extLst>
            <c:ext xmlns:c16="http://schemas.microsoft.com/office/drawing/2014/chart" uri="{C3380CC4-5D6E-409C-BE32-E72D297353CC}">
              <c16:uniqueId val="{00000000-73F4-4E53-BA23-080C8E6D85B4}"/>
            </c:ext>
          </c:extLst>
        </c:ser>
        <c:ser>
          <c:idx val="1"/>
          <c:order val="1"/>
          <c:tx>
            <c:strRef>
              <c:f>Sheet1!$C$1</c:f>
              <c:strCache>
                <c:ptCount val="1"/>
                <c:pt idx="0">
                  <c:v>GraphSAGE</c:v>
                </c:pt>
              </c:strCache>
            </c:strRef>
          </c:tx>
          <c:spPr>
            <a:solidFill>
              <a:srgbClr val="2E7D57"/>
            </a:solidFill>
            <a:effectLst/>
          </c:spPr>
          <c:invertIfNegative val="0"/>
          <c:dLbls>
            <c:numFmt formatCode="0.00" sourceLinked="0"/>
            <c:spPr>
              <a:noFill/>
              <a:ln>
                <a:noFill/>
              </a:ln>
              <a:effectLst/>
            </c:spPr>
            <c:txPr>
              <a:bodyPr/>
              <a:lstStyle/>
              <a:p>
                <a:pPr>
                  <a:defRPr sz="1200" b="0" i="0" u="none" strike="noStrike">
                    <a:solidFill>
                      <a:srgbClr val="1B2A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seed 0</c:v>
                </c:pt>
                <c:pt idx="1">
                  <c:v>seed 1</c:v>
                </c:pt>
                <c:pt idx="2">
                  <c:v>seed 3</c:v>
                </c:pt>
                <c:pt idx="3">
                  <c:v>seed 4</c:v>
                </c:pt>
              </c:strCache>
            </c:strRef>
          </c:cat>
          <c:val>
            <c:numRef>
              <c:f>Sheet1!$C$2:$C$5</c:f>
              <c:numCache>
                <c:formatCode>General</c:formatCode>
                <c:ptCount val="4"/>
                <c:pt idx="0">
                  <c:v>0.16300000000000001</c:v>
                </c:pt>
                <c:pt idx="1">
                  <c:v>0.86699999999999999</c:v>
                </c:pt>
                <c:pt idx="2">
                  <c:v>0.09</c:v>
                </c:pt>
                <c:pt idx="3">
                  <c:v>0.64100000000000001</c:v>
                </c:pt>
              </c:numCache>
            </c:numRef>
          </c:val>
          <c:extLst>
            <c:ext xmlns:c16="http://schemas.microsoft.com/office/drawing/2014/chart" uri="{C3380CC4-5D6E-409C-BE32-E72D297353CC}">
              <c16:uniqueId val="{00000001-73F4-4E53-BA23-080C8E6D85B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A22"/>
                </a:solidFill>
                <a:latin typeface="+mn-lt"/>
              </a:defRPr>
            </a:pPr>
            <a:endParaRPr lang="en-US"/>
          </a:p>
        </c:txPr>
        <c:crossAx val="2094734552"/>
        <c:crosses val="autoZero"/>
        <c:auto val="1"/>
        <c:lblAlgn val="ctr"/>
        <c:lblOffset val="100"/>
        <c:noMultiLvlLbl val="1"/>
      </c:catAx>
      <c:valAx>
        <c:axId val="2094734552"/>
        <c:scaling>
          <c:orientation val="minMax"/>
          <c:max val="1"/>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300">
              <a:solidFill>
                <a:srgbClr val="1B2A22"/>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5169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rtlCol="0"/>
          <a:lstStyle>
            <a:lvl1pPr marL="0" indent="0">
              <a:buNone/>
              <a:defRPr lang="en-US" sz="1900" dirty="0">
                <a:solidFill>
                  <a:schemeClr val="accent2"/>
                </a:solidFill>
              </a:defRPr>
            </a:lvl1pPr>
          </a:lstStyle>
          <a:p>
            <a:pPr marL="0" indent="0">
              <a:buNone/>
            </a:pPr>
            <a:endParaRPr lang="en-US" sz="1900" dirty="0"/>
          </a:p>
        </p:txBody>
      </p:sp>
      <p:sp>
        <p:nvSpPr>
          <p:cNvPr id="4" name="Text 0"/>
          <p:cNvSpPr/>
          <p:nvPr/>
        </p:nvSpPr>
        <p:spPr>
          <a:xfrm>
            <a:off x="548640" y="6446520"/>
            <a:ext cx="7315200" cy="256032"/>
          </a:xfrm>
          <a:prstGeom prst="rect">
            <a:avLst/>
          </a:prstGeom>
          <a:noFill/>
          <a:ln/>
        </p:spPr>
        <p:txBody>
          <a:bodyPr wrap="square" lIns="0" tIns="0" rIns="0" bIns="0" rtlCol="0" anchor="ctr"/>
          <a:lstStyle/>
          <a:p>
            <a:pPr marL="0" indent="0">
              <a:buNone/>
            </a:pPr>
            <a:r>
              <a:rPr lang="en-US" sz="1000" dirty="0">
                <a:solidFill>
                  <a:schemeClr val="accent5"/>
                </a:solidFill>
              </a:rPr>
              <a:t>FoodScope  ·  Mohammed Zaiter &amp; Ali Tarhini</a:t>
            </a:r>
            <a:endParaRPr lang="en-US" sz="1000" dirty="0"/>
          </a:p>
        </p:txBody>
      </p:sp>
      <p:sp>
        <p:nvSpPr>
          <p:cNvPr id="25"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lIns="0" tIns="0" rIns="0" bIns="0" rtlCol="0" anchor="b"/>
          <a:lstStyle/>
          <a:p>
            <a:pPr marL="0" indent="0" algn="l">
              <a:buNone/>
            </a:pPr>
            <a:r>
              <a:rPr lang="en-US" sz="4400" b="1" dirty="0">
                <a:solidFill>
                  <a:schemeClr val="bg1"/>
                </a:solidFill>
              </a:rPr>
              <a:t>Knowledge Representation and Reasoning</a:t>
            </a:r>
            <a:endParaRPr lang="en-US" sz="4400" dirty="0"/>
          </a:p>
        </p:txBody>
      </p:sp>
      <p:sp>
        <p:nvSpPr>
          <p:cNvPr id="3" name="a1_master"/>
          <p:cNvSpPr txBox="1"/>
          <p:nvPr/>
        </p:nvSpPr>
        <p:spPr>
          <a:xfrm>
            <a:off x="731520" y="3063240"/>
            <a:ext cx="7498080" cy="457200"/>
          </a:xfrm>
          <a:prstGeom prst="rect">
            <a:avLst/>
          </a:prstGeom>
          <a:noFill/>
          <a:ln/>
        </p:spPr>
        <p:txBody>
          <a:bodyPr wrap="square" lIns="0" tIns="0" rIns="0" bIns="0" rtlCol="0" anchor="t"/>
          <a:lstStyle/>
          <a:p>
            <a:pPr marL="0" indent="0">
              <a:buNone/>
            </a:pPr>
            <a:r>
              <a:rPr lang="en-US" sz="2200" dirty="0">
                <a:solidFill>
                  <a:schemeClr val="accent4"/>
                </a:solidFill>
              </a:rPr>
              <a:t>Master in Artificial Intelligence  ·  Lebanese University</a:t>
            </a:r>
            <a:endParaRPr lang="en-US" sz="2200" dirty="0"/>
          </a:p>
        </p:txBody>
      </p:sp>
      <p:sp>
        <p:nvSpPr>
          <p:cNvPr id="4" name="a2_names"/>
          <p:cNvSpPr txBox="1"/>
          <p:nvPr/>
        </p:nvSpPr>
        <p:spPr>
          <a:xfrm>
            <a:off x="731520" y="3703320"/>
            <a:ext cx="7498080" cy="502920"/>
          </a:xfrm>
          <a:prstGeom prst="rect">
            <a:avLst/>
          </a:prstGeom>
          <a:noFill/>
          <a:ln/>
        </p:spPr>
        <p:txBody>
          <a:bodyPr wrap="square" lIns="0" tIns="0" rIns="0" bIns="0" rtlCol="0" anchor="t"/>
          <a:lstStyle/>
          <a:p>
            <a:pPr marL="0" indent="0">
              <a:buNone/>
            </a:pPr>
            <a:r>
              <a:rPr lang="en-US" sz="2600" b="1" dirty="0">
                <a:solidFill>
                  <a:schemeClr val="bg1"/>
                </a:solidFill>
              </a:rPr>
              <a:t>Mohammed Zaiter   ·   Ali Tarhini</a:t>
            </a:r>
            <a:endParaRPr lang="en-US" sz="2600" dirty="0"/>
          </a:p>
        </p:txBody>
      </p:sp>
      <p:pic>
        <p:nvPicPr>
          <p:cNvPr id="5" name="a3_subject_bg" descr="preencoded.png"/>
          <p:cNvPicPr>
            <a:picLocks noChangeAspect="1"/>
          </p:cNvPicPr>
          <p:nvPr/>
        </p:nvPicPr>
        <p:blipFill>
          <a:blip r:embed="rId3"/>
          <a:stretch>
            <a:fillRect/>
          </a:stretch>
        </p:blipFill>
        <p:spPr>
          <a:xfrm>
            <a:off x="731520" y="4617720"/>
            <a:ext cx="7498080" cy="685800"/>
          </a:xfrm>
          <a:prstGeom prst="rect">
            <a:avLst/>
          </a:prstGeom>
          <a:effectLst>
            <a:outerShdw blurRad="152400" dist="25400" dir="5400000" algn="bl" rotWithShape="0">
              <a:srgbClr val="1B2A22">
                <a:alpha val="30000"/>
              </a:srgbClr>
            </a:outerShdw>
          </a:effectLst>
        </p:spPr>
      </p:pic>
      <p:sp>
        <p:nvSpPr>
          <p:cNvPr id="6" name="a3_subject_tx"/>
          <p:cNvSpPr txBox="1"/>
          <p:nvPr/>
        </p:nvSpPr>
        <p:spPr>
          <a:xfrm>
            <a:off x="1005840" y="4617720"/>
            <a:ext cx="7040880" cy="685800"/>
          </a:xfrm>
          <a:prstGeom prst="rect">
            <a:avLst/>
          </a:prstGeom>
          <a:noFill/>
          <a:ln/>
        </p:spPr>
        <p:txBody>
          <a:bodyPr wrap="square" lIns="0" tIns="0" rIns="0" bIns="0" rtlCol="0" anchor="ctr"/>
          <a:lstStyle/>
          <a:p>
            <a:pPr marL="0" indent="0">
              <a:buNone/>
            </a:pPr>
            <a:r>
              <a:rPr lang="en-US" sz="1600" b="1" dirty="0">
                <a:solidFill>
                  <a:schemeClr val="accent6"/>
                </a:solidFill>
              </a:rPr>
              <a:t>Our project   </a:t>
            </a:r>
            <a:r>
              <a:rPr lang="en-US" sz="1600" dirty="0">
                <a:solidFill>
                  <a:schemeClr val="bg1"/>
                </a:solidFill>
              </a:rPr>
              <a:t>FoodScope: a knowledge graph for food composition data</a:t>
            </a:r>
            <a:endParaRPr lang="en-US" sz="1600" dirty="0"/>
          </a:p>
        </p:txBody>
      </p:sp>
      <p:sp>
        <p:nvSpPr>
          <p:cNvPr id="7" name="a1_ring0_c"/>
          <p:cNvSpPr/>
          <p:nvPr/>
        </p:nvSpPr>
        <p:spPr>
          <a:xfrm>
            <a:off x="8915400" y="1051560"/>
            <a:ext cx="1097280" cy="1097280"/>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8" name="a1_ring0_i" descr="preencoded.png"/>
          <p:cNvPicPr>
            <a:picLocks noChangeAspect="1"/>
          </p:cNvPicPr>
          <p:nvPr/>
        </p:nvPicPr>
        <p:blipFill>
          <a:blip r:embed="rId4"/>
          <a:stretch>
            <a:fillRect/>
          </a:stretch>
        </p:blipFill>
        <p:spPr>
          <a:xfrm>
            <a:off x="9189720" y="1325880"/>
            <a:ext cx="548640" cy="548640"/>
          </a:xfrm>
          <a:prstGeom prst="rect">
            <a:avLst/>
          </a:prstGeom>
        </p:spPr>
      </p:pic>
      <p:sp>
        <p:nvSpPr>
          <p:cNvPr id="9" name="a2_ring1_c"/>
          <p:cNvSpPr/>
          <p:nvPr/>
        </p:nvSpPr>
        <p:spPr>
          <a:xfrm>
            <a:off x="10424160" y="1828800"/>
            <a:ext cx="1097280" cy="109728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0" name="a2_ring1_i" descr="preencoded.png"/>
          <p:cNvPicPr>
            <a:picLocks noChangeAspect="1"/>
          </p:cNvPicPr>
          <p:nvPr/>
        </p:nvPicPr>
        <p:blipFill>
          <a:blip r:embed="rId5"/>
          <a:stretch>
            <a:fillRect/>
          </a:stretch>
        </p:blipFill>
        <p:spPr>
          <a:xfrm>
            <a:off x="10698480" y="2103120"/>
            <a:ext cx="548640" cy="548640"/>
          </a:xfrm>
          <a:prstGeom prst="rect">
            <a:avLst/>
          </a:prstGeom>
        </p:spPr>
      </p:pic>
      <p:sp>
        <p:nvSpPr>
          <p:cNvPr id="11" name="a3_ring2_c"/>
          <p:cNvSpPr/>
          <p:nvPr/>
        </p:nvSpPr>
        <p:spPr>
          <a:xfrm>
            <a:off x="8641080" y="2788920"/>
            <a:ext cx="1097280" cy="109728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2" name="a3_ring2_i" descr="preencoded.png"/>
          <p:cNvPicPr>
            <a:picLocks noChangeAspect="1"/>
          </p:cNvPicPr>
          <p:nvPr/>
        </p:nvPicPr>
        <p:blipFill>
          <a:blip r:embed="rId6"/>
          <a:stretch>
            <a:fillRect/>
          </a:stretch>
        </p:blipFill>
        <p:spPr>
          <a:xfrm>
            <a:off x="8915400" y="3063240"/>
            <a:ext cx="548640" cy="548640"/>
          </a:xfrm>
          <a:prstGeom prst="rect">
            <a:avLst/>
          </a:prstGeom>
        </p:spPr>
      </p:pic>
      <p:sp>
        <p:nvSpPr>
          <p:cNvPr id="13" name="a4_ring3_c"/>
          <p:cNvSpPr/>
          <p:nvPr/>
        </p:nvSpPr>
        <p:spPr>
          <a:xfrm>
            <a:off x="10149840" y="3566160"/>
            <a:ext cx="1097280" cy="1097280"/>
          </a:xfrm>
          <a:prstGeom prst="ellipse">
            <a:avLst/>
          </a:prstGeom>
          <a:solidFill>
            <a:schemeClr val="accent6"/>
          </a:solidFill>
          <a:ln/>
          <a:effectLst>
            <a:outerShdw blurRad="101600" dist="25400" dir="5400000" algn="bl" rotWithShape="0">
              <a:srgbClr val="1B2A22">
                <a:alpha val="18000"/>
              </a:srgbClr>
            </a:outerShdw>
          </a:effectLst>
        </p:spPr>
        <p:txBody>
          <a:bodyPr/>
          <a:lstStyle/>
          <a:p>
            <a:endParaRPr lang="en-US"/>
          </a:p>
        </p:txBody>
      </p:sp>
      <p:pic>
        <p:nvPicPr>
          <p:cNvPr id="14" name="a4_ring3_i" descr="preencoded.png"/>
          <p:cNvPicPr>
            <a:picLocks noChangeAspect="1"/>
          </p:cNvPicPr>
          <p:nvPr/>
        </p:nvPicPr>
        <p:blipFill>
          <a:blip r:embed="rId7"/>
          <a:stretch>
            <a:fillRect/>
          </a:stretch>
        </p:blipFill>
        <p:spPr>
          <a:xfrm>
            <a:off x="10424160" y="3840480"/>
            <a:ext cx="548640" cy="548640"/>
          </a:xfrm>
          <a:prstGeom prst="rect">
            <a:avLst/>
          </a:prstGeom>
        </p:spPr>
      </p:pic>
      <p:sp>
        <p:nvSpPr>
          <p:cNvPr id="15" name="a5_ring4_c"/>
          <p:cNvSpPr/>
          <p:nvPr/>
        </p:nvSpPr>
        <p:spPr>
          <a:xfrm>
            <a:off x="9052560" y="4572000"/>
            <a:ext cx="1097280" cy="1097280"/>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16" name="a5_ring4_i" descr="preencoded.png"/>
          <p:cNvPicPr>
            <a:picLocks noChangeAspect="1"/>
          </p:cNvPicPr>
          <p:nvPr/>
        </p:nvPicPr>
        <p:blipFill>
          <a:blip r:embed="rId8"/>
          <a:stretch>
            <a:fillRect/>
          </a:stretch>
        </p:blipFill>
        <p:spPr>
          <a:xfrm>
            <a:off x="9326880" y="4846320"/>
            <a:ext cx="548640" cy="5486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28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par>
                                <p:cTn id="15" presetID="10"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par>
                          <p:cTn id="18" fill="hold">
                            <p:stCondLst>
                              <p:cond delay="560"/>
                            </p:stCondLst>
                            <p:childTnLst>
                              <p:par>
                                <p:cTn id="19" presetID="10"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par>
                          <p:cTn id="28" fill="hold">
                            <p:stCondLst>
                              <p:cond delay="840"/>
                            </p:stCondLst>
                            <p:childTnLst>
                              <p:par>
                                <p:cTn id="29" presetID="22" presetClass="entr" presetSubtype="8" fill="hold" nodeType="after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wipe(left)">
                                      <p:cBhvr>
                                        <p:cTn id="31" dur="600"/>
                                        <p:tgtEl>
                                          <p:spTgt spid="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112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par>
                          <p:cTn id="48" fill="hold">
                            <p:stCondLst>
                              <p:cond delay="1400"/>
                            </p:stCondLst>
                            <p:childTnLst>
                              <p:par>
                                <p:cTn id="49" presetID="10" presetClass="entr" presetSubtype="0" fill="hold" grpId="0" nodeType="after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FoodScope</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From USDA tables to questions in English, with a check at every step</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repository</a:t>
            </a:r>
            <a:endParaRPr lang="en-US" sz="1300" dirty="0"/>
          </a:p>
        </p:txBody>
      </p:sp>
      <p:sp>
        <p:nvSpPr>
          <p:cNvPr id="5" name="a1_st0_c"/>
          <p:cNvSpPr/>
          <p:nvPr/>
        </p:nvSpPr>
        <p:spPr>
          <a:xfrm>
            <a:off x="914400" y="2057400"/>
            <a:ext cx="868680" cy="868680"/>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6" name="a1_st0_i" descr="preencoded.png"/>
          <p:cNvPicPr>
            <a:picLocks noChangeAspect="1"/>
          </p:cNvPicPr>
          <p:nvPr/>
        </p:nvPicPr>
        <p:blipFill>
          <a:blip r:embed="rId3"/>
          <a:stretch>
            <a:fillRect/>
          </a:stretch>
        </p:blipFill>
        <p:spPr>
          <a:xfrm>
            <a:off x="1131570" y="2274570"/>
            <a:ext cx="434340" cy="434340"/>
          </a:xfrm>
          <a:prstGeom prst="rect">
            <a:avLst/>
          </a:prstGeom>
        </p:spPr>
      </p:pic>
      <p:sp>
        <p:nvSpPr>
          <p:cNvPr id="7" name="a1_sl0"/>
          <p:cNvSpPr txBox="1"/>
          <p:nvPr/>
        </p:nvSpPr>
        <p:spPr>
          <a:xfrm>
            <a:off x="434340"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Data</a:t>
            </a:r>
            <a:endParaRPr lang="en-US" sz="1700" dirty="0"/>
          </a:p>
        </p:txBody>
      </p:sp>
      <p:sp>
        <p:nvSpPr>
          <p:cNvPr id="8" name="a1_sd0"/>
          <p:cNvSpPr txBox="1"/>
          <p:nvPr/>
        </p:nvSpPr>
        <p:spPr>
          <a:xfrm>
            <a:off x="434340"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358 foods, 1,499 amounts</a:t>
            </a:r>
            <a:endParaRPr lang="en-US" sz="1400" dirty="0"/>
          </a:p>
        </p:txBody>
      </p:sp>
      <p:sp>
        <p:nvSpPr>
          <p:cNvPr id="9" name="a1_sf0"/>
          <p:cNvSpPr txBox="1"/>
          <p:nvPr/>
        </p:nvSpPr>
        <p:spPr>
          <a:xfrm>
            <a:off x="434340"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data/</a:t>
            </a:r>
            <a:endParaRPr lang="en-US" sz="1300" dirty="0"/>
          </a:p>
        </p:txBody>
      </p:sp>
      <p:sp>
        <p:nvSpPr>
          <p:cNvPr id="10" name="a2_ar0"/>
          <p:cNvSpPr/>
          <p:nvPr/>
        </p:nvSpPr>
        <p:spPr>
          <a:xfrm>
            <a:off x="1874520" y="2487168"/>
            <a:ext cx="846734" cy="0"/>
          </a:xfrm>
          <a:prstGeom prst="line">
            <a:avLst/>
          </a:prstGeom>
          <a:noFill/>
          <a:ln w="25400">
            <a:solidFill>
              <a:schemeClr val="accent5"/>
            </a:solidFill>
            <a:prstDash val="solid"/>
            <a:tailEnd type="triangle"/>
          </a:ln>
        </p:spPr>
        <p:txBody>
          <a:bodyPr/>
          <a:lstStyle/>
          <a:p>
            <a:endParaRPr lang="en-US"/>
          </a:p>
        </p:txBody>
      </p:sp>
      <p:sp>
        <p:nvSpPr>
          <p:cNvPr id="11" name="a2_st1_c"/>
          <p:cNvSpPr/>
          <p:nvPr/>
        </p:nvSpPr>
        <p:spPr>
          <a:xfrm>
            <a:off x="2812694" y="2057400"/>
            <a:ext cx="868680" cy="86868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2" name="a2_st1_i" descr="preencoded.png"/>
          <p:cNvPicPr>
            <a:picLocks noChangeAspect="1"/>
          </p:cNvPicPr>
          <p:nvPr/>
        </p:nvPicPr>
        <p:blipFill>
          <a:blip r:embed="rId4"/>
          <a:stretch>
            <a:fillRect/>
          </a:stretch>
        </p:blipFill>
        <p:spPr>
          <a:xfrm>
            <a:off x="3029864" y="2274570"/>
            <a:ext cx="434340" cy="434340"/>
          </a:xfrm>
          <a:prstGeom prst="rect">
            <a:avLst/>
          </a:prstGeom>
        </p:spPr>
      </p:pic>
      <p:sp>
        <p:nvSpPr>
          <p:cNvPr id="13" name="a2_sl1"/>
          <p:cNvSpPr txBox="1"/>
          <p:nvPr/>
        </p:nvSpPr>
        <p:spPr>
          <a:xfrm>
            <a:off x="2332634"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Mapping</a:t>
            </a:r>
            <a:endParaRPr lang="en-US" sz="1700" dirty="0"/>
          </a:p>
        </p:txBody>
      </p:sp>
      <p:sp>
        <p:nvSpPr>
          <p:cNvPr id="14" name="a2_sd1"/>
          <p:cNvSpPr txBox="1"/>
          <p:nvPr/>
        </p:nvSpPr>
        <p:spPr>
          <a:xfrm>
            <a:off x="2332634"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R2RML: 9,359 triples</a:t>
            </a:r>
            <a:endParaRPr lang="en-US" sz="1400" dirty="0"/>
          </a:p>
        </p:txBody>
      </p:sp>
      <p:sp>
        <p:nvSpPr>
          <p:cNvPr id="15" name="a2_sf1"/>
          <p:cNvSpPr txBox="1"/>
          <p:nvPr/>
        </p:nvSpPr>
        <p:spPr>
          <a:xfrm>
            <a:off x="2332634"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mapping/</a:t>
            </a:r>
            <a:endParaRPr lang="en-US" sz="1300" dirty="0"/>
          </a:p>
        </p:txBody>
      </p:sp>
      <p:sp>
        <p:nvSpPr>
          <p:cNvPr id="16" name="a3_ar1"/>
          <p:cNvSpPr/>
          <p:nvPr/>
        </p:nvSpPr>
        <p:spPr>
          <a:xfrm>
            <a:off x="3772814" y="2487168"/>
            <a:ext cx="846734" cy="0"/>
          </a:xfrm>
          <a:prstGeom prst="line">
            <a:avLst/>
          </a:prstGeom>
          <a:noFill/>
          <a:ln w="25400">
            <a:solidFill>
              <a:schemeClr val="accent5"/>
            </a:solidFill>
            <a:prstDash val="solid"/>
            <a:tailEnd type="triangle"/>
          </a:ln>
        </p:spPr>
        <p:txBody>
          <a:bodyPr/>
          <a:lstStyle/>
          <a:p>
            <a:endParaRPr lang="en-US"/>
          </a:p>
        </p:txBody>
      </p:sp>
      <p:sp>
        <p:nvSpPr>
          <p:cNvPr id="17" name="a3_st2_c"/>
          <p:cNvSpPr/>
          <p:nvPr/>
        </p:nvSpPr>
        <p:spPr>
          <a:xfrm>
            <a:off x="4710989" y="2057400"/>
            <a:ext cx="868680" cy="86868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8" name="a3_st2_i" descr="preencoded.png"/>
          <p:cNvPicPr>
            <a:picLocks noChangeAspect="1"/>
          </p:cNvPicPr>
          <p:nvPr/>
        </p:nvPicPr>
        <p:blipFill>
          <a:blip r:embed="rId5"/>
          <a:stretch>
            <a:fillRect/>
          </a:stretch>
        </p:blipFill>
        <p:spPr>
          <a:xfrm>
            <a:off x="4928159" y="2274570"/>
            <a:ext cx="434340" cy="434340"/>
          </a:xfrm>
          <a:prstGeom prst="rect">
            <a:avLst/>
          </a:prstGeom>
        </p:spPr>
      </p:pic>
      <p:sp>
        <p:nvSpPr>
          <p:cNvPr id="19" name="a3_sl2"/>
          <p:cNvSpPr txBox="1"/>
          <p:nvPr/>
        </p:nvSpPr>
        <p:spPr>
          <a:xfrm>
            <a:off x="4230929"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SHACL gate</a:t>
            </a:r>
            <a:endParaRPr lang="en-US" sz="1700" dirty="0"/>
          </a:p>
        </p:txBody>
      </p:sp>
      <p:sp>
        <p:nvSpPr>
          <p:cNvPr id="20" name="a3_sd2"/>
          <p:cNvSpPr txBox="1"/>
          <p:nvPr/>
        </p:nvSpPr>
        <p:spPr>
          <a:xfrm>
            <a:off x="4230929"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10 rules; errors stop it</a:t>
            </a:r>
            <a:endParaRPr lang="en-US" sz="1400" dirty="0"/>
          </a:p>
        </p:txBody>
      </p:sp>
      <p:sp>
        <p:nvSpPr>
          <p:cNvPr id="21" name="a3_sf2"/>
          <p:cNvSpPr txBox="1"/>
          <p:nvPr/>
        </p:nvSpPr>
        <p:spPr>
          <a:xfrm>
            <a:off x="4230929"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shapes/</a:t>
            </a:r>
            <a:endParaRPr lang="en-US" sz="1300" dirty="0"/>
          </a:p>
        </p:txBody>
      </p:sp>
      <p:sp>
        <p:nvSpPr>
          <p:cNvPr id="22" name="a4_ar2"/>
          <p:cNvSpPr/>
          <p:nvPr/>
        </p:nvSpPr>
        <p:spPr>
          <a:xfrm>
            <a:off x="5671109" y="2487168"/>
            <a:ext cx="846734" cy="0"/>
          </a:xfrm>
          <a:prstGeom prst="line">
            <a:avLst/>
          </a:prstGeom>
          <a:noFill/>
          <a:ln w="25400">
            <a:solidFill>
              <a:schemeClr val="accent5"/>
            </a:solidFill>
            <a:prstDash val="solid"/>
            <a:tailEnd type="triangle"/>
          </a:ln>
        </p:spPr>
        <p:txBody>
          <a:bodyPr/>
          <a:lstStyle/>
          <a:p>
            <a:endParaRPr lang="en-US"/>
          </a:p>
        </p:txBody>
      </p:sp>
      <p:sp>
        <p:nvSpPr>
          <p:cNvPr id="23" name="a4_st3_c"/>
          <p:cNvSpPr/>
          <p:nvPr/>
        </p:nvSpPr>
        <p:spPr>
          <a:xfrm>
            <a:off x="6609283" y="2057400"/>
            <a:ext cx="868680" cy="868680"/>
          </a:xfrm>
          <a:prstGeom prst="ellipse">
            <a:avLst/>
          </a:prstGeom>
          <a:solidFill>
            <a:schemeClr val="accent6"/>
          </a:solidFill>
          <a:ln/>
          <a:effectLst>
            <a:outerShdw blurRad="101600" dist="25400" dir="5400000" algn="bl" rotWithShape="0">
              <a:srgbClr val="1B2A22">
                <a:alpha val="18000"/>
              </a:srgbClr>
            </a:outerShdw>
          </a:effectLst>
        </p:spPr>
        <p:txBody>
          <a:bodyPr/>
          <a:lstStyle/>
          <a:p>
            <a:endParaRPr lang="en-US"/>
          </a:p>
        </p:txBody>
      </p:sp>
      <p:pic>
        <p:nvPicPr>
          <p:cNvPr id="24" name="a4_st3_i" descr="preencoded.png"/>
          <p:cNvPicPr>
            <a:picLocks noChangeAspect="1"/>
          </p:cNvPicPr>
          <p:nvPr/>
        </p:nvPicPr>
        <p:blipFill>
          <a:blip r:embed="rId6"/>
          <a:stretch>
            <a:fillRect/>
          </a:stretch>
        </p:blipFill>
        <p:spPr>
          <a:xfrm>
            <a:off x="6826453" y="2274570"/>
            <a:ext cx="434340" cy="434340"/>
          </a:xfrm>
          <a:prstGeom prst="rect">
            <a:avLst/>
          </a:prstGeom>
        </p:spPr>
      </p:pic>
      <p:sp>
        <p:nvSpPr>
          <p:cNvPr id="25" name="a4_sl3"/>
          <p:cNvSpPr txBox="1"/>
          <p:nvPr/>
        </p:nvSpPr>
        <p:spPr>
          <a:xfrm>
            <a:off x="6129223"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Reasoner</a:t>
            </a:r>
            <a:endParaRPr lang="en-US" sz="1700" dirty="0"/>
          </a:p>
        </p:txBody>
      </p:sp>
      <p:sp>
        <p:nvSpPr>
          <p:cNvPr id="26" name="a4_sd3"/>
          <p:cNvSpPr txBox="1"/>
          <p:nvPr/>
        </p:nvSpPr>
        <p:spPr>
          <a:xfrm>
            <a:off x="6129223"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HermiT: 350 foods</a:t>
            </a:r>
            <a:endParaRPr lang="en-US" sz="1400" dirty="0"/>
          </a:p>
        </p:txBody>
      </p:sp>
      <p:sp>
        <p:nvSpPr>
          <p:cNvPr id="27" name="a4_sf3"/>
          <p:cNvSpPr txBox="1"/>
          <p:nvPr/>
        </p:nvSpPr>
        <p:spPr>
          <a:xfrm>
            <a:off x="6129223"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ontology/</a:t>
            </a:r>
            <a:endParaRPr lang="en-US" sz="1300" dirty="0"/>
          </a:p>
        </p:txBody>
      </p:sp>
      <p:sp>
        <p:nvSpPr>
          <p:cNvPr id="28" name="a5_ar3"/>
          <p:cNvSpPr/>
          <p:nvPr/>
        </p:nvSpPr>
        <p:spPr>
          <a:xfrm>
            <a:off x="7569403" y="2487168"/>
            <a:ext cx="846734" cy="0"/>
          </a:xfrm>
          <a:prstGeom prst="line">
            <a:avLst/>
          </a:prstGeom>
          <a:noFill/>
          <a:ln w="25400">
            <a:solidFill>
              <a:schemeClr val="accent5"/>
            </a:solidFill>
            <a:prstDash val="solid"/>
            <a:tailEnd type="triangle"/>
          </a:ln>
        </p:spPr>
        <p:txBody>
          <a:bodyPr/>
          <a:lstStyle/>
          <a:p>
            <a:endParaRPr lang="en-US"/>
          </a:p>
        </p:txBody>
      </p:sp>
      <p:sp>
        <p:nvSpPr>
          <p:cNvPr id="29" name="a5_st4_c"/>
          <p:cNvSpPr/>
          <p:nvPr/>
        </p:nvSpPr>
        <p:spPr>
          <a:xfrm>
            <a:off x="8507578" y="2057400"/>
            <a:ext cx="868680" cy="868680"/>
          </a:xfrm>
          <a:prstGeom prst="ellipse">
            <a:avLst/>
          </a:prstGeom>
          <a:solidFill>
            <a:schemeClr val="tx2"/>
          </a:solidFill>
          <a:ln/>
          <a:effectLst>
            <a:outerShdw blurRad="101600" dist="25400" dir="5400000" algn="bl" rotWithShape="0">
              <a:srgbClr val="1B2A22">
                <a:alpha val="18000"/>
              </a:srgbClr>
            </a:outerShdw>
          </a:effectLst>
        </p:spPr>
        <p:txBody>
          <a:bodyPr/>
          <a:lstStyle/>
          <a:p>
            <a:endParaRPr lang="en-US"/>
          </a:p>
        </p:txBody>
      </p:sp>
      <p:pic>
        <p:nvPicPr>
          <p:cNvPr id="30" name="a5_st4_i" descr="preencoded.png"/>
          <p:cNvPicPr>
            <a:picLocks noChangeAspect="1"/>
          </p:cNvPicPr>
          <p:nvPr/>
        </p:nvPicPr>
        <p:blipFill>
          <a:blip r:embed="rId7"/>
          <a:stretch>
            <a:fillRect/>
          </a:stretch>
        </p:blipFill>
        <p:spPr>
          <a:xfrm>
            <a:off x="8724748" y="2274570"/>
            <a:ext cx="434340" cy="434340"/>
          </a:xfrm>
          <a:prstGeom prst="rect">
            <a:avLst/>
          </a:prstGeom>
        </p:spPr>
      </p:pic>
      <p:sp>
        <p:nvSpPr>
          <p:cNvPr id="31" name="a5_sl4"/>
          <p:cNvSpPr txBox="1"/>
          <p:nvPr/>
        </p:nvSpPr>
        <p:spPr>
          <a:xfrm>
            <a:off x="8027518"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Endpoint</a:t>
            </a:r>
            <a:endParaRPr lang="en-US" sz="1700" dirty="0"/>
          </a:p>
        </p:txBody>
      </p:sp>
      <p:sp>
        <p:nvSpPr>
          <p:cNvPr id="32" name="a5_sd4"/>
          <p:cNvSpPr txBox="1"/>
          <p:nvPr/>
        </p:nvSpPr>
        <p:spPr>
          <a:xfrm>
            <a:off x="8027518"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Fuseki, SPARQL</a:t>
            </a:r>
            <a:endParaRPr lang="en-US" sz="1400" dirty="0"/>
          </a:p>
        </p:txBody>
      </p:sp>
      <p:sp>
        <p:nvSpPr>
          <p:cNvPr id="33" name="a5_sf4"/>
          <p:cNvSpPr txBox="1"/>
          <p:nvPr/>
        </p:nvSpPr>
        <p:spPr>
          <a:xfrm>
            <a:off x="8027518"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pipeline/</a:t>
            </a:r>
            <a:endParaRPr lang="en-US" sz="1300" dirty="0"/>
          </a:p>
        </p:txBody>
      </p:sp>
      <p:sp>
        <p:nvSpPr>
          <p:cNvPr id="34" name="a6_ar4"/>
          <p:cNvSpPr/>
          <p:nvPr/>
        </p:nvSpPr>
        <p:spPr>
          <a:xfrm>
            <a:off x="9467698" y="2487168"/>
            <a:ext cx="846734" cy="0"/>
          </a:xfrm>
          <a:prstGeom prst="line">
            <a:avLst/>
          </a:prstGeom>
          <a:noFill/>
          <a:ln w="25400">
            <a:solidFill>
              <a:schemeClr val="accent5"/>
            </a:solidFill>
            <a:prstDash val="solid"/>
            <a:tailEnd type="triangle"/>
          </a:ln>
        </p:spPr>
        <p:txBody>
          <a:bodyPr/>
          <a:lstStyle/>
          <a:p>
            <a:endParaRPr lang="en-US"/>
          </a:p>
        </p:txBody>
      </p:sp>
      <p:sp>
        <p:nvSpPr>
          <p:cNvPr id="35" name="a6_st5_c"/>
          <p:cNvSpPr/>
          <p:nvPr/>
        </p:nvSpPr>
        <p:spPr>
          <a:xfrm>
            <a:off x="10405872" y="2057400"/>
            <a:ext cx="868680" cy="868680"/>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36" name="a6_st5_i" descr="preencoded.png"/>
          <p:cNvPicPr>
            <a:picLocks noChangeAspect="1"/>
          </p:cNvPicPr>
          <p:nvPr/>
        </p:nvPicPr>
        <p:blipFill>
          <a:blip r:embed="rId8"/>
          <a:stretch>
            <a:fillRect/>
          </a:stretch>
        </p:blipFill>
        <p:spPr>
          <a:xfrm>
            <a:off x="10623042" y="2274570"/>
            <a:ext cx="434340" cy="434340"/>
          </a:xfrm>
          <a:prstGeom prst="rect">
            <a:avLst/>
          </a:prstGeom>
        </p:spPr>
      </p:pic>
      <p:sp>
        <p:nvSpPr>
          <p:cNvPr id="37" name="a6_sl5"/>
          <p:cNvSpPr txBox="1"/>
          <p:nvPr/>
        </p:nvSpPr>
        <p:spPr>
          <a:xfrm>
            <a:off x="9925812" y="3063240"/>
            <a:ext cx="1828800" cy="384048"/>
          </a:xfrm>
          <a:prstGeom prst="rect">
            <a:avLst/>
          </a:prstGeom>
          <a:noFill/>
          <a:ln/>
        </p:spPr>
        <p:txBody>
          <a:bodyPr wrap="square" lIns="0" tIns="0" rIns="0" bIns="0" rtlCol="0" anchor="t"/>
          <a:lstStyle/>
          <a:p>
            <a:pPr marL="0" indent="0" algn="ctr">
              <a:buNone/>
            </a:pPr>
            <a:r>
              <a:rPr lang="en-US" sz="1700" b="1" dirty="0">
                <a:solidFill>
                  <a:schemeClr val="tx2"/>
                </a:solidFill>
              </a:rPr>
              <a:t>Questions</a:t>
            </a:r>
            <a:endParaRPr lang="en-US" sz="1700" dirty="0"/>
          </a:p>
        </p:txBody>
      </p:sp>
      <p:sp>
        <p:nvSpPr>
          <p:cNvPr id="38" name="a6_sd5"/>
          <p:cNvSpPr txBox="1"/>
          <p:nvPr/>
        </p:nvSpPr>
        <p:spPr>
          <a:xfrm>
            <a:off x="9925812" y="3447288"/>
            <a:ext cx="1828800" cy="640080"/>
          </a:xfrm>
          <a:prstGeom prst="rect">
            <a:avLst/>
          </a:prstGeom>
          <a:noFill/>
          <a:ln/>
        </p:spPr>
        <p:txBody>
          <a:bodyPr wrap="square" lIns="0" tIns="0" rIns="0" bIns="0" rtlCol="0" anchor="t"/>
          <a:lstStyle/>
          <a:p>
            <a:pPr marL="0" indent="0" algn="ctr">
              <a:buNone/>
            </a:pPr>
            <a:r>
              <a:rPr lang="en-US" sz="1400" dirty="0">
                <a:solidFill>
                  <a:schemeClr val="accent5"/>
                </a:solidFill>
              </a:rPr>
              <a:t>Gemini, or refuse</a:t>
            </a:r>
            <a:endParaRPr lang="en-US" sz="1400" dirty="0"/>
          </a:p>
        </p:txBody>
      </p:sp>
      <p:sp>
        <p:nvSpPr>
          <p:cNvPr id="39" name="a6_sf5"/>
          <p:cNvSpPr txBox="1"/>
          <p:nvPr/>
        </p:nvSpPr>
        <p:spPr>
          <a:xfrm>
            <a:off x="9925812" y="4114800"/>
            <a:ext cx="1828800" cy="320040"/>
          </a:xfrm>
          <a:prstGeom prst="rect">
            <a:avLst/>
          </a:prstGeom>
          <a:noFill/>
          <a:ln/>
        </p:spPr>
        <p:txBody>
          <a:bodyPr wrap="square" lIns="0" tIns="0" rIns="0" bIns="0" rtlCol="0" anchor="t"/>
          <a:lstStyle/>
          <a:p>
            <a:pPr marL="0" indent="0" algn="ctr">
              <a:buNone/>
            </a:pPr>
            <a:r>
              <a:rPr lang="en-US" sz="1300" b="1" dirty="0">
                <a:solidFill>
                  <a:schemeClr val="accent1"/>
                </a:solidFill>
                <a:latin typeface="Consolas" pitchFamily="34" charset="0"/>
                <a:ea typeface="Consolas" pitchFamily="34" charset="-122"/>
                <a:cs typeface="Consolas" pitchFamily="34" charset="-120"/>
              </a:rPr>
              <a:t>access-layer/</a:t>
            </a:r>
            <a:endParaRPr lang="en-US" sz="1300" dirty="0"/>
          </a:p>
        </p:txBody>
      </p:sp>
      <p:pic>
        <p:nvPicPr>
          <p:cNvPr id="40" name="a7_desc_bg" descr="preencoded.png"/>
          <p:cNvPicPr>
            <a:picLocks noChangeAspect="1"/>
          </p:cNvPicPr>
          <p:nvPr/>
        </p:nvPicPr>
        <p:blipFill>
          <a:blip r:embed="rId9"/>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41" name="a7_desc_tx"/>
          <p:cNvSpPr txBox="1"/>
          <p:nvPr/>
        </p:nvSpPr>
        <p:spPr>
          <a:xfrm>
            <a:off x="914400" y="5029200"/>
            <a:ext cx="10360152" cy="1261872"/>
          </a:xfrm>
          <a:prstGeom prst="rect">
            <a:avLst/>
          </a:prstGeom>
          <a:noFill/>
          <a:ln/>
        </p:spPr>
        <p:txBody>
          <a:bodyPr wrap="square" lIns="0" tIns="0" rIns="0" bIns="0" rtlCol="0" anchor="ctr"/>
          <a:lstStyle/>
          <a:p>
            <a:r>
              <a:rPr lang="en-US" sz="1400" dirty="0" err="1">
                <a:solidFill>
                  <a:schemeClr val="bg1"/>
                </a:solidFill>
              </a:rPr>
              <a:t>FoodScope</a:t>
            </a:r>
            <a:r>
              <a:rPr lang="en-US" sz="1400" dirty="0">
                <a:solidFill>
                  <a:schemeClr val="bg1"/>
                </a:solidFill>
              </a:rPr>
              <a:t> transforms USDA food data into a validated and reasoned Knowledge Graph through a structured pipeline. We first prepare and profile the data, then use R2RML to generate RDF triples. SHACL validates data quality, The resulting graph is stored in </a:t>
            </a:r>
            <a:r>
              <a:rPr lang="en-US" sz="1400" dirty="0" err="1">
                <a:solidFill>
                  <a:schemeClr val="bg1"/>
                </a:solidFill>
              </a:rPr>
              <a:t>Fuseki</a:t>
            </a:r>
            <a:r>
              <a:rPr lang="en-US" sz="1400" dirty="0">
                <a:solidFill>
                  <a:schemeClr val="bg1"/>
                </a:solidFill>
              </a:rPr>
              <a:t> and queried using SPARQL. Gemini enables natural-language questions through a validated text-to-SPARQL access layer. </a:t>
            </a:r>
          </a:p>
        </p:txBody>
      </p:sp>
      <p:sp>
        <p:nvSpPr>
          <p:cNvPr id="42"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par>
                          <p:cTn id="28" fill="hold">
                            <p:stCondLst>
                              <p:cond delay="280"/>
                            </p:stCondLst>
                            <p:childTnLst>
                              <p:par>
                                <p:cTn id="29" presetID="22" presetClass="entr" presetSubtype="8"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6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par>
                          <p:cTn id="47" fill="hold">
                            <p:stCondLst>
                              <p:cond delay="560"/>
                            </p:stCondLst>
                            <p:childTnLst>
                              <p:par>
                                <p:cTn id="48" presetID="22" presetClass="entr" presetSubtype="8" fill="hold" grpId="0" nodeType="after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6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par>
                          <p:cTn id="66" fill="hold">
                            <p:stCondLst>
                              <p:cond delay="840"/>
                            </p:stCondLst>
                            <p:childTnLst>
                              <p:par>
                                <p:cTn id="67" presetID="22" presetClass="entr" presetSubtype="8" fill="hold" grpId="0" nodeType="after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6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childTnLst>
                          </p:cTn>
                        </p:par>
                        <p:par>
                          <p:cTn id="85" fill="hold">
                            <p:stCondLst>
                              <p:cond delay="1120"/>
                            </p:stCondLst>
                            <p:childTnLst>
                              <p:par>
                                <p:cTn id="86" presetID="22" presetClass="entr" presetSubtype="8" fill="hold" grpId="0" nodeType="after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wipe(left)">
                                      <p:cBhvr>
                                        <p:cTn id="88" dur="6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500"/>
                                        <p:tgtEl>
                                          <p:spTgt spid="29"/>
                                        </p:tgtEl>
                                      </p:cBhvr>
                                    </p:animEffect>
                                  </p:childTnLst>
                                </p:cTn>
                              </p:par>
                              <p:par>
                                <p:cTn id="92" presetID="10" presetClass="entr" presetSubtype="0" fill="hold" nodeType="withEffect">
                                  <p:stCondLst>
                                    <p:cond delay="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500"/>
                                        <p:tgtEl>
                                          <p:spTgt spid="3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500"/>
                                        <p:tgtEl>
                                          <p:spTgt spid="31"/>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500"/>
                                        <p:tgtEl>
                                          <p:spTgt spid="33"/>
                                        </p:tgtEl>
                                      </p:cBhvr>
                                    </p:animEffect>
                                  </p:childTnLst>
                                </p:cTn>
                              </p:par>
                            </p:childTnLst>
                          </p:cTn>
                        </p:par>
                        <p:par>
                          <p:cTn id="104" fill="hold">
                            <p:stCondLst>
                              <p:cond delay="1400"/>
                            </p:stCondLst>
                            <p:childTnLst>
                              <p:par>
                                <p:cTn id="105" presetID="22" presetClass="entr" presetSubtype="8" fill="hold" grpId="0" nodeType="after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wipe(left)">
                                      <p:cBhvr>
                                        <p:cTn id="107" dur="6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nodeType="clickEffect">
                                  <p:stCondLst>
                                    <p:cond delay="0"/>
                                  </p:stCondLst>
                                  <p:childTnLst>
                                    <p:set>
                                      <p:cBhvr>
                                        <p:cTn id="126" dur="1" fill="hold">
                                          <p:stCondLst>
                                            <p:cond delay="0"/>
                                          </p:stCondLst>
                                        </p:cTn>
                                        <p:tgtEl>
                                          <p:spTgt spid="40"/>
                                        </p:tgtEl>
                                        <p:attrNameLst>
                                          <p:attrName>style.visibility</p:attrName>
                                        </p:attrNameLst>
                                      </p:cBhvr>
                                      <p:to>
                                        <p:strVal val="visible"/>
                                      </p:to>
                                    </p:set>
                                    <p:animEffect transition="in" filter="wipe(left)">
                                      <p:cBhvr>
                                        <p:cTn id="127" dur="600"/>
                                        <p:tgtEl>
                                          <p:spTgt spid="4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1"/>
                                        </p:tgtEl>
                                        <p:attrNameLst>
                                          <p:attrName>style.visibility</p:attrName>
                                        </p:attrNameLst>
                                      </p:cBhvr>
                                      <p:to>
                                        <p:strVal val="visible"/>
                                      </p:to>
                                    </p:set>
                                    <p:animEffect transition="in" filter="fade">
                                      <p:cBhvr>
                                        <p:cTn id="130"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7" grpId="0" animBg="1"/>
      <p:bldP spid="38" grpId="0" animBg="1"/>
      <p:bldP spid="39" grpId="0" animBg="1"/>
      <p:bldP spid="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Problem and scope</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Questions that food tables cannot answer easily</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sparql/</a:t>
            </a:r>
            <a:endParaRPr lang="en-US" sz="1300" dirty="0"/>
          </a:p>
        </p:txBody>
      </p:sp>
      <p:sp>
        <p:nvSpPr>
          <p:cNvPr id="5" name="a1_qh"/>
          <p:cNvSpPr txBox="1"/>
          <p:nvPr/>
        </p:nvSpPr>
        <p:spPr>
          <a:xfrm>
            <a:off x="548640" y="1645920"/>
            <a:ext cx="6126480" cy="365760"/>
          </a:xfrm>
          <a:prstGeom prst="rect">
            <a:avLst/>
          </a:prstGeom>
          <a:noFill/>
          <a:ln/>
        </p:spPr>
        <p:txBody>
          <a:bodyPr wrap="square" lIns="0" tIns="0" rIns="0" bIns="0" rtlCol="0" anchor="t"/>
          <a:lstStyle/>
          <a:p>
            <a:pPr marL="0" indent="0">
              <a:buNone/>
            </a:pPr>
            <a:r>
              <a:rPr lang="en-US" sz="1800" b="1" dirty="0">
                <a:solidFill>
                  <a:schemeClr val="tx2"/>
                </a:solidFill>
              </a:rPr>
              <a:t>What people want to ask</a:t>
            </a:r>
            <a:endParaRPr lang="en-US" sz="1800" dirty="0"/>
          </a:p>
        </p:txBody>
      </p:sp>
      <p:sp>
        <p:nvSpPr>
          <p:cNvPr id="6" name="a2_qc0"/>
          <p:cNvSpPr/>
          <p:nvPr/>
        </p:nvSpPr>
        <p:spPr>
          <a:xfrm>
            <a:off x="548640" y="2103120"/>
            <a:ext cx="6126480" cy="749808"/>
          </a:xfrm>
          <a:prstGeom prst="roundRect">
            <a:avLst>
              <a:gd name="adj" fmla="val 17073"/>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qt0"/>
          <p:cNvSpPr txBox="1"/>
          <p:nvPr/>
        </p:nvSpPr>
        <p:spPr>
          <a:xfrm>
            <a:off x="777240" y="2103120"/>
            <a:ext cx="4023360" cy="749808"/>
          </a:xfrm>
          <a:prstGeom prst="rect">
            <a:avLst/>
          </a:prstGeom>
          <a:noFill/>
          <a:ln/>
        </p:spPr>
        <p:txBody>
          <a:bodyPr wrap="square" lIns="0" tIns="0" rIns="0" bIns="0" rtlCol="0" anchor="ctr"/>
          <a:lstStyle/>
          <a:p>
            <a:pPr marL="0" indent="0">
              <a:buNone/>
            </a:pPr>
            <a:r>
              <a:rPr lang="en-US" sz="1600" dirty="0">
                <a:solidFill>
                  <a:schemeClr val="tx2"/>
                </a:solidFill>
              </a:rPr>
              <a:t>“Which foods have more than 20 g of fat per 100 g?”</a:t>
            </a:r>
            <a:endParaRPr lang="en-US" sz="1600" dirty="0"/>
          </a:p>
        </p:txBody>
      </p:sp>
      <p:sp>
        <p:nvSpPr>
          <p:cNvPr id="8" name="a2_qa0"/>
          <p:cNvSpPr txBox="1"/>
          <p:nvPr/>
        </p:nvSpPr>
        <p:spPr>
          <a:xfrm>
            <a:off x="4754880" y="2103120"/>
            <a:ext cx="1737360" cy="749808"/>
          </a:xfrm>
          <a:prstGeom prst="rect">
            <a:avLst/>
          </a:prstGeom>
          <a:noFill/>
          <a:ln/>
        </p:spPr>
        <p:txBody>
          <a:bodyPr wrap="square" lIns="0" tIns="0" rIns="0" bIns="0" rtlCol="0" anchor="ctr"/>
          <a:lstStyle/>
          <a:p>
            <a:pPr marL="0" indent="0" algn="r">
              <a:buNone/>
            </a:pPr>
            <a:r>
              <a:rPr lang="en-US" sz="1500" b="1" dirty="0">
                <a:solidFill>
                  <a:schemeClr val="accent1"/>
                </a:solidFill>
              </a:rPr>
              <a:t>55 foods</a:t>
            </a:r>
            <a:endParaRPr lang="en-US" sz="1500" dirty="0"/>
          </a:p>
        </p:txBody>
      </p:sp>
      <p:sp>
        <p:nvSpPr>
          <p:cNvPr id="9" name="a3_qc1"/>
          <p:cNvSpPr/>
          <p:nvPr/>
        </p:nvSpPr>
        <p:spPr>
          <a:xfrm>
            <a:off x="548640" y="2999232"/>
            <a:ext cx="6126480" cy="749808"/>
          </a:xfrm>
          <a:prstGeom prst="roundRect">
            <a:avLst>
              <a:gd name="adj" fmla="val 17073"/>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0" name="a3_qt1"/>
          <p:cNvSpPr txBox="1"/>
          <p:nvPr/>
        </p:nvSpPr>
        <p:spPr>
          <a:xfrm>
            <a:off x="777240" y="2999232"/>
            <a:ext cx="4023360" cy="749808"/>
          </a:xfrm>
          <a:prstGeom prst="rect">
            <a:avLst/>
          </a:prstGeom>
          <a:noFill/>
          <a:ln/>
        </p:spPr>
        <p:txBody>
          <a:bodyPr wrap="square" lIns="0" tIns="0" rIns="0" bIns="0" rtlCol="0" anchor="ctr"/>
          <a:lstStyle/>
          <a:p>
            <a:pPr marL="0" indent="0">
              <a:buNone/>
            </a:pPr>
            <a:r>
              <a:rPr lang="en-US" sz="1600" dirty="0">
                <a:solidFill>
                  <a:schemeClr val="tx2"/>
                </a:solidFill>
              </a:rPr>
              <a:t>“Which foods have no sodium measurement?”</a:t>
            </a:r>
            <a:endParaRPr lang="en-US" sz="1600" dirty="0"/>
          </a:p>
        </p:txBody>
      </p:sp>
      <p:sp>
        <p:nvSpPr>
          <p:cNvPr id="11" name="a3_qa1"/>
          <p:cNvSpPr txBox="1"/>
          <p:nvPr/>
        </p:nvSpPr>
        <p:spPr>
          <a:xfrm>
            <a:off x="4754880" y="2999232"/>
            <a:ext cx="1737360" cy="749808"/>
          </a:xfrm>
          <a:prstGeom prst="rect">
            <a:avLst/>
          </a:prstGeom>
          <a:noFill/>
          <a:ln/>
        </p:spPr>
        <p:txBody>
          <a:bodyPr wrap="square" lIns="0" tIns="0" rIns="0" bIns="0" rtlCol="0" anchor="ctr"/>
          <a:lstStyle/>
          <a:p>
            <a:pPr marL="0" indent="0" algn="r">
              <a:buNone/>
            </a:pPr>
            <a:r>
              <a:rPr lang="en-US" sz="1500" b="1" dirty="0">
                <a:solidFill>
                  <a:schemeClr val="accent1"/>
                </a:solidFill>
              </a:rPr>
              <a:t>49 foods</a:t>
            </a:r>
            <a:endParaRPr lang="en-US" sz="1500" dirty="0"/>
          </a:p>
        </p:txBody>
      </p:sp>
      <p:sp>
        <p:nvSpPr>
          <p:cNvPr id="12" name="a4_qc2"/>
          <p:cNvSpPr/>
          <p:nvPr/>
        </p:nvSpPr>
        <p:spPr>
          <a:xfrm>
            <a:off x="548640" y="3895344"/>
            <a:ext cx="6126480" cy="749808"/>
          </a:xfrm>
          <a:prstGeom prst="roundRect">
            <a:avLst>
              <a:gd name="adj" fmla="val 17073"/>
            </a:avLst>
          </a:prstGeom>
          <a:solidFill>
            <a:schemeClr val="accent3">
              <a:alpha val="15000"/>
            </a:schemeClr>
          </a:solidFill>
          <a:ln/>
        </p:spPr>
        <p:txBody>
          <a:bodyPr/>
          <a:lstStyle/>
          <a:p>
            <a:endParaRPr lang="en-US"/>
          </a:p>
        </p:txBody>
      </p:sp>
      <p:sp>
        <p:nvSpPr>
          <p:cNvPr id="13" name="a4_qt2"/>
          <p:cNvSpPr txBox="1"/>
          <p:nvPr/>
        </p:nvSpPr>
        <p:spPr>
          <a:xfrm>
            <a:off x="777240" y="3895344"/>
            <a:ext cx="4023360" cy="749808"/>
          </a:xfrm>
          <a:prstGeom prst="rect">
            <a:avLst/>
          </a:prstGeom>
          <a:noFill/>
          <a:ln/>
        </p:spPr>
        <p:txBody>
          <a:bodyPr wrap="square" lIns="0" tIns="0" rIns="0" bIns="0" rtlCol="0" anchor="ctr"/>
          <a:lstStyle/>
          <a:p>
            <a:pPr marL="0" indent="0">
              <a:buNone/>
            </a:pPr>
            <a:r>
              <a:rPr lang="en-US" sz="1600" dirty="0">
                <a:solidFill>
                  <a:schemeClr val="tx2"/>
                </a:solidFill>
              </a:rPr>
              <a:t>“What is the price of each food?”</a:t>
            </a:r>
            <a:endParaRPr lang="en-US" sz="1600" dirty="0"/>
          </a:p>
        </p:txBody>
      </p:sp>
      <p:sp>
        <p:nvSpPr>
          <p:cNvPr id="14" name="a4_qa2"/>
          <p:cNvSpPr txBox="1"/>
          <p:nvPr/>
        </p:nvSpPr>
        <p:spPr>
          <a:xfrm>
            <a:off x="4754880" y="3895344"/>
            <a:ext cx="1737360" cy="749808"/>
          </a:xfrm>
          <a:prstGeom prst="rect">
            <a:avLst/>
          </a:prstGeom>
          <a:noFill/>
          <a:ln/>
        </p:spPr>
        <p:txBody>
          <a:bodyPr wrap="square" lIns="0" tIns="0" rIns="0" bIns="0" rtlCol="0" anchor="ctr"/>
          <a:lstStyle/>
          <a:p>
            <a:pPr marL="0" indent="0" algn="r">
              <a:buNone/>
            </a:pPr>
            <a:r>
              <a:rPr lang="en-US" sz="1500" b="1" dirty="0">
                <a:solidFill>
                  <a:schemeClr val="accent3"/>
                </a:solidFill>
              </a:rPr>
              <a:t>refused: no prices</a:t>
            </a:r>
            <a:endParaRPr lang="en-US" sz="1500" dirty="0"/>
          </a:p>
        </p:txBody>
      </p:sp>
      <p:sp>
        <p:nvSpPr>
          <p:cNvPr id="15" name="a5_s1_n"/>
          <p:cNvSpPr txBox="1"/>
          <p:nvPr/>
        </p:nvSpPr>
        <p:spPr>
          <a:xfrm>
            <a:off x="7315200" y="1554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358</a:t>
            </a:r>
            <a:endParaRPr lang="en-US" sz="4000" dirty="0"/>
          </a:p>
        </p:txBody>
      </p:sp>
      <p:sp>
        <p:nvSpPr>
          <p:cNvPr id="16" name="a5_s1_l"/>
          <p:cNvSpPr txBox="1"/>
          <p:nvPr/>
        </p:nvSpPr>
        <p:spPr>
          <a:xfrm>
            <a:off x="7315200" y="2194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foods, USDA Foundation Foods, April 2024</a:t>
            </a:r>
            <a:endParaRPr lang="en-US" sz="1400" dirty="0"/>
          </a:p>
        </p:txBody>
      </p:sp>
      <p:sp>
        <p:nvSpPr>
          <p:cNvPr id="17" name="a6_s2_n"/>
          <p:cNvSpPr txBox="1"/>
          <p:nvPr/>
        </p:nvSpPr>
        <p:spPr>
          <a:xfrm>
            <a:off x="7315200" y="2697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1,499</a:t>
            </a:r>
            <a:endParaRPr lang="en-US" sz="4000" dirty="0"/>
          </a:p>
        </p:txBody>
      </p:sp>
      <p:sp>
        <p:nvSpPr>
          <p:cNvPr id="18" name="a6_s2_l"/>
          <p:cNvSpPr txBox="1"/>
          <p:nvPr/>
        </p:nvSpPr>
        <p:spPr>
          <a:xfrm>
            <a:off x="7315200" y="3337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nutrient amounts, per 100 g</a:t>
            </a:r>
            <a:endParaRPr lang="en-US" sz="1400" dirty="0"/>
          </a:p>
        </p:txBody>
      </p:sp>
      <p:sp>
        <p:nvSpPr>
          <p:cNvPr id="19" name="a7_s3_n"/>
          <p:cNvSpPr txBox="1"/>
          <p:nvPr/>
        </p:nvSpPr>
        <p:spPr>
          <a:xfrm>
            <a:off x="7315200" y="3840480"/>
            <a:ext cx="4297680" cy="594360"/>
          </a:xfrm>
          <a:prstGeom prst="rect">
            <a:avLst/>
          </a:prstGeom>
          <a:noFill/>
          <a:ln/>
        </p:spPr>
        <p:txBody>
          <a:bodyPr wrap="square" lIns="0" tIns="0" rIns="0" bIns="0" rtlCol="0" anchor="b"/>
          <a:lstStyle/>
          <a:p>
            <a:pPr marL="0" indent="0">
              <a:buNone/>
            </a:pPr>
            <a:r>
              <a:rPr lang="en-US" sz="4000" b="1" dirty="0">
                <a:solidFill>
                  <a:schemeClr val="accent1"/>
                </a:solidFill>
              </a:rPr>
              <a:t>6</a:t>
            </a:r>
            <a:endParaRPr lang="en-US" sz="4000" dirty="0"/>
          </a:p>
        </p:txBody>
      </p:sp>
      <p:sp>
        <p:nvSpPr>
          <p:cNvPr id="20" name="a7_s3_l"/>
          <p:cNvSpPr txBox="1"/>
          <p:nvPr/>
        </p:nvSpPr>
        <p:spPr>
          <a:xfrm>
            <a:off x="7315200" y="4480560"/>
            <a:ext cx="4297680" cy="411480"/>
          </a:xfrm>
          <a:prstGeom prst="rect">
            <a:avLst/>
          </a:prstGeom>
          <a:noFill/>
          <a:ln/>
        </p:spPr>
        <p:txBody>
          <a:bodyPr wrap="square" lIns="0" tIns="0" rIns="0" bIns="0" rtlCol="0" anchor="t"/>
          <a:lstStyle/>
          <a:p>
            <a:pPr marL="0" indent="0">
              <a:buNone/>
            </a:pPr>
            <a:r>
              <a:rPr lang="en-US" sz="1400" dirty="0">
                <a:solidFill>
                  <a:schemeClr val="accent5"/>
                </a:solidFill>
              </a:rPr>
              <a:t>competency questions the graph must answer</a:t>
            </a:r>
            <a:endParaRPr lang="en-US" sz="1400" dirty="0"/>
          </a:p>
        </p:txBody>
      </p:sp>
      <p:pic>
        <p:nvPicPr>
          <p:cNvPr id="21" name="a8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2" name="a8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Our project uses USDA food data containing </a:t>
            </a:r>
            <a:r>
              <a:rPr lang="en-US" sz="1400" b="1" dirty="0">
                <a:solidFill>
                  <a:schemeClr val="bg1"/>
                </a:solidFill>
              </a:rPr>
              <a:t>358 foods and 1,499 nutrient measurements</a:t>
            </a:r>
            <a:r>
              <a:rPr lang="en-US" sz="1400" dirty="0">
                <a:solidFill>
                  <a:schemeClr val="bg1"/>
                </a:solidFill>
              </a:rPr>
              <a:t>. We built a knowledge graph to answer questions about nutritional values, identify foods that meet specific conditions, and detect missing information. The graph also recognizes its limitations and avoids answering questions about unavailable data, such as food prices.</a:t>
            </a:r>
          </a:p>
        </p:txBody>
      </p:sp>
      <p:sp>
        <p:nvSpPr>
          <p:cNvPr id="23"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280"/>
                            </p:stCondLst>
                            <p:childTnLst>
                              <p:par>
                                <p:cTn id="17" presetID="22" presetClass="entr" presetSubtype="8"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600"/>
                                        <p:tgtEl>
                                          <p:spTgt spid="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par>
                          <p:cTn id="26" fill="hold">
                            <p:stCondLst>
                              <p:cond delay="560"/>
                            </p:stCondLst>
                            <p:childTnLst>
                              <p:par>
                                <p:cTn id="27" presetID="22" presetClass="entr" presetSubtype="8"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6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childTnLst>
                          </p:cTn>
                        </p:par>
                        <p:par>
                          <p:cTn id="36" fill="hold">
                            <p:stCondLst>
                              <p:cond delay="840"/>
                            </p:stCondLst>
                            <p:childTnLst>
                              <p:par>
                                <p:cTn id="37" presetID="22" presetClass="entr" presetSubtype="8" fill="hold" grpId="0" nodeType="after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600"/>
                                        <p:tgtEl>
                                          <p:spTgt spid="1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par>
                          <p:cTn id="54" fill="hold">
                            <p:stCondLst>
                              <p:cond delay="280"/>
                            </p:stCondLst>
                            <p:childTnLst>
                              <p:par>
                                <p:cTn id="55" presetID="10" presetClass="entr" presetSubtype="0" fill="hold" grpId="0" nodeType="after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par>
                          <p:cTn id="61" fill="hold">
                            <p:stCondLst>
                              <p:cond delay="560"/>
                            </p:stCondLst>
                            <p:childTnLst>
                              <p:par>
                                <p:cTn id="62" presetID="10"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00"/>
                                        <p:tgtEl>
                                          <p:spTgt spid="1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6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Data and constraints</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Ten rules found in the data, and one that the data breaks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data/</a:t>
            </a:r>
            <a:endParaRPr lang="en-US" sz="1300" dirty="0"/>
          </a:p>
        </p:txBody>
      </p:sp>
      <p:graphicFrame>
        <p:nvGraphicFramePr>
          <p:cNvPr id="5" name="a1_chart"/>
          <p:cNvGraphicFramePr/>
          <p:nvPr/>
        </p:nvGraphicFramePr>
        <p:xfrm>
          <a:off x="548640" y="1554480"/>
          <a:ext cx="63093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6" name="a2_c1"/>
          <p:cNvSpPr/>
          <p:nvPr/>
        </p:nvSpPr>
        <p:spPr>
          <a:xfrm>
            <a:off x="7223760" y="1645920"/>
            <a:ext cx="4416552"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c1n"/>
          <p:cNvSpPr txBox="1"/>
          <p:nvPr/>
        </p:nvSpPr>
        <p:spPr>
          <a:xfrm>
            <a:off x="7452360" y="1755648"/>
            <a:ext cx="4023360" cy="502920"/>
          </a:xfrm>
          <a:prstGeom prst="rect">
            <a:avLst/>
          </a:prstGeom>
          <a:noFill/>
          <a:ln/>
        </p:spPr>
        <p:txBody>
          <a:bodyPr wrap="square" lIns="0" tIns="0" rIns="0" bIns="0" rtlCol="0" anchor="t"/>
          <a:lstStyle/>
          <a:p>
            <a:pPr marL="0" indent="0">
              <a:buNone/>
            </a:pPr>
            <a:r>
              <a:rPr lang="en-US" sz="2800" b="1" dirty="0">
                <a:solidFill>
                  <a:schemeClr val="accent1"/>
                </a:solidFill>
              </a:rPr>
              <a:t>9 of 10 rules</a:t>
            </a:r>
            <a:endParaRPr lang="en-US" sz="2800" dirty="0"/>
          </a:p>
        </p:txBody>
      </p:sp>
      <p:sp>
        <p:nvSpPr>
          <p:cNvPr id="8" name="a2_c1t"/>
          <p:cNvSpPr txBox="1"/>
          <p:nvPr/>
        </p:nvSpPr>
        <p:spPr>
          <a:xfrm>
            <a:off x="7452360" y="2286000"/>
            <a:ext cx="4023360" cy="731520"/>
          </a:xfrm>
          <a:prstGeom prst="rect">
            <a:avLst/>
          </a:prstGeom>
          <a:noFill/>
          <a:ln/>
        </p:spPr>
        <p:txBody>
          <a:bodyPr wrap="square" lIns="0" tIns="0" rIns="0" bIns="0" rtlCol="0" anchor="t"/>
          <a:lstStyle/>
          <a:p>
            <a:pPr marL="0" indent="0">
              <a:buNone/>
            </a:pPr>
            <a:r>
              <a:rPr lang="en-US" sz="1400" dirty="0">
                <a:solidFill>
                  <a:schemeClr val="tx2"/>
                </a:solidFill>
              </a:rPr>
              <a:t>hold with 0 exceptions: unique ids, names, valid links, amounts ≥ 0 and ≤ 100 g.</a:t>
            </a:r>
            <a:endParaRPr lang="en-US" sz="1400" dirty="0"/>
          </a:p>
        </p:txBody>
      </p:sp>
      <p:sp>
        <p:nvSpPr>
          <p:cNvPr id="9" name="a3_c2"/>
          <p:cNvSpPr/>
          <p:nvPr/>
        </p:nvSpPr>
        <p:spPr>
          <a:xfrm>
            <a:off x="7223760" y="3291840"/>
            <a:ext cx="4416552" cy="1554480"/>
          </a:xfrm>
          <a:prstGeom prst="roundRect">
            <a:avLst>
              <a:gd name="adj" fmla="val 8235"/>
            </a:avLst>
          </a:prstGeom>
          <a:solidFill>
            <a:schemeClr val="accent2">
              <a:alpha val="15000"/>
            </a:schemeClr>
          </a:solidFill>
          <a:ln/>
        </p:spPr>
        <p:txBody>
          <a:bodyPr/>
          <a:lstStyle/>
          <a:p>
            <a:endParaRPr lang="en-US"/>
          </a:p>
        </p:txBody>
      </p:sp>
      <p:sp>
        <p:nvSpPr>
          <p:cNvPr id="10" name="a3_c2n"/>
          <p:cNvSpPr txBox="1"/>
          <p:nvPr/>
        </p:nvSpPr>
        <p:spPr>
          <a:xfrm>
            <a:off x="7452360" y="3401568"/>
            <a:ext cx="4023360" cy="502920"/>
          </a:xfrm>
          <a:prstGeom prst="rect">
            <a:avLst/>
          </a:prstGeom>
          <a:noFill/>
          <a:ln/>
        </p:spPr>
        <p:txBody>
          <a:bodyPr wrap="square" lIns="0" tIns="0" rIns="0" bIns="0" rtlCol="0" anchor="t"/>
          <a:lstStyle/>
          <a:p>
            <a:pPr marL="0" indent="0">
              <a:buNone/>
            </a:pPr>
            <a:r>
              <a:rPr lang="en-US" sz="2800" b="1" dirty="0">
                <a:solidFill>
                  <a:schemeClr val="accent3"/>
                </a:solidFill>
              </a:rPr>
              <a:t>353 of 358 foods</a:t>
            </a:r>
            <a:endParaRPr lang="en-US" sz="2800" dirty="0"/>
          </a:p>
        </p:txBody>
      </p:sp>
      <p:sp>
        <p:nvSpPr>
          <p:cNvPr id="11" name="a3_c2t"/>
          <p:cNvSpPr txBox="1"/>
          <p:nvPr/>
        </p:nvSpPr>
        <p:spPr>
          <a:xfrm>
            <a:off x="7452360" y="3931920"/>
            <a:ext cx="4023360" cy="822960"/>
          </a:xfrm>
          <a:prstGeom prst="rect">
            <a:avLst/>
          </a:prstGeom>
          <a:noFill/>
          <a:ln/>
        </p:spPr>
        <p:txBody>
          <a:bodyPr wrap="square" lIns="0" tIns="0" rIns="0" bIns="0" rtlCol="0" anchor="t"/>
          <a:lstStyle/>
          <a:p>
            <a:pPr marL="0" indent="0">
              <a:buNone/>
            </a:pPr>
            <a:r>
              <a:rPr lang="en-US" sz="1400" dirty="0">
                <a:solidFill>
                  <a:schemeClr val="tx2"/>
                </a:solidFill>
              </a:rPr>
              <a:t>miss a nutrient. Rule C7 was wrong: USDA measures only some nutrients. We keep it as a warning.</a:t>
            </a:r>
            <a:endParaRPr lang="en-US" sz="1400" dirty="0"/>
          </a:p>
        </p:txBody>
      </p:sp>
      <p:pic>
        <p:nvPicPr>
          <p:cNvPr id="12" name="a4_desc_bg" descr="preencoded.png"/>
          <p:cNvPicPr>
            <a:picLocks noChangeAspect="1"/>
          </p:cNvPicPr>
          <p:nvPr/>
        </p:nvPicPr>
        <p:blipFill>
          <a:blip r:embed="rId4"/>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13" name="a4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Before building the knowledge graph, we analyzed the USDA data and defined rules to ensure its quality. </a:t>
            </a:r>
            <a:r>
              <a:rPr lang="en-US" sz="1400" b="1" dirty="0">
                <a:solidFill>
                  <a:schemeClr val="bg1"/>
                </a:solidFill>
              </a:rPr>
              <a:t>Nine out of ten rules passed</a:t>
            </a:r>
            <a:r>
              <a:rPr lang="en-US" sz="1400" dirty="0">
                <a:solidFill>
                  <a:schemeClr val="bg1"/>
                </a:solidFill>
              </a:rPr>
              <a:t> without errors. However, most foods have missing nutrient measurements because USDA does not measure every nutrient for every food. We handle these missing values as unknown rather than zero, ensuring the graph provides accurate and reliable information.</a:t>
            </a:r>
          </a:p>
        </p:txBody>
      </p:sp>
      <p:sp>
        <p:nvSpPr>
          <p:cNvPr id="14"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6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6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wipe(left)">
                                      <p:cBhvr>
                                        <p:cTn id="42" dur="6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Graphic spid="5" grpId="0">
        <p:bldAsOne/>
      </p:bldGraphic>
      <p:bldP spid="6" grpId="0" animBg="1"/>
      <p:bldP spid="7" grpId="0" animBg="1"/>
      <p:bldP spid="8" grpId="0" animBg="1"/>
      <p:bldP spid="9" grpId="0" animBg="1"/>
      <p:bldP spid="10" grpId="0" animBg="1"/>
      <p:bldP spid="11"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Ontology</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We reuse FoodOn and add only what it lacks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ontology/</a:t>
            </a:r>
            <a:endParaRPr lang="en-US" sz="1300" dirty="0"/>
          </a:p>
        </p:txBody>
      </p:sp>
      <p:sp>
        <p:nvSpPr>
          <p:cNvPr id="5" name="a1_t0"/>
          <p:cNvSpPr txBox="1"/>
          <p:nvPr/>
        </p:nvSpPr>
        <p:spPr>
          <a:xfrm>
            <a:off x="548640" y="164592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material entity</a:t>
            </a:r>
            <a:endParaRPr lang="en-US" sz="1600" dirty="0"/>
          </a:p>
        </p:txBody>
      </p:sp>
      <p:sp>
        <p:nvSpPr>
          <p:cNvPr id="6" name="a1_tl0"/>
          <p:cNvSpPr txBox="1"/>
          <p:nvPr/>
        </p:nvSpPr>
        <p:spPr>
          <a:xfrm>
            <a:off x="3337560" y="1645920"/>
            <a:ext cx="3429000" cy="457200"/>
          </a:xfrm>
          <a:prstGeom prst="rect">
            <a:avLst/>
          </a:prstGeom>
          <a:noFill/>
          <a:ln/>
        </p:spPr>
        <p:txBody>
          <a:bodyPr wrap="square" lIns="0" tIns="0" rIns="0" bIns="0" rtlCol="0" anchor="ctr"/>
          <a:lstStyle/>
          <a:p>
            <a:pPr marL="0" indent="0">
              <a:buNone/>
            </a:pPr>
            <a:r>
              <a:rPr lang="en-US" sz="1400" dirty="0">
                <a:solidFill>
                  <a:schemeClr val="accent5"/>
                </a:solidFill>
              </a:rPr>
              <a:t>BFO, reused</a:t>
            </a:r>
            <a:endParaRPr lang="en-US" sz="1400" dirty="0"/>
          </a:p>
        </p:txBody>
      </p:sp>
      <p:sp>
        <p:nvSpPr>
          <p:cNvPr id="7" name="a2_t1"/>
          <p:cNvSpPr txBox="1"/>
          <p:nvPr/>
        </p:nvSpPr>
        <p:spPr>
          <a:xfrm>
            <a:off x="822960" y="228600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food material</a:t>
            </a:r>
            <a:endParaRPr lang="en-US" sz="1600" dirty="0"/>
          </a:p>
        </p:txBody>
      </p:sp>
      <p:sp>
        <p:nvSpPr>
          <p:cNvPr id="8" name="a2_tl1"/>
          <p:cNvSpPr txBox="1"/>
          <p:nvPr/>
        </p:nvSpPr>
        <p:spPr>
          <a:xfrm>
            <a:off x="3611880" y="2286000"/>
            <a:ext cx="3154680" cy="457200"/>
          </a:xfrm>
          <a:prstGeom prst="rect">
            <a:avLst/>
          </a:prstGeom>
          <a:noFill/>
          <a:ln/>
        </p:spPr>
        <p:txBody>
          <a:bodyPr wrap="square" lIns="0" tIns="0" rIns="0" bIns="0" rtlCol="0" anchor="ctr"/>
          <a:lstStyle/>
          <a:p>
            <a:pPr marL="0" indent="0">
              <a:buNone/>
            </a:pPr>
            <a:r>
              <a:rPr lang="en-US" sz="1400" dirty="0">
                <a:solidFill>
                  <a:schemeClr val="accent5"/>
                </a:solidFill>
              </a:rPr>
              <a:t>FoodOn, reused</a:t>
            </a:r>
            <a:endParaRPr lang="en-US" sz="1400" dirty="0"/>
          </a:p>
        </p:txBody>
      </p:sp>
      <p:sp>
        <p:nvSpPr>
          <p:cNvPr id="9" name="a2_ta1"/>
          <p:cNvSpPr/>
          <p:nvPr/>
        </p:nvSpPr>
        <p:spPr>
          <a:xfrm flipH="1" flipV="1">
            <a:off x="1783080" y="2103120"/>
            <a:ext cx="137160" cy="182880"/>
          </a:xfrm>
          <a:prstGeom prst="line">
            <a:avLst/>
          </a:prstGeom>
          <a:noFill/>
          <a:ln w="25400">
            <a:solidFill>
              <a:schemeClr val="accent5"/>
            </a:solidFill>
            <a:prstDash val="solid"/>
            <a:tailEnd type="triangle"/>
          </a:ln>
        </p:spPr>
        <p:txBody>
          <a:bodyPr/>
          <a:lstStyle/>
          <a:p>
            <a:endParaRPr lang="en-US"/>
          </a:p>
        </p:txBody>
      </p:sp>
      <p:sp>
        <p:nvSpPr>
          <p:cNvPr id="10" name="a3_t2"/>
          <p:cNvSpPr txBox="1"/>
          <p:nvPr/>
        </p:nvSpPr>
        <p:spPr>
          <a:xfrm>
            <a:off x="1097280" y="2926080"/>
            <a:ext cx="2651760" cy="457200"/>
          </a:xfrm>
          <a:prstGeom prst="roundRect">
            <a:avLst>
              <a:gd name="adj" fmla="val 20000"/>
            </a:avLst>
          </a:prstGeom>
          <a:solidFill>
            <a:schemeClr val="bg1"/>
          </a:solidFill>
          <a:ln w="9525">
            <a:solidFill>
              <a:srgbClr val="DCE8DF"/>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2"/>
                </a:solidFill>
              </a:rPr>
              <a:t>food product</a:t>
            </a:r>
            <a:endParaRPr lang="en-US" sz="1600" dirty="0"/>
          </a:p>
        </p:txBody>
      </p:sp>
      <p:sp>
        <p:nvSpPr>
          <p:cNvPr id="11" name="a3_tl2"/>
          <p:cNvSpPr txBox="1"/>
          <p:nvPr/>
        </p:nvSpPr>
        <p:spPr>
          <a:xfrm>
            <a:off x="3886200" y="2926080"/>
            <a:ext cx="2880360" cy="457200"/>
          </a:xfrm>
          <a:prstGeom prst="rect">
            <a:avLst/>
          </a:prstGeom>
          <a:noFill/>
          <a:ln/>
        </p:spPr>
        <p:txBody>
          <a:bodyPr wrap="square" lIns="0" tIns="0" rIns="0" bIns="0" rtlCol="0" anchor="ctr"/>
          <a:lstStyle/>
          <a:p>
            <a:pPr marL="0" indent="0">
              <a:buNone/>
            </a:pPr>
            <a:r>
              <a:rPr lang="en-US" sz="1400" dirty="0">
                <a:solidFill>
                  <a:schemeClr val="accent5"/>
                </a:solidFill>
              </a:rPr>
              <a:t>FoodOn, reused</a:t>
            </a:r>
            <a:endParaRPr lang="en-US" sz="1400" dirty="0"/>
          </a:p>
        </p:txBody>
      </p:sp>
      <p:sp>
        <p:nvSpPr>
          <p:cNvPr id="12" name="a3_ta2"/>
          <p:cNvSpPr/>
          <p:nvPr/>
        </p:nvSpPr>
        <p:spPr>
          <a:xfrm flipH="1" flipV="1">
            <a:off x="2057400" y="2743200"/>
            <a:ext cx="137160" cy="182880"/>
          </a:xfrm>
          <a:prstGeom prst="line">
            <a:avLst/>
          </a:prstGeom>
          <a:noFill/>
          <a:ln w="25400">
            <a:solidFill>
              <a:schemeClr val="accent5"/>
            </a:solidFill>
            <a:prstDash val="solid"/>
            <a:tailEnd type="triangle"/>
          </a:ln>
        </p:spPr>
        <p:txBody>
          <a:bodyPr/>
          <a:lstStyle/>
          <a:p>
            <a:endParaRPr lang="en-US"/>
          </a:p>
        </p:txBody>
      </p:sp>
      <p:sp>
        <p:nvSpPr>
          <p:cNvPr id="13" name="a4_t3"/>
          <p:cNvSpPr txBox="1"/>
          <p:nvPr/>
        </p:nvSpPr>
        <p:spPr>
          <a:xfrm>
            <a:off x="1371600" y="3566160"/>
            <a:ext cx="2651760" cy="457200"/>
          </a:xfrm>
          <a:prstGeom prst="roundRect">
            <a:avLst>
              <a:gd name="adj" fmla="val 20000"/>
            </a:avLst>
          </a:prstGeom>
          <a:solidFill>
            <a:schemeClr val="accent1"/>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bg1"/>
                </a:solidFill>
              </a:rPr>
              <a:t>Food</a:t>
            </a:r>
            <a:endParaRPr lang="en-US" sz="1600" dirty="0"/>
          </a:p>
        </p:txBody>
      </p:sp>
      <p:sp>
        <p:nvSpPr>
          <p:cNvPr id="14" name="a4_tl3"/>
          <p:cNvSpPr txBox="1"/>
          <p:nvPr/>
        </p:nvSpPr>
        <p:spPr>
          <a:xfrm>
            <a:off x="4160520" y="3566160"/>
            <a:ext cx="2606040" cy="457200"/>
          </a:xfrm>
          <a:prstGeom prst="rect">
            <a:avLst/>
          </a:prstGeom>
          <a:noFill/>
          <a:ln/>
        </p:spPr>
        <p:txBody>
          <a:bodyPr wrap="square" lIns="0" tIns="0" rIns="0" bIns="0" rtlCol="0" anchor="ctr"/>
          <a:lstStyle/>
          <a:p>
            <a:pPr marL="0" indent="0">
              <a:buNone/>
            </a:pPr>
            <a:r>
              <a:rPr lang="en-US" sz="1400" dirty="0">
                <a:solidFill>
                  <a:schemeClr val="accent5"/>
                </a:solidFill>
              </a:rPr>
              <a:t>ours: one USDA food</a:t>
            </a:r>
            <a:endParaRPr lang="en-US" sz="1400" dirty="0"/>
          </a:p>
        </p:txBody>
      </p:sp>
      <p:sp>
        <p:nvSpPr>
          <p:cNvPr id="15" name="a4_ta3"/>
          <p:cNvSpPr/>
          <p:nvPr/>
        </p:nvSpPr>
        <p:spPr>
          <a:xfrm flipH="1" flipV="1">
            <a:off x="2331720" y="3383280"/>
            <a:ext cx="137160" cy="182880"/>
          </a:xfrm>
          <a:prstGeom prst="line">
            <a:avLst/>
          </a:prstGeom>
          <a:noFill/>
          <a:ln w="25400">
            <a:solidFill>
              <a:schemeClr val="accent5"/>
            </a:solidFill>
            <a:prstDash val="solid"/>
            <a:tailEnd type="triangle"/>
          </a:ln>
        </p:spPr>
        <p:txBody>
          <a:bodyPr/>
          <a:lstStyle/>
          <a:p>
            <a:endParaRPr lang="en-US"/>
          </a:p>
        </p:txBody>
      </p:sp>
      <p:sp>
        <p:nvSpPr>
          <p:cNvPr id="16" name="a5_t4"/>
          <p:cNvSpPr txBox="1"/>
          <p:nvPr/>
        </p:nvSpPr>
        <p:spPr>
          <a:xfrm>
            <a:off x="1645920" y="4206240"/>
            <a:ext cx="2651760" cy="457200"/>
          </a:xfrm>
          <a:prstGeom prst="roundRect">
            <a:avLst>
              <a:gd name="adj" fmla="val 20000"/>
            </a:avLst>
          </a:prstGeom>
          <a:solidFill>
            <a:schemeClr val="accent2"/>
          </a:solidFill>
          <a:ln/>
          <a:effectLst>
            <a:outerShdw blurRad="101600" dist="25400" dir="5400000" algn="bl" rotWithShape="0">
              <a:srgbClr val="1B2A22">
                <a:alpha val="12000"/>
              </a:srgbClr>
            </a:outerShdw>
          </a:effectLst>
        </p:spPr>
        <p:txBody>
          <a:bodyPr wrap="square" lIns="0" tIns="0" rIns="0" bIns="0" rtlCol="0" anchor="ctr"/>
          <a:lstStyle/>
          <a:p>
            <a:pPr marL="0" indent="0" algn="ctr">
              <a:buNone/>
            </a:pPr>
            <a:r>
              <a:rPr lang="en-US" sz="1600" b="1" dirty="0">
                <a:solidFill>
                  <a:schemeClr val="tx1"/>
                </a:solidFill>
              </a:rPr>
              <a:t>CharacterizedFood</a:t>
            </a:r>
            <a:endParaRPr lang="en-US" sz="1600" dirty="0"/>
          </a:p>
        </p:txBody>
      </p:sp>
      <p:sp>
        <p:nvSpPr>
          <p:cNvPr id="17" name="a5_tl4"/>
          <p:cNvSpPr txBox="1"/>
          <p:nvPr/>
        </p:nvSpPr>
        <p:spPr>
          <a:xfrm>
            <a:off x="4434840" y="4206240"/>
            <a:ext cx="2331720" cy="457200"/>
          </a:xfrm>
          <a:prstGeom prst="rect">
            <a:avLst/>
          </a:prstGeom>
          <a:noFill/>
          <a:ln/>
        </p:spPr>
        <p:txBody>
          <a:bodyPr wrap="square" lIns="0" tIns="0" rIns="0" bIns="0" rtlCol="0" anchor="ctr"/>
          <a:lstStyle/>
          <a:p>
            <a:pPr marL="0" indent="0">
              <a:buNone/>
            </a:pPr>
            <a:r>
              <a:rPr lang="en-US" sz="1400" dirty="0">
                <a:solidFill>
                  <a:schemeClr val="accent5"/>
                </a:solidFill>
              </a:rPr>
              <a:t>ours, defined: a Food with at least one measurement</a:t>
            </a:r>
            <a:endParaRPr lang="en-US" sz="1400" dirty="0"/>
          </a:p>
        </p:txBody>
      </p:sp>
      <p:sp>
        <p:nvSpPr>
          <p:cNvPr id="18" name="a5_ta4"/>
          <p:cNvSpPr/>
          <p:nvPr/>
        </p:nvSpPr>
        <p:spPr>
          <a:xfrm flipH="1" flipV="1">
            <a:off x="2606040" y="4023360"/>
            <a:ext cx="137160" cy="182880"/>
          </a:xfrm>
          <a:prstGeom prst="line">
            <a:avLst/>
          </a:prstGeom>
          <a:noFill/>
          <a:ln w="25400">
            <a:solidFill>
              <a:schemeClr val="accent5"/>
            </a:solidFill>
            <a:prstDash val="solid"/>
            <a:tailEnd type="triangle"/>
          </a:ln>
        </p:spPr>
        <p:txBody>
          <a:bodyPr/>
          <a:lstStyle/>
          <a:p>
            <a:endParaRPr lang="en-US"/>
          </a:p>
        </p:txBody>
      </p:sp>
      <p:sp>
        <p:nvSpPr>
          <p:cNvPr id="19" name="a6_k0"/>
          <p:cNvSpPr/>
          <p:nvPr/>
        </p:nvSpPr>
        <p:spPr>
          <a:xfrm>
            <a:off x="7086600" y="164592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0" name="a6_kn0"/>
          <p:cNvSpPr txBox="1"/>
          <p:nvPr/>
        </p:nvSpPr>
        <p:spPr>
          <a:xfrm>
            <a:off x="7269480" y="175564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350</a:t>
            </a:r>
            <a:endParaRPr lang="en-US" sz="3800" dirty="0"/>
          </a:p>
        </p:txBody>
      </p:sp>
      <p:sp>
        <p:nvSpPr>
          <p:cNvPr id="21" name="a6_kt0"/>
          <p:cNvSpPr txBox="1"/>
          <p:nvPr/>
        </p:nvSpPr>
        <p:spPr>
          <a:xfrm>
            <a:off x="7269480" y="2450592"/>
            <a:ext cx="1828800" cy="594360"/>
          </a:xfrm>
          <a:prstGeom prst="rect">
            <a:avLst/>
          </a:prstGeom>
          <a:noFill/>
          <a:ln/>
        </p:spPr>
        <p:txBody>
          <a:bodyPr wrap="square" lIns="0" tIns="0" rIns="0" bIns="0" rtlCol="0" anchor="t"/>
          <a:lstStyle/>
          <a:p>
            <a:pPr marL="0" indent="0">
              <a:buNone/>
            </a:pPr>
            <a:r>
              <a:rPr lang="en-US" sz="1400" dirty="0">
                <a:solidFill>
                  <a:schemeClr val="tx2"/>
                </a:solidFill>
              </a:rPr>
              <a:t>foods classified by the reasoner</a:t>
            </a:r>
            <a:endParaRPr lang="en-US" sz="1400" dirty="0"/>
          </a:p>
        </p:txBody>
      </p:sp>
      <p:sp>
        <p:nvSpPr>
          <p:cNvPr id="22" name="a7_k1"/>
          <p:cNvSpPr/>
          <p:nvPr/>
        </p:nvSpPr>
        <p:spPr>
          <a:xfrm>
            <a:off x="9409176" y="164592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3" name="a7_kn1"/>
          <p:cNvSpPr txBox="1"/>
          <p:nvPr/>
        </p:nvSpPr>
        <p:spPr>
          <a:xfrm>
            <a:off x="9592056" y="175564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0</a:t>
            </a:r>
            <a:endParaRPr lang="en-US" sz="3800" dirty="0"/>
          </a:p>
        </p:txBody>
      </p:sp>
      <p:sp>
        <p:nvSpPr>
          <p:cNvPr id="24" name="a7_kt1"/>
          <p:cNvSpPr txBox="1"/>
          <p:nvPr/>
        </p:nvSpPr>
        <p:spPr>
          <a:xfrm>
            <a:off x="9592056" y="2450592"/>
            <a:ext cx="1828800" cy="594360"/>
          </a:xfrm>
          <a:prstGeom prst="rect">
            <a:avLst/>
          </a:prstGeom>
          <a:noFill/>
          <a:ln/>
        </p:spPr>
        <p:txBody>
          <a:bodyPr wrap="square" lIns="0" tIns="0" rIns="0" bIns="0" rtlCol="0" anchor="t"/>
          <a:lstStyle/>
          <a:p>
            <a:pPr marL="0" indent="0">
              <a:buNone/>
            </a:pPr>
            <a:r>
              <a:rPr lang="en-US" sz="1400" dirty="0">
                <a:solidFill>
                  <a:schemeClr val="tx2"/>
                </a:solidFill>
              </a:rPr>
              <a:t>red classes; consistent</a:t>
            </a:r>
            <a:endParaRPr lang="en-US" sz="1400" dirty="0"/>
          </a:p>
        </p:txBody>
      </p:sp>
      <p:sp>
        <p:nvSpPr>
          <p:cNvPr id="25" name="a8_k2"/>
          <p:cNvSpPr/>
          <p:nvPr/>
        </p:nvSpPr>
        <p:spPr>
          <a:xfrm>
            <a:off x="7086600" y="329184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6" name="a8_kn2"/>
          <p:cNvSpPr txBox="1"/>
          <p:nvPr/>
        </p:nvSpPr>
        <p:spPr>
          <a:xfrm>
            <a:off x="7269480" y="3401568"/>
            <a:ext cx="1828800" cy="640080"/>
          </a:xfrm>
          <a:prstGeom prst="rect">
            <a:avLst/>
          </a:prstGeom>
          <a:noFill/>
          <a:ln/>
        </p:spPr>
        <p:txBody>
          <a:bodyPr wrap="square" lIns="0" tIns="0" rIns="0" bIns="0" rtlCol="0" anchor="b"/>
          <a:lstStyle/>
          <a:p>
            <a:pPr marL="0" indent="0">
              <a:buNone/>
            </a:pPr>
            <a:r>
              <a:rPr lang="en-US" sz="2600" b="1" dirty="0">
                <a:solidFill>
                  <a:schemeClr val="accent1"/>
                </a:solidFill>
              </a:rPr>
              <a:t>OWL 2 DL</a:t>
            </a:r>
            <a:endParaRPr lang="en-US" sz="2600" dirty="0"/>
          </a:p>
        </p:txBody>
      </p:sp>
      <p:sp>
        <p:nvSpPr>
          <p:cNvPr id="27" name="a8_kt2"/>
          <p:cNvSpPr txBox="1"/>
          <p:nvPr/>
        </p:nvSpPr>
        <p:spPr>
          <a:xfrm>
            <a:off x="7269480" y="4096512"/>
            <a:ext cx="1828800" cy="594360"/>
          </a:xfrm>
          <a:prstGeom prst="rect">
            <a:avLst/>
          </a:prstGeom>
          <a:noFill/>
          <a:ln/>
        </p:spPr>
        <p:txBody>
          <a:bodyPr wrap="square" lIns="0" tIns="0" rIns="0" bIns="0" rtlCol="0" anchor="t"/>
          <a:lstStyle/>
          <a:p>
            <a:pPr marL="0" indent="0">
              <a:buNone/>
            </a:pPr>
            <a:r>
              <a:rPr lang="en-US" sz="1400" dirty="0">
                <a:solidFill>
                  <a:schemeClr val="tx2"/>
                </a:solidFill>
              </a:rPr>
              <a:t>profile, run with HermiT</a:t>
            </a:r>
            <a:endParaRPr lang="en-US" sz="1400" dirty="0"/>
          </a:p>
        </p:txBody>
      </p:sp>
      <p:sp>
        <p:nvSpPr>
          <p:cNvPr id="28" name="a9_k3"/>
          <p:cNvSpPr/>
          <p:nvPr/>
        </p:nvSpPr>
        <p:spPr>
          <a:xfrm>
            <a:off x="9409176" y="3291840"/>
            <a:ext cx="2194560"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9" name="a9_kn3"/>
          <p:cNvSpPr txBox="1"/>
          <p:nvPr/>
        </p:nvSpPr>
        <p:spPr>
          <a:xfrm>
            <a:off x="9592056" y="3401568"/>
            <a:ext cx="1828800" cy="640080"/>
          </a:xfrm>
          <a:prstGeom prst="rect">
            <a:avLst/>
          </a:prstGeom>
          <a:noFill/>
          <a:ln/>
        </p:spPr>
        <p:txBody>
          <a:bodyPr wrap="square" lIns="0" tIns="0" rIns="0" bIns="0" rtlCol="0" anchor="b"/>
          <a:lstStyle/>
          <a:p>
            <a:pPr marL="0" indent="0">
              <a:buNone/>
            </a:pPr>
            <a:r>
              <a:rPr lang="en-US" sz="3800" b="1" dirty="0">
                <a:solidFill>
                  <a:schemeClr val="accent1"/>
                </a:solidFill>
              </a:rPr>
              <a:t>1.1.0</a:t>
            </a:r>
            <a:endParaRPr lang="en-US" sz="3800" dirty="0"/>
          </a:p>
        </p:txBody>
      </p:sp>
      <p:sp>
        <p:nvSpPr>
          <p:cNvPr id="30" name="a9_kt3"/>
          <p:cNvSpPr txBox="1"/>
          <p:nvPr/>
        </p:nvSpPr>
        <p:spPr>
          <a:xfrm>
            <a:off x="9592056" y="4096512"/>
            <a:ext cx="1828800" cy="594360"/>
          </a:xfrm>
          <a:prstGeom prst="rect">
            <a:avLst/>
          </a:prstGeom>
          <a:noFill/>
          <a:ln/>
        </p:spPr>
        <p:txBody>
          <a:bodyPr wrap="square" lIns="0" tIns="0" rIns="0" bIns="0" rtlCol="0" anchor="t"/>
          <a:lstStyle/>
          <a:p>
            <a:pPr marL="0" indent="0">
              <a:buNone/>
            </a:pPr>
            <a:r>
              <a:rPr lang="en-US" sz="1400" dirty="0">
                <a:solidFill>
                  <a:schemeClr val="tx2"/>
                </a:solidFill>
              </a:rPr>
              <a:t>version IRI</a:t>
            </a:r>
            <a:endParaRPr lang="en-US" sz="1400" dirty="0"/>
          </a:p>
        </p:txBody>
      </p:sp>
      <p:pic>
        <p:nvPicPr>
          <p:cNvPr id="31" name="a10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32" name="a10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We reused the existing </a:t>
            </a:r>
            <a:r>
              <a:rPr lang="en-US" sz="1400" b="1" dirty="0" err="1">
                <a:solidFill>
                  <a:schemeClr val="bg1"/>
                </a:solidFill>
              </a:rPr>
              <a:t>FoodOn</a:t>
            </a:r>
            <a:r>
              <a:rPr lang="en-US" sz="1400" b="1" dirty="0">
                <a:solidFill>
                  <a:schemeClr val="bg1"/>
                </a:solidFill>
              </a:rPr>
              <a:t> ontology</a:t>
            </a:r>
            <a:r>
              <a:rPr lang="en-US" sz="1400" dirty="0">
                <a:solidFill>
                  <a:schemeClr val="bg1"/>
                </a:solidFill>
              </a:rPr>
              <a:t> and extended it with the concepts needed for our project, including foods, nutrients, measurements, and categories. This allows us to organize food information and define relationships between concepts. Using the </a:t>
            </a:r>
            <a:r>
              <a:rPr lang="en-US" sz="1400" b="1" dirty="0" err="1">
                <a:solidFill>
                  <a:schemeClr val="bg1"/>
                </a:solidFill>
              </a:rPr>
              <a:t>HermiT</a:t>
            </a:r>
            <a:r>
              <a:rPr lang="en-US" sz="1400" b="1" dirty="0">
                <a:solidFill>
                  <a:schemeClr val="bg1"/>
                </a:solidFill>
              </a:rPr>
              <a:t> reasoner</a:t>
            </a:r>
            <a:r>
              <a:rPr lang="en-US" sz="1400" dirty="0">
                <a:solidFill>
                  <a:schemeClr val="bg1"/>
                </a:solidFill>
              </a:rPr>
              <a:t>, we automatically classified </a:t>
            </a:r>
            <a:r>
              <a:rPr lang="en-US" sz="1400" b="1" dirty="0">
                <a:solidFill>
                  <a:schemeClr val="bg1"/>
                </a:solidFill>
              </a:rPr>
              <a:t>350 foods</a:t>
            </a:r>
            <a:r>
              <a:rPr lang="en-US" sz="1400" dirty="0">
                <a:solidFill>
                  <a:schemeClr val="bg1"/>
                </a:solidFill>
              </a:rPr>
              <a:t> based on their nutritional measurements, confirming that our ontology is logically consistent.</a:t>
            </a:r>
          </a:p>
        </p:txBody>
      </p:sp>
      <p:sp>
        <p:nvSpPr>
          <p:cNvPr id="33"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par>
                          <p:cTn id="19" fill="hold">
                            <p:stCondLst>
                              <p:cond delay="280"/>
                            </p:stCondLst>
                            <p:childTnLst>
                              <p:par>
                                <p:cTn id="20" presetID="22" presetClass="entr" presetSubtype="8"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600"/>
                                        <p:tgtEl>
                                          <p:spTgt spid="9"/>
                                        </p:tgtEl>
                                      </p:cBhvr>
                                    </p:animEffect>
                                  </p:childTnLst>
                                </p:cTn>
                              </p:par>
                            </p:childTnLst>
                          </p:cTn>
                        </p:par>
                        <p:par>
                          <p:cTn id="29" fill="hold">
                            <p:stCondLst>
                              <p:cond delay="560"/>
                            </p:stCondLst>
                            <p:childTnLst>
                              <p:par>
                                <p:cTn id="30" presetID="22" presetClass="entr" presetSubtype="8"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6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600"/>
                                        <p:tgtEl>
                                          <p:spTgt spid="12"/>
                                        </p:tgtEl>
                                      </p:cBhvr>
                                    </p:animEffect>
                                  </p:childTnLst>
                                </p:cTn>
                              </p:par>
                            </p:childTnLst>
                          </p:cTn>
                        </p:par>
                        <p:par>
                          <p:cTn id="39" fill="hold">
                            <p:stCondLst>
                              <p:cond delay="840"/>
                            </p:stCondLst>
                            <p:childTnLst>
                              <p:par>
                                <p:cTn id="40" presetID="22" presetClass="entr" presetSubtype="8" fill="hold" grpId="0" nodeType="after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wipe(left)">
                                      <p:cBhvr>
                                        <p:cTn id="42" dur="60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left)">
                                      <p:cBhvr>
                                        <p:cTn id="48" dur="600"/>
                                        <p:tgtEl>
                                          <p:spTgt spid="15"/>
                                        </p:tgtEl>
                                      </p:cBhvr>
                                    </p:animEffect>
                                  </p:childTnLst>
                                </p:cTn>
                              </p:par>
                            </p:childTnLst>
                          </p:cTn>
                        </p:par>
                        <p:par>
                          <p:cTn id="49" fill="hold">
                            <p:stCondLst>
                              <p:cond delay="1120"/>
                            </p:stCondLst>
                            <p:childTnLst>
                              <p:par>
                                <p:cTn id="50" presetID="22" presetClass="entr" presetSubtype="8"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6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600"/>
                                        <p:tgtEl>
                                          <p:spTgt spid="1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childTnLst>
                          </p:cTn>
                        </p:par>
                        <p:par>
                          <p:cTn id="70" fill="hold">
                            <p:stCondLst>
                              <p:cond delay="280"/>
                            </p:stCondLst>
                            <p:childTnLst>
                              <p:par>
                                <p:cTn id="71" presetID="22" presetClass="entr" presetSubtype="8" fill="hold" grpId="0" nodeType="after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wipe(left)">
                                      <p:cBhvr>
                                        <p:cTn id="73" dur="600"/>
                                        <p:tgtEl>
                                          <p:spTgt spid="2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par>
                          <p:cTn id="80" fill="hold">
                            <p:stCondLst>
                              <p:cond delay="560"/>
                            </p:stCondLst>
                            <p:childTnLst>
                              <p:par>
                                <p:cTn id="81" presetID="22" presetClass="entr" presetSubtype="8" fill="hold" grpId="0" nodeType="after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wipe(left)">
                                      <p:cBhvr>
                                        <p:cTn id="83" dur="6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500"/>
                                        <p:tgtEl>
                                          <p:spTgt spid="27"/>
                                        </p:tgtEl>
                                      </p:cBhvr>
                                    </p:animEffect>
                                  </p:childTnLst>
                                </p:cTn>
                              </p:par>
                            </p:childTnLst>
                          </p:cTn>
                        </p:par>
                        <p:par>
                          <p:cTn id="90" fill="hold">
                            <p:stCondLst>
                              <p:cond delay="840"/>
                            </p:stCondLst>
                            <p:childTnLst>
                              <p:par>
                                <p:cTn id="91" presetID="22" presetClass="entr" presetSubtype="8" fill="hold" grpId="0" nodeType="after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wipe(left)">
                                      <p:cBhvr>
                                        <p:cTn id="93" dur="600"/>
                                        <p:tgtEl>
                                          <p:spTgt spid="28"/>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childTnLst>
                          </p:cTn>
                        </p:par>
                      </p:childTnLst>
                    </p:cTn>
                  </p:par>
                  <p:par>
                    <p:cTn id="100" fill="hold">
                      <p:stCondLst>
                        <p:cond delay="indefinite"/>
                      </p:stCondLst>
                      <p:childTnLst>
                        <p:par>
                          <p:cTn id="101" fill="hold">
                            <p:stCondLst>
                              <p:cond delay="0"/>
                            </p:stCondLst>
                            <p:childTnLst>
                              <p:par>
                                <p:cTn id="102" presetID="22" presetClass="entr" presetSubtype="8"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wipe(left)">
                                      <p:cBhvr>
                                        <p:cTn id="104" dur="600"/>
                                        <p:tgtEl>
                                          <p:spTgt spid="3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Validation with SHACL</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A gate that bad data cannot pass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shapes/</a:t>
            </a:r>
            <a:endParaRPr lang="en-US" sz="1300" dirty="0"/>
          </a:p>
        </p:txBody>
      </p:sp>
      <p:sp>
        <p:nvSpPr>
          <p:cNvPr id="5" name="a1_g1"/>
          <p:cNvSpPr txBox="1"/>
          <p:nvPr/>
        </p:nvSpPr>
        <p:spPr>
          <a:xfrm>
            <a:off x="548640" y="1828800"/>
            <a:ext cx="2286000" cy="960120"/>
          </a:xfrm>
          <a:prstGeom prst="roundRect">
            <a:avLst>
              <a:gd name="adj" fmla="val 9524"/>
            </a:avLst>
          </a:prstGeom>
          <a:solidFill>
            <a:schemeClr val="bg1"/>
          </a:solidFill>
          <a:ln w="9525">
            <a:solidFill>
              <a:srgbClr val="DCE8DF"/>
            </a:solidFill>
          </a:ln>
          <a:effectLst>
            <a:outerShdw blurRad="127000" dist="25400" dir="5400000" algn="bl" rotWithShape="0">
              <a:srgbClr val="1B2A22">
                <a:alpha val="14000"/>
              </a:srgbClr>
            </a:outerShdw>
          </a:effectLst>
        </p:spPr>
        <p:txBody>
          <a:bodyPr wrap="square" lIns="0" tIns="0" rIns="0" bIns="0" rtlCol="0" anchor="ctr"/>
          <a:lstStyle/>
          <a:p>
            <a:pPr marL="0" indent="0" algn="ctr">
              <a:buNone/>
            </a:pPr>
            <a:r>
              <a:rPr lang="en-US" sz="1600" b="1" dirty="0">
                <a:solidFill>
                  <a:schemeClr val="tx2"/>
                </a:solidFill>
              </a:rPr>
              <a:t>Mapped graph</a:t>
            </a:r>
            <a:endParaRPr lang="en-US" sz="1600" dirty="0"/>
          </a:p>
          <a:p>
            <a:pPr marL="0" indent="0" algn="ctr">
              <a:buNone/>
            </a:pPr>
            <a:r>
              <a:rPr lang="en-US" sz="1600" b="1" dirty="0">
                <a:solidFill>
                  <a:schemeClr val="tx2"/>
                </a:solidFill>
              </a:rPr>
              <a:t>9,359 triples</a:t>
            </a:r>
            <a:endParaRPr lang="en-US" sz="1600" dirty="0"/>
          </a:p>
        </p:txBody>
      </p:sp>
      <p:sp>
        <p:nvSpPr>
          <p:cNvPr id="6" name="a2_ga1"/>
          <p:cNvSpPr/>
          <p:nvPr/>
        </p:nvSpPr>
        <p:spPr>
          <a:xfrm>
            <a:off x="2880360" y="2304288"/>
            <a:ext cx="548640" cy="0"/>
          </a:xfrm>
          <a:prstGeom prst="line">
            <a:avLst/>
          </a:prstGeom>
          <a:noFill/>
          <a:ln w="25400">
            <a:solidFill>
              <a:schemeClr val="accent5"/>
            </a:solidFill>
            <a:prstDash val="solid"/>
            <a:tailEnd type="triangle"/>
          </a:ln>
        </p:spPr>
        <p:txBody>
          <a:bodyPr/>
          <a:lstStyle/>
          <a:p>
            <a:endParaRPr lang="en-US"/>
          </a:p>
        </p:txBody>
      </p:sp>
      <p:sp>
        <p:nvSpPr>
          <p:cNvPr id="7" name="a2_g2"/>
          <p:cNvSpPr txBox="1"/>
          <p:nvPr/>
        </p:nvSpPr>
        <p:spPr>
          <a:xfrm>
            <a:off x="3474720" y="1645920"/>
            <a:ext cx="2560320" cy="1325880"/>
          </a:xfrm>
          <a:prstGeom prst="roundRect">
            <a:avLst>
              <a:gd name="adj" fmla="val 6897"/>
            </a:avLst>
          </a:prstGeom>
          <a:solidFill>
            <a:schemeClr val="accent1"/>
          </a:solidFill>
          <a:ln/>
          <a:effectLst>
            <a:outerShdw blurRad="152400" dist="25400" dir="5400000" algn="bl" rotWithShape="0">
              <a:srgbClr val="1B2A22">
                <a:alpha val="22000"/>
              </a:srgbClr>
            </a:outerShdw>
          </a:effectLst>
        </p:spPr>
        <p:txBody>
          <a:bodyPr wrap="square" lIns="0" tIns="0" rIns="0" bIns="0" rtlCol="0" anchor="ctr"/>
          <a:lstStyle/>
          <a:p>
            <a:pPr marL="0" indent="0" algn="ctr">
              <a:buNone/>
            </a:pPr>
            <a:r>
              <a:rPr lang="en-US" sz="2000" b="1" dirty="0">
                <a:solidFill>
                  <a:schemeClr val="bg1"/>
                </a:solidFill>
              </a:rPr>
              <a:t>SHACL gate</a:t>
            </a:r>
            <a:endParaRPr lang="en-US" sz="2000" dirty="0"/>
          </a:p>
          <a:p>
            <a:pPr marL="0" indent="0" algn="ctr">
              <a:buNone/>
            </a:pPr>
            <a:r>
              <a:rPr lang="en-US" sz="2000" b="1" dirty="0">
                <a:solidFill>
                  <a:schemeClr val="bg1"/>
                </a:solidFill>
              </a:rPr>
              <a:t>10 rules</a:t>
            </a:r>
            <a:endParaRPr lang="en-US" sz="2000" dirty="0"/>
          </a:p>
        </p:txBody>
      </p:sp>
      <p:sp>
        <p:nvSpPr>
          <p:cNvPr id="8" name="a3_ga2"/>
          <p:cNvSpPr/>
          <p:nvPr/>
        </p:nvSpPr>
        <p:spPr>
          <a:xfrm flipV="1">
            <a:off x="6080760" y="1874520"/>
            <a:ext cx="548640" cy="137160"/>
          </a:xfrm>
          <a:prstGeom prst="line">
            <a:avLst/>
          </a:prstGeom>
          <a:noFill/>
          <a:ln w="25400">
            <a:solidFill>
              <a:schemeClr val="accent1"/>
            </a:solidFill>
            <a:prstDash val="solid"/>
            <a:tailEnd type="triangle"/>
          </a:ln>
        </p:spPr>
        <p:txBody>
          <a:bodyPr/>
          <a:lstStyle/>
          <a:p>
            <a:endParaRPr lang="en-US"/>
          </a:p>
        </p:txBody>
      </p:sp>
      <p:sp>
        <p:nvSpPr>
          <p:cNvPr id="9" name="a4_ga3"/>
          <p:cNvSpPr/>
          <p:nvPr/>
        </p:nvSpPr>
        <p:spPr>
          <a:xfrm>
            <a:off x="6080760" y="2606040"/>
            <a:ext cx="548640" cy="137160"/>
          </a:xfrm>
          <a:prstGeom prst="line">
            <a:avLst/>
          </a:prstGeom>
          <a:noFill/>
          <a:ln w="25400">
            <a:solidFill>
              <a:schemeClr val="accent3"/>
            </a:solidFill>
            <a:prstDash val="solid"/>
            <a:tailEnd type="triangle"/>
          </a:ln>
        </p:spPr>
        <p:txBody>
          <a:bodyPr/>
          <a:lstStyle/>
          <a:p>
            <a:endParaRPr lang="en-US"/>
          </a:p>
        </p:txBody>
      </p:sp>
      <p:sp>
        <p:nvSpPr>
          <p:cNvPr id="10" name="a3_g3"/>
          <p:cNvSpPr txBox="1"/>
          <p:nvPr/>
        </p:nvSpPr>
        <p:spPr>
          <a:xfrm>
            <a:off x="6675120" y="1554480"/>
            <a:ext cx="3108960" cy="640080"/>
          </a:xfrm>
          <a:prstGeom prst="roundRect">
            <a:avLst>
              <a:gd name="adj" fmla="val 14286"/>
            </a:avLst>
          </a:prstGeom>
          <a:solidFill>
            <a:schemeClr val="accent1">
              <a:alpha val="15000"/>
            </a:schemeClr>
          </a:solidFill>
          <a:ln/>
        </p:spPr>
        <p:txBody>
          <a:bodyPr wrap="square" lIns="0" tIns="0" rIns="0" bIns="0" rtlCol="0" anchor="ctr"/>
          <a:lstStyle/>
          <a:p>
            <a:pPr marL="0" indent="0" algn="ctr">
              <a:buNone/>
            </a:pPr>
            <a:r>
              <a:rPr lang="en-US" sz="1600" b="1" dirty="0">
                <a:solidFill>
                  <a:schemeClr val="accent1"/>
                </a:solidFill>
              </a:rPr>
              <a:t>Pass: reason, query, load</a:t>
            </a:r>
            <a:endParaRPr lang="en-US" sz="1600" dirty="0"/>
          </a:p>
        </p:txBody>
      </p:sp>
      <p:sp>
        <p:nvSpPr>
          <p:cNvPr id="11" name="a4_g4"/>
          <p:cNvSpPr txBox="1"/>
          <p:nvPr/>
        </p:nvSpPr>
        <p:spPr>
          <a:xfrm>
            <a:off x="6675120" y="2423160"/>
            <a:ext cx="3108960" cy="640080"/>
          </a:xfrm>
          <a:prstGeom prst="roundRect">
            <a:avLst>
              <a:gd name="adj" fmla="val 14286"/>
            </a:avLst>
          </a:prstGeom>
          <a:solidFill>
            <a:schemeClr val="accent3">
              <a:alpha val="15000"/>
            </a:schemeClr>
          </a:solidFill>
          <a:ln/>
        </p:spPr>
        <p:txBody>
          <a:bodyPr wrap="square" lIns="0" tIns="0" rIns="0" bIns="0" rtlCol="0" anchor="ctr"/>
          <a:lstStyle/>
          <a:p>
            <a:pPr marL="0" indent="0" algn="ctr">
              <a:buNone/>
            </a:pPr>
            <a:r>
              <a:rPr lang="en-US" sz="1600" b="1" dirty="0">
                <a:solidFill>
                  <a:schemeClr val="accent3"/>
                </a:solidFill>
              </a:rPr>
              <a:t>Violation: stop, nothing loaded</a:t>
            </a:r>
            <a:endParaRPr lang="en-US" sz="1600" dirty="0"/>
          </a:p>
        </p:txBody>
      </p:sp>
      <p:sp>
        <p:nvSpPr>
          <p:cNvPr id="12" name="a5_v_n"/>
          <p:cNvSpPr txBox="1"/>
          <p:nvPr/>
        </p:nvSpPr>
        <p:spPr>
          <a:xfrm>
            <a:off x="10058400" y="1417320"/>
            <a:ext cx="1581912" cy="594360"/>
          </a:xfrm>
          <a:prstGeom prst="rect">
            <a:avLst/>
          </a:prstGeom>
          <a:noFill/>
          <a:ln/>
        </p:spPr>
        <p:txBody>
          <a:bodyPr wrap="square" lIns="0" tIns="0" rIns="0" bIns="0" rtlCol="0" anchor="b"/>
          <a:lstStyle/>
          <a:p>
            <a:pPr marL="0" indent="0">
              <a:buNone/>
            </a:pPr>
            <a:r>
              <a:rPr lang="en-US" sz="3400" b="1" dirty="0">
                <a:solidFill>
                  <a:schemeClr val="accent1"/>
                </a:solidFill>
              </a:rPr>
              <a:t>0</a:t>
            </a:r>
            <a:endParaRPr lang="en-US" sz="3400" dirty="0"/>
          </a:p>
        </p:txBody>
      </p:sp>
      <p:sp>
        <p:nvSpPr>
          <p:cNvPr id="13" name="a5_v_l"/>
          <p:cNvSpPr txBox="1"/>
          <p:nvPr/>
        </p:nvSpPr>
        <p:spPr>
          <a:xfrm>
            <a:off x="10058400" y="2057400"/>
            <a:ext cx="1581912" cy="411480"/>
          </a:xfrm>
          <a:prstGeom prst="rect">
            <a:avLst/>
          </a:prstGeom>
          <a:noFill/>
          <a:ln/>
        </p:spPr>
        <p:txBody>
          <a:bodyPr wrap="square" lIns="0" tIns="0" rIns="0" bIns="0" rtlCol="0" anchor="t"/>
          <a:lstStyle/>
          <a:p>
            <a:pPr marL="0" indent="0">
              <a:buNone/>
            </a:pPr>
            <a:r>
              <a:rPr lang="en-US" sz="1400" dirty="0">
                <a:solidFill>
                  <a:schemeClr val="accent5"/>
                </a:solidFill>
              </a:rPr>
              <a:t>Violations</a:t>
            </a:r>
            <a:endParaRPr lang="en-US" sz="1400" dirty="0"/>
          </a:p>
        </p:txBody>
      </p:sp>
      <p:sp>
        <p:nvSpPr>
          <p:cNvPr id="14" name="a5_w_n"/>
          <p:cNvSpPr txBox="1"/>
          <p:nvPr/>
        </p:nvSpPr>
        <p:spPr>
          <a:xfrm>
            <a:off x="10058400" y="2423160"/>
            <a:ext cx="1581912" cy="594360"/>
          </a:xfrm>
          <a:prstGeom prst="rect">
            <a:avLst/>
          </a:prstGeom>
          <a:noFill/>
          <a:ln/>
        </p:spPr>
        <p:txBody>
          <a:bodyPr wrap="square" lIns="0" tIns="0" rIns="0" bIns="0" rtlCol="0" anchor="b"/>
          <a:lstStyle/>
          <a:p>
            <a:pPr marL="0" indent="0">
              <a:buNone/>
            </a:pPr>
            <a:r>
              <a:rPr lang="en-US" sz="3400" b="1" dirty="0">
                <a:solidFill>
                  <a:schemeClr val="accent2"/>
                </a:solidFill>
              </a:rPr>
              <a:t>353</a:t>
            </a:r>
            <a:endParaRPr lang="en-US" sz="3400" dirty="0"/>
          </a:p>
        </p:txBody>
      </p:sp>
      <p:sp>
        <p:nvSpPr>
          <p:cNvPr id="15" name="a5_w_l"/>
          <p:cNvSpPr txBox="1"/>
          <p:nvPr/>
        </p:nvSpPr>
        <p:spPr>
          <a:xfrm>
            <a:off x="10058400" y="3063240"/>
            <a:ext cx="1581912" cy="411480"/>
          </a:xfrm>
          <a:prstGeom prst="rect">
            <a:avLst/>
          </a:prstGeom>
          <a:noFill/>
          <a:ln/>
        </p:spPr>
        <p:txBody>
          <a:bodyPr wrap="square" lIns="0" tIns="0" rIns="0" bIns="0" rtlCol="0" anchor="t"/>
          <a:lstStyle/>
          <a:p>
            <a:pPr marL="0" indent="0">
              <a:buNone/>
            </a:pPr>
            <a:r>
              <a:rPr lang="en-US" sz="1400" dirty="0">
                <a:solidFill>
                  <a:schemeClr val="accent5"/>
                </a:solidFill>
              </a:rPr>
              <a:t>Warnings (C7)</a:t>
            </a:r>
            <a:endParaRPr lang="en-US" sz="1400" dirty="0"/>
          </a:p>
        </p:txBody>
      </p:sp>
      <p:sp>
        <p:nvSpPr>
          <p:cNvPr id="16" name="a6_r"/>
          <p:cNvSpPr/>
          <p:nvPr/>
        </p:nvSpPr>
        <p:spPr>
          <a:xfrm>
            <a:off x="548640" y="3429000"/>
            <a:ext cx="544068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7" name="a6_rh"/>
          <p:cNvSpPr txBox="1"/>
          <p:nvPr/>
        </p:nvSpPr>
        <p:spPr>
          <a:xfrm>
            <a:off x="777240" y="3538728"/>
            <a:ext cx="5029200" cy="347472"/>
          </a:xfrm>
          <a:prstGeom prst="rect">
            <a:avLst/>
          </a:prstGeom>
          <a:noFill/>
          <a:ln/>
        </p:spPr>
        <p:txBody>
          <a:bodyPr wrap="square" lIns="0" tIns="0" rIns="0" bIns="0" rtlCol="0" anchor="t"/>
          <a:lstStyle/>
          <a:p>
            <a:pPr marL="0" indent="0">
              <a:buNone/>
            </a:pPr>
            <a:r>
              <a:rPr lang="en-US" sz="1700" b="1" dirty="0">
                <a:solidFill>
                  <a:schemeClr val="accent3"/>
                </a:solidFill>
              </a:rPr>
              <a:t>Red run</a:t>
            </a:r>
            <a:endParaRPr lang="en-US" sz="1700" dirty="0"/>
          </a:p>
        </p:txBody>
      </p:sp>
      <p:sp>
        <p:nvSpPr>
          <p:cNvPr id="18" name="a6_rt"/>
          <p:cNvSpPr txBox="1"/>
          <p:nvPr/>
        </p:nvSpPr>
        <p:spPr>
          <a:xfrm>
            <a:off x="777240" y="3931920"/>
            <a:ext cx="5029200" cy="822960"/>
          </a:xfrm>
          <a:prstGeom prst="rect">
            <a:avLst/>
          </a:prstGeom>
          <a:noFill/>
          <a:ln/>
        </p:spPr>
        <p:txBody>
          <a:bodyPr wrap="square" lIns="0" tIns="0" rIns="0" bIns="0" rtlCol="0" anchor="t"/>
          <a:lstStyle/>
          <a:p>
            <a:pPr marL="0" indent="0">
              <a:buNone/>
            </a:pPr>
            <a:r>
              <a:rPr lang="en-US" sz="1400" dirty="0">
                <a:solidFill>
                  <a:schemeClr val="tx2"/>
                </a:solidFill>
              </a:rPr>
              <a:t>We changed one amount to −7.35. The gate found 1 Violation (rule C4), stopped with exit code 1, and nothing was loaded.</a:t>
            </a:r>
            <a:endParaRPr lang="en-US" sz="1400" dirty="0"/>
          </a:p>
        </p:txBody>
      </p:sp>
      <p:sp>
        <p:nvSpPr>
          <p:cNvPr id="19" name="a7_o"/>
          <p:cNvSpPr/>
          <p:nvPr/>
        </p:nvSpPr>
        <p:spPr>
          <a:xfrm>
            <a:off x="6199632" y="3429000"/>
            <a:ext cx="544068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20" name="a7_oh"/>
          <p:cNvSpPr txBox="1"/>
          <p:nvPr/>
        </p:nvSpPr>
        <p:spPr>
          <a:xfrm>
            <a:off x="6428232" y="3538728"/>
            <a:ext cx="5029200" cy="347472"/>
          </a:xfrm>
          <a:prstGeom prst="rect">
            <a:avLst/>
          </a:prstGeom>
          <a:noFill/>
          <a:ln/>
        </p:spPr>
        <p:txBody>
          <a:bodyPr wrap="square" lIns="0" tIns="0" rIns="0" bIns="0" rtlCol="0" anchor="t"/>
          <a:lstStyle/>
          <a:p>
            <a:pPr marL="0" indent="0">
              <a:buNone/>
            </a:pPr>
            <a:r>
              <a:rPr lang="en-US" sz="1700" b="1" dirty="0">
                <a:solidFill>
                  <a:schemeClr val="accent1"/>
                </a:solidFill>
              </a:rPr>
              <a:t>Why SHACL and not OWL?</a:t>
            </a:r>
            <a:endParaRPr lang="en-US" sz="1700" dirty="0"/>
          </a:p>
        </p:txBody>
      </p:sp>
      <p:sp>
        <p:nvSpPr>
          <p:cNvPr id="21" name="a7_ot"/>
          <p:cNvSpPr txBox="1"/>
          <p:nvPr/>
        </p:nvSpPr>
        <p:spPr>
          <a:xfrm>
            <a:off x="6428232" y="3931920"/>
            <a:ext cx="5029200" cy="822960"/>
          </a:xfrm>
          <a:prstGeom prst="rect">
            <a:avLst/>
          </a:prstGeom>
          <a:noFill/>
          <a:ln/>
        </p:spPr>
        <p:txBody>
          <a:bodyPr wrap="square" lIns="0" tIns="0" rIns="0" bIns="0" rtlCol="0" anchor="t"/>
          <a:lstStyle/>
          <a:p>
            <a:pPr marL="0" indent="0">
              <a:buNone/>
            </a:pPr>
            <a:r>
              <a:rPr lang="en-US" sz="1400" dirty="0">
                <a:solidFill>
                  <a:schemeClr val="tx2"/>
                </a:solidFill>
              </a:rPr>
              <a:t>OWL is open world: a missing value is just unknown. SHACL is closed world: a missing value is an error, so it can block the load.</a:t>
            </a:r>
            <a:endParaRPr lang="en-US" sz="1400" dirty="0"/>
          </a:p>
        </p:txBody>
      </p:sp>
      <p:pic>
        <p:nvPicPr>
          <p:cNvPr id="22" name="a8_desc_bg" descr="preencoded.png"/>
          <p:cNvPicPr>
            <a:picLocks noChangeAspect="1"/>
          </p:cNvPicPr>
          <p:nvPr/>
        </p:nvPicPr>
        <p:blipFill>
          <a:blip r:embed="rId3"/>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3" name="a8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We used </a:t>
            </a:r>
            <a:r>
              <a:rPr lang="en-US" sz="1400" b="1" dirty="0">
                <a:solidFill>
                  <a:schemeClr val="bg1"/>
                </a:solidFill>
              </a:rPr>
              <a:t>SHACL</a:t>
            </a:r>
            <a:r>
              <a:rPr lang="en-US" sz="1400" dirty="0">
                <a:solidFill>
                  <a:schemeClr val="bg1"/>
                </a:solidFill>
              </a:rPr>
              <a:t> to validate our knowledge graph before loading it into the system. It checks the data against </a:t>
            </a:r>
            <a:r>
              <a:rPr lang="en-US" sz="1400" b="1" dirty="0">
                <a:solidFill>
                  <a:schemeClr val="bg1"/>
                </a:solidFill>
              </a:rPr>
              <a:t>10 predefined rules</a:t>
            </a:r>
            <a:r>
              <a:rPr lang="en-US" sz="1400" dirty="0">
                <a:solidFill>
                  <a:schemeClr val="bg1"/>
                </a:solidFill>
              </a:rPr>
              <a:t> to ensure accuracy and consistency. Our graph passed with </a:t>
            </a:r>
            <a:r>
              <a:rPr lang="en-US" sz="1400" b="1" dirty="0">
                <a:solidFill>
                  <a:schemeClr val="bg1"/>
                </a:solidFill>
              </a:rPr>
              <a:t>zero violations</a:t>
            </a:r>
            <a:r>
              <a:rPr lang="en-US" sz="1400" dirty="0">
                <a:solidFill>
                  <a:schemeClr val="bg1"/>
                </a:solidFill>
              </a:rPr>
              <a:t>, while missing nutrient measurements were reported as warnings. We also tested the validation by introducing an incorrect negative value, which SHACL successfully detected and blocked. This ensures that invalid data cannot enter our system.</a:t>
            </a:r>
          </a:p>
        </p:txBody>
      </p:sp>
      <p:sp>
        <p:nvSpPr>
          <p:cNvPr id="24"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par>
                          <p:cTn id="16" fill="hold">
                            <p:stCondLst>
                              <p:cond delay="280"/>
                            </p:stCondLst>
                            <p:childTnLst>
                              <p:par>
                                <p:cTn id="17" presetID="22" presetClass="entr" presetSubtype="8"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6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childTnLst>
                          </p:cTn>
                        </p:par>
                        <p:par>
                          <p:cTn id="23" fill="hold">
                            <p:stCondLst>
                              <p:cond delay="560"/>
                            </p:stCondLst>
                            <p:childTnLst>
                              <p:par>
                                <p:cTn id="24" presetID="22" presetClass="entr" presetSubtype="8"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left)">
                                      <p:cBhvr>
                                        <p:cTn id="26" dur="600"/>
                                        <p:tgtEl>
                                          <p:spTgt spid="8"/>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600"/>
                                        <p:tgtEl>
                                          <p:spTgt spid="10"/>
                                        </p:tgtEl>
                                      </p:cBhvr>
                                    </p:animEffect>
                                  </p:childTnLst>
                                </p:cTn>
                              </p:par>
                            </p:childTnLst>
                          </p:cTn>
                        </p:par>
                        <p:par>
                          <p:cTn id="30" fill="hold">
                            <p:stCondLst>
                              <p:cond delay="840"/>
                            </p:stCondLst>
                            <p:childTnLst>
                              <p:par>
                                <p:cTn id="31" presetID="22" presetClass="entr" presetSubtype="8" fill="hold" grpId="0" nodeType="after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600"/>
                                        <p:tgtEl>
                                          <p:spTgt spid="9"/>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600"/>
                                        <p:tgtEl>
                                          <p:spTgt spid="11"/>
                                        </p:tgtEl>
                                      </p:cBhvr>
                                    </p:animEffect>
                                  </p:childTnLst>
                                </p:cTn>
                              </p:par>
                            </p:childTnLst>
                          </p:cTn>
                        </p:par>
                        <p:par>
                          <p:cTn id="37" fill="hold">
                            <p:stCondLst>
                              <p:cond delay="112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6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wipe(left)">
                                      <p:cBhvr>
                                        <p:cTn id="65" dur="600"/>
                                        <p:tgtEl>
                                          <p:spTgt spid="1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nodeType="click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wipe(left)">
                                      <p:cBhvr>
                                        <p:cTn id="76" dur="600"/>
                                        <p:tgtEl>
                                          <p:spTgt spid="2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Data integration</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One mapping, two ways to serve it, two sources</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mapping/</a:t>
            </a:r>
            <a:endParaRPr lang="en-US" sz="1300" dirty="0"/>
          </a:p>
        </p:txBody>
      </p:sp>
      <p:sp>
        <p:nvSpPr>
          <p:cNvPr id="5" name="a1_col0"/>
          <p:cNvSpPr/>
          <p:nvPr/>
        </p:nvSpPr>
        <p:spPr>
          <a:xfrm>
            <a:off x="548640" y="1600200"/>
            <a:ext cx="3538728" cy="3246120"/>
          </a:xfrm>
          <a:prstGeom prst="roundRect">
            <a:avLst>
              <a:gd name="adj" fmla="val 39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6" name="a3_col1"/>
          <p:cNvSpPr/>
          <p:nvPr/>
        </p:nvSpPr>
        <p:spPr>
          <a:xfrm>
            <a:off x="4325112" y="1600200"/>
            <a:ext cx="3538728" cy="3246120"/>
          </a:xfrm>
          <a:prstGeom prst="roundRect">
            <a:avLst>
              <a:gd name="adj" fmla="val 39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8" name="a1_b0_c"/>
          <p:cNvSpPr/>
          <p:nvPr/>
        </p:nvSpPr>
        <p:spPr>
          <a:xfrm>
            <a:off x="777240" y="1773936"/>
            <a:ext cx="548640" cy="548640"/>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9" name="a1_b0_i" descr="preencoded.png"/>
          <p:cNvPicPr>
            <a:picLocks noChangeAspect="1"/>
          </p:cNvPicPr>
          <p:nvPr/>
        </p:nvPicPr>
        <p:blipFill>
          <a:blip r:embed="rId3"/>
          <a:stretch>
            <a:fillRect/>
          </a:stretch>
        </p:blipFill>
        <p:spPr>
          <a:xfrm>
            <a:off x="914400" y="1911096"/>
            <a:ext cx="274320" cy="274320"/>
          </a:xfrm>
          <a:prstGeom prst="rect">
            <a:avLst/>
          </a:prstGeom>
        </p:spPr>
      </p:pic>
      <p:sp>
        <p:nvSpPr>
          <p:cNvPr id="10" name="a1_h0"/>
          <p:cNvSpPr txBox="1"/>
          <p:nvPr/>
        </p:nvSpPr>
        <p:spPr>
          <a:xfrm>
            <a:off x="1444752" y="1737360"/>
            <a:ext cx="2560320" cy="621792"/>
          </a:xfrm>
          <a:prstGeom prst="rect">
            <a:avLst/>
          </a:prstGeom>
          <a:noFill/>
          <a:ln/>
        </p:spPr>
        <p:txBody>
          <a:bodyPr wrap="square" lIns="0" tIns="0" rIns="0" bIns="0" rtlCol="0" anchor="ctr"/>
          <a:lstStyle/>
          <a:p>
            <a:pPr marL="0" indent="0">
              <a:buNone/>
            </a:pPr>
            <a:r>
              <a:rPr lang="en-US" sz="1600" b="1" dirty="0">
                <a:solidFill>
                  <a:schemeClr val="tx2"/>
                </a:solidFill>
              </a:rPr>
              <a:t>Mapping</a:t>
            </a:r>
            <a:endParaRPr lang="en-US" sz="1600" dirty="0"/>
          </a:p>
        </p:txBody>
      </p:sp>
      <p:sp>
        <p:nvSpPr>
          <p:cNvPr id="11" name="a2_m_n"/>
          <p:cNvSpPr txBox="1"/>
          <p:nvPr/>
        </p:nvSpPr>
        <p:spPr>
          <a:xfrm>
            <a:off x="777240" y="2514600"/>
            <a:ext cx="3108960" cy="594360"/>
          </a:xfrm>
          <a:prstGeom prst="rect">
            <a:avLst/>
          </a:prstGeom>
          <a:noFill/>
          <a:ln/>
        </p:spPr>
        <p:txBody>
          <a:bodyPr wrap="square" lIns="0" tIns="0" rIns="0" bIns="0" rtlCol="0" anchor="b"/>
          <a:lstStyle/>
          <a:p>
            <a:pPr marL="0" indent="0">
              <a:buNone/>
            </a:pPr>
            <a:r>
              <a:rPr lang="en-US" sz="4000" b="1" dirty="0">
                <a:solidFill>
                  <a:schemeClr val="accent1"/>
                </a:solidFill>
              </a:rPr>
              <a:t>9,359</a:t>
            </a:r>
            <a:endParaRPr lang="en-US" sz="4000" dirty="0"/>
          </a:p>
        </p:txBody>
      </p:sp>
      <p:sp>
        <p:nvSpPr>
          <p:cNvPr id="12" name="a2_m_l"/>
          <p:cNvSpPr txBox="1"/>
          <p:nvPr/>
        </p:nvSpPr>
        <p:spPr>
          <a:xfrm>
            <a:off x="777240" y="3154680"/>
            <a:ext cx="3108960" cy="411480"/>
          </a:xfrm>
          <a:prstGeom prst="rect">
            <a:avLst/>
          </a:prstGeom>
          <a:noFill/>
          <a:ln/>
        </p:spPr>
        <p:txBody>
          <a:bodyPr wrap="square" lIns="0" tIns="0" rIns="0" bIns="0" rtlCol="0" anchor="t"/>
          <a:lstStyle/>
          <a:p>
            <a:pPr marL="0" indent="0">
              <a:buNone/>
            </a:pPr>
            <a:r>
              <a:rPr lang="en-US" sz="1400" dirty="0">
                <a:solidFill>
                  <a:schemeClr val="accent5"/>
                </a:solidFill>
              </a:rPr>
              <a:t>triples from R2RML, one map per table</a:t>
            </a:r>
            <a:endParaRPr lang="en-US" sz="1400" dirty="0"/>
          </a:p>
        </p:txBody>
      </p:sp>
      <p:sp>
        <p:nvSpPr>
          <p:cNvPr id="13" name="a2_mi"/>
          <p:cNvSpPr txBox="1"/>
          <p:nvPr/>
        </p:nvSpPr>
        <p:spPr>
          <a:xfrm>
            <a:off x="777240" y="3703320"/>
            <a:ext cx="3108960" cy="731520"/>
          </a:xfrm>
          <a:prstGeom prst="rect">
            <a:avLst/>
          </a:prstGeom>
          <a:noFill/>
          <a:ln/>
        </p:spPr>
        <p:txBody>
          <a:bodyPr wrap="square" lIns="0" tIns="0" rIns="0" bIns="0" rtlCol="0" anchor="t"/>
          <a:lstStyle/>
          <a:p>
            <a:pPr marL="0" indent="0">
              <a:buNone/>
            </a:pPr>
            <a:r>
              <a:rPr lang="en-US" sz="1400" dirty="0">
                <a:solidFill>
                  <a:schemeClr val="tx2"/>
                </a:solidFill>
              </a:rPr>
              <a:t>IRIs: kind / source / key, e.g. food/usda/321358</a:t>
            </a:r>
            <a:endParaRPr lang="en-US" sz="1400" dirty="0"/>
          </a:p>
        </p:txBody>
      </p:sp>
      <p:sp>
        <p:nvSpPr>
          <p:cNvPr id="14" name="a3_b1_c"/>
          <p:cNvSpPr/>
          <p:nvPr/>
        </p:nvSpPr>
        <p:spPr>
          <a:xfrm>
            <a:off x="4553712" y="1773936"/>
            <a:ext cx="548640" cy="54864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5" name="a3_b1_i" descr="preencoded.png"/>
          <p:cNvPicPr>
            <a:picLocks noChangeAspect="1"/>
          </p:cNvPicPr>
          <p:nvPr/>
        </p:nvPicPr>
        <p:blipFill>
          <a:blip r:embed="rId4"/>
          <a:stretch>
            <a:fillRect/>
          </a:stretch>
        </p:blipFill>
        <p:spPr>
          <a:xfrm>
            <a:off x="4690872" y="1911096"/>
            <a:ext cx="274320" cy="274320"/>
          </a:xfrm>
          <a:prstGeom prst="rect">
            <a:avLst/>
          </a:prstGeom>
        </p:spPr>
      </p:pic>
      <p:sp>
        <p:nvSpPr>
          <p:cNvPr id="16" name="a3_h1"/>
          <p:cNvSpPr txBox="1"/>
          <p:nvPr/>
        </p:nvSpPr>
        <p:spPr>
          <a:xfrm>
            <a:off x="5221224" y="1737360"/>
            <a:ext cx="2606040" cy="621792"/>
          </a:xfrm>
          <a:prstGeom prst="rect">
            <a:avLst/>
          </a:prstGeom>
          <a:noFill/>
          <a:ln/>
        </p:spPr>
        <p:txBody>
          <a:bodyPr wrap="square" lIns="0" tIns="0" rIns="0" bIns="0" rtlCol="0" anchor="ctr"/>
          <a:lstStyle/>
          <a:p>
            <a:pPr marL="0" indent="0">
              <a:buNone/>
            </a:pPr>
            <a:r>
              <a:rPr lang="en-US" sz="1600" b="1" dirty="0">
                <a:solidFill>
                  <a:schemeClr val="tx2"/>
                </a:solidFill>
              </a:rPr>
              <a:t>Materialized or virtual?</a:t>
            </a:r>
            <a:endParaRPr lang="en-US" sz="1600" dirty="0"/>
          </a:p>
        </p:txBody>
      </p:sp>
      <p:graphicFrame>
        <p:nvGraphicFramePr>
          <p:cNvPr id="17" name="a4_tbl"/>
          <p:cNvGraphicFramePr>
            <a:graphicFrameLocks noGrp="1"/>
          </p:cNvGraphicFramePr>
          <p:nvPr>
            <p:extLst>
              <p:ext uri="{D42A27DB-BD31-4B8C-83A1-F6EECF244321}">
                <p14:modId xmlns:p14="http://schemas.microsoft.com/office/powerpoint/2010/main" val="1579011935"/>
              </p:ext>
            </p:extLst>
          </p:nvPr>
        </p:nvGraphicFramePr>
        <p:xfrm>
          <a:off x="4553712" y="2514600"/>
          <a:ext cx="3108960" cy="1536192"/>
        </p:xfrm>
        <a:graphic>
          <a:graphicData uri="http://schemas.openxmlformats.org/drawingml/2006/table">
            <a:tbl>
              <a:tblPr/>
              <a:tblGrid>
                <a:gridCol w="12801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tc>
                  <a:txBody>
                    <a:bodyPr/>
                    <a:lstStyle/>
                    <a:p>
                      <a:pPr marL="0" indent="0">
                        <a:buNone/>
                      </a:pPr>
                      <a:r>
                        <a:rPr lang="en-US" sz="1400" b="1" dirty="0">
                          <a:solidFill>
                            <a:srgbClr val="1F4D3A"/>
                          </a:solidFill>
                        </a:rPr>
                        <a:t>Ours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tc>
                  <a:txBody>
                    <a:bodyPr/>
                    <a:lstStyle/>
                    <a:p>
                      <a:pPr marL="0" indent="0">
                        <a:buNone/>
                      </a:pPr>
                      <a:r>
                        <a:rPr lang="en-US" sz="1400" b="1" dirty="0">
                          <a:solidFill>
                            <a:srgbClr val="1F4D3A"/>
                          </a:solidFill>
                        </a:rPr>
                        <a:t>Ontop</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B2A22"/>
                          </a:solidFill>
                        </a:rPr>
                        <a:t>Food count</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358</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358</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B2A22"/>
                          </a:solidFill>
                        </a:rPr>
                        <a:t>Time</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0.006 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3.13 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B2A22"/>
                          </a:solidFill>
                        </a:rPr>
                        <a:t>Answers CQ6</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yes</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tc>
                  <a:txBody>
                    <a:bodyPr/>
                    <a:lstStyle/>
                    <a:p>
                      <a:pPr marL="0" indent="0">
                        <a:buNone/>
                      </a:pPr>
                      <a:r>
                        <a:rPr lang="en-US" sz="1400" dirty="0">
                          <a:solidFill>
                            <a:srgbClr val="1B2A22"/>
                          </a:solidFill>
                        </a:rPr>
                        <a:t>no</a:t>
                      </a:r>
                      <a:endParaRPr lang="en-US" sz="1400" dirty="0"/>
                    </a:p>
                  </a:txBody>
                  <a:tcPr anchor="ctr">
                    <a:lnL w="9525" cap="flat" cmpd="sng" algn="ctr">
                      <a:solidFill>
                        <a:srgbClr val="C9D8CD"/>
                      </a:solidFill>
                      <a:prstDash val="solid"/>
                      <a:round/>
                      <a:headEnd type="none" w="med" len="med"/>
                      <a:tailEnd type="none" w="med" len="med"/>
                    </a:lnL>
                    <a:lnR w="9525" cap="flat" cmpd="sng" algn="ctr">
                      <a:solidFill>
                        <a:srgbClr val="C9D8CD"/>
                      </a:solidFill>
                      <a:prstDash val="solid"/>
                      <a:round/>
                      <a:headEnd type="none" w="med" len="med"/>
                      <a:tailEnd type="none" w="med" len="med"/>
                    </a:lnR>
                    <a:lnT w="9525" cap="flat" cmpd="sng" algn="ctr">
                      <a:solidFill>
                        <a:srgbClr val="C9D8CD"/>
                      </a:solidFill>
                      <a:prstDash val="solid"/>
                      <a:round/>
                      <a:headEnd type="none" w="med" len="med"/>
                      <a:tailEnd type="none" w="med" len="med"/>
                    </a:lnT>
                    <a:lnB w="9525" cap="flat" cmpd="sng" algn="ctr">
                      <a:solidFill>
                        <a:srgbClr val="C9D8C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8" name="a4_tn"/>
          <p:cNvSpPr txBox="1"/>
          <p:nvPr/>
        </p:nvSpPr>
        <p:spPr>
          <a:xfrm>
            <a:off x="4553712" y="4160520"/>
            <a:ext cx="3108960" cy="365760"/>
          </a:xfrm>
          <a:prstGeom prst="rect">
            <a:avLst/>
          </a:prstGeom>
          <a:noFill/>
          <a:ln/>
        </p:spPr>
        <p:txBody>
          <a:bodyPr wrap="square" lIns="0" tIns="0" rIns="0" bIns="0" rtlCol="0" anchor="t"/>
          <a:lstStyle/>
          <a:p>
            <a:pPr marL="0" indent="0">
              <a:buNone/>
            </a:pPr>
            <a:r>
              <a:rPr lang="en-US" sz="1300" dirty="0">
                <a:solidFill>
                  <a:schemeClr val="accent5"/>
                </a:solidFill>
              </a:rPr>
              <a:t>* includes the Java start</a:t>
            </a:r>
            <a:endParaRPr lang="en-US" sz="1300" dirty="0"/>
          </a:p>
        </p:txBody>
      </p:sp>
      <p:sp>
        <p:nvSpPr>
          <p:cNvPr id="22" name="a6_p_n"/>
          <p:cNvSpPr txBox="1"/>
          <p:nvPr/>
        </p:nvSpPr>
        <p:spPr>
          <a:xfrm>
            <a:off x="8330184" y="2514600"/>
            <a:ext cx="1463040" cy="594360"/>
          </a:xfrm>
          <a:prstGeom prst="rect">
            <a:avLst/>
          </a:prstGeom>
          <a:noFill/>
          <a:ln/>
        </p:spPr>
        <p:txBody>
          <a:bodyPr wrap="square" lIns="0" tIns="0" rIns="0" bIns="0" rtlCol="0" anchor="b"/>
          <a:lstStyle/>
          <a:p>
            <a:pPr marL="0" indent="0">
              <a:buNone/>
            </a:pPr>
            <a:endParaRPr lang="en-US" sz="3400" dirty="0"/>
          </a:p>
        </p:txBody>
      </p:sp>
      <p:sp>
        <p:nvSpPr>
          <p:cNvPr id="23" name="a6_p_l"/>
          <p:cNvSpPr txBox="1"/>
          <p:nvPr/>
        </p:nvSpPr>
        <p:spPr>
          <a:xfrm>
            <a:off x="8330184" y="3154680"/>
            <a:ext cx="1463040" cy="411480"/>
          </a:xfrm>
          <a:prstGeom prst="rect">
            <a:avLst/>
          </a:prstGeom>
          <a:noFill/>
          <a:ln/>
        </p:spPr>
        <p:txBody>
          <a:bodyPr wrap="square" lIns="0" tIns="0" rIns="0" bIns="0" rtlCol="0" anchor="t"/>
          <a:lstStyle/>
          <a:p>
            <a:pPr marL="0" indent="0">
              <a:buNone/>
            </a:pPr>
            <a:endParaRPr lang="en-US" sz="1400" dirty="0"/>
          </a:p>
        </p:txBody>
      </p:sp>
      <p:sp>
        <p:nvSpPr>
          <p:cNvPr id="24" name="a6_r_n"/>
          <p:cNvSpPr txBox="1"/>
          <p:nvPr/>
        </p:nvSpPr>
        <p:spPr>
          <a:xfrm>
            <a:off x="9884664" y="2514600"/>
            <a:ext cx="1463040" cy="594360"/>
          </a:xfrm>
          <a:prstGeom prst="rect">
            <a:avLst/>
          </a:prstGeom>
          <a:noFill/>
          <a:ln/>
        </p:spPr>
        <p:txBody>
          <a:bodyPr wrap="square" lIns="0" tIns="0" rIns="0" bIns="0" rtlCol="0" anchor="b"/>
          <a:lstStyle/>
          <a:p>
            <a:pPr marL="0" indent="0">
              <a:buNone/>
            </a:pPr>
            <a:endParaRPr lang="en-US" sz="3400" dirty="0"/>
          </a:p>
        </p:txBody>
      </p:sp>
      <p:sp>
        <p:nvSpPr>
          <p:cNvPr id="25" name="a6_r_l"/>
          <p:cNvSpPr txBox="1"/>
          <p:nvPr/>
        </p:nvSpPr>
        <p:spPr>
          <a:xfrm>
            <a:off x="9884664" y="3154680"/>
            <a:ext cx="1463040" cy="411480"/>
          </a:xfrm>
          <a:prstGeom prst="rect">
            <a:avLst/>
          </a:prstGeom>
          <a:noFill/>
          <a:ln/>
        </p:spPr>
        <p:txBody>
          <a:bodyPr wrap="square" lIns="0" tIns="0" rIns="0" bIns="0" rtlCol="0" anchor="t"/>
          <a:lstStyle/>
          <a:p>
            <a:pPr marL="0" indent="0">
              <a:buNone/>
            </a:pPr>
            <a:endParaRPr lang="en-US" sz="1400" dirty="0"/>
          </a:p>
        </p:txBody>
      </p:sp>
      <p:sp>
        <p:nvSpPr>
          <p:cNvPr id="26" name="a6_rt"/>
          <p:cNvSpPr txBox="1"/>
          <p:nvPr/>
        </p:nvSpPr>
        <p:spPr>
          <a:xfrm>
            <a:off x="8330184" y="3703320"/>
            <a:ext cx="3108960" cy="731520"/>
          </a:xfrm>
          <a:prstGeom prst="rect">
            <a:avLst/>
          </a:prstGeom>
          <a:noFill/>
          <a:ln/>
        </p:spPr>
        <p:txBody>
          <a:bodyPr wrap="square" lIns="0" tIns="0" rIns="0" bIns="0" rtlCol="0" anchor="t"/>
          <a:lstStyle/>
          <a:p>
            <a:pPr marL="0" indent="0">
              <a:buNone/>
            </a:pPr>
            <a:endParaRPr lang="en-US" sz="1400" dirty="0"/>
          </a:p>
        </p:txBody>
      </p:sp>
      <p:pic>
        <p:nvPicPr>
          <p:cNvPr id="27" name="a7_desc_bg" descr="preencoded.png"/>
          <p:cNvPicPr>
            <a:picLocks noChangeAspect="1"/>
          </p:cNvPicPr>
          <p:nvPr/>
        </p:nvPicPr>
        <p:blipFill>
          <a:blip r:embed="rId5"/>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28" name="a7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We use </a:t>
            </a:r>
            <a:r>
              <a:rPr lang="en-US" sz="1400" b="1" dirty="0">
                <a:solidFill>
                  <a:schemeClr val="bg1"/>
                </a:solidFill>
              </a:rPr>
              <a:t>R2RML mapping</a:t>
            </a:r>
            <a:r>
              <a:rPr lang="en-US" sz="1400" dirty="0">
                <a:solidFill>
                  <a:schemeClr val="bg1"/>
                </a:solidFill>
              </a:rPr>
              <a:t> to convert four tables into </a:t>
            </a:r>
            <a:r>
              <a:rPr lang="en-US" sz="1400" b="1" dirty="0">
                <a:solidFill>
                  <a:schemeClr val="bg1"/>
                </a:solidFill>
              </a:rPr>
              <a:t>9,359 RDF triples describing 358 foods</a:t>
            </a:r>
            <a:r>
              <a:rPr lang="en-US" sz="1400" dirty="0">
                <a:solidFill>
                  <a:schemeClr val="bg1"/>
                </a:solidFill>
              </a:rPr>
              <a:t>. There are two approaches: </a:t>
            </a:r>
            <a:r>
              <a:rPr lang="en-US" sz="1400" b="1" dirty="0">
                <a:solidFill>
                  <a:schemeClr val="bg1"/>
                </a:solidFill>
              </a:rPr>
              <a:t>materialized</a:t>
            </a:r>
            <a:r>
              <a:rPr lang="en-US" sz="1400" dirty="0">
                <a:solidFill>
                  <a:schemeClr val="bg1"/>
                </a:solidFill>
              </a:rPr>
              <a:t>, which generates and stores the graph before querying, and </a:t>
            </a:r>
            <a:r>
              <a:rPr lang="en-US" sz="1400" b="1" dirty="0">
                <a:solidFill>
                  <a:schemeClr val="bg1"/>
                </a:solidFill>
              </a:rPr>
              <a:t>virtual</a:t>
            </a:r>
            <a:r>
              <a:rPr lang="en-US" sz="1400" dirty="0">
                <a:solidFill>
                  <a:schemeClr val="bg1"/>
                </a:solidFill>
              </a:rPr>
              <a:t>, where </a:t>
            </a:r>
            <a:r>
              <a:rPr lang="en-US" sz="1400" dirty="0" err="1">
                <a:solidFill>
                  <a:schemeClr val="bg1"/>
                </a:solidFill>
              </a:rPr>
              <a:t>Ontop</a:t>
            </a:r>
            <a:r>
              <a:rPr lang="en-US" sz="1400" dirty="0">
                <a:solidFill>
                  <a:schemeClr val="bg1"/>
                </a:solidFill>
              </a:rPr>
              <a:t> translates SPARQL into SQL to query the database directly. </a:t>
            </a:r>
            <a:r>
              <a:rPr lang="en-US" sz="1400" b="1" dirty="0">
                <a:solidFill>
                  <a:schemeClr val="bg1"/>
                </a:solidFill>
              </a:rPr>
              <a:t>We follow the materialized approach</a:t>
            </a:r>
            <a:r>
              <a:rPr lang="en-US" sz="1400" dirty="0">
                <a:solidFill>
                  <a:schemeClr val="bg1"/>
                </a:solidFill>
              </a:rPr>
              <a:t> because it supports our required queries and performed faster .</a:t>
            </a:r>
          </a:p>
        </p:txBody>
      </p:sp>
      <p:sp>
        <p:nvSpPr>
          <p:cNvPr id="29"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childTnLst>
                          </p:cTn>
                        </p:par>
                        <p:par>
                          <p:cTn id="25" fill="hold">
                            <p:stCondLst>
                              <p:cond delay="280"/>
                            </p:stCondLst>
                            <p:childTnLst>
                              <p:par>
                                <p:cTn id="26" presetID="10" presetClass="entr" presetSubtype="0" fill="hold" grpId="0" nodeType="after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animEffect transition="in" filter="wipe(left)">
                                      <p:cBhvr>
                                        <p:cTn id="39" dur="600"/>
                                        <p:tgtEl>
                                          <p:spTgt spid="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childTnLst>
                          </p:cTn>
                        </p:par>
                        <p:par>
                          <p:cTn id="49" fill="hold">
                            <p:stCondLst>
                              <p:cond delay="60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6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par>
                          <p:cTn id="56" fill="hold">
                            <p:stCondLst>
                              <p:cond delay="1200"/>
                            </p:stCondLst>
                            <p:childTnLst>
                              <p:par>
                                <p:cTn id="57" presetID="10" presetClass="entr" presetSubtype="0" fill="hold" grpId="0" nodeType="after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50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500"/>
                                        <p:tgtEl>
                                          <p:spTgt spid="2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500"/>
                                        <p:tgtEl>
                                          <p:spTgt spid="2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500"/>
                                        <p:tgtEl>
                                          <p:spTgt spid="25"/>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500"/>
                                        <p:tgtEl>
                                          <p:spTgt spid="26"/>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nodeType="click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wipe(left)">
                                      <p:cBhvr>
                                        <p:cTn id="76" dur="60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P spid="10" grpId="0" animBg="1"/>
      <p:bldP spid="11" grpId="0" animBg="1"/>
      <p:bldP spid="12" grpId="0" animBg="1"/>
      <p:bldP spid="13" grpId="0" animBg="1"/>
      <p:bldP spid="14" grpId="0" animBg="1"/>
      <p:bldP spid="16" grpId="0" animBg="1"/>
      <p:bldGraphic spid="17" grpId="0">
        <p:bldAsOne/>
      </p:bldGraphic>
      <p:bldP spid="18" grpId="0" animBg="1"/>
      <p:bldP spid="22" grpId="0" animBg="1"/>
      <p:bldP spid="23" grpId="0" animBg="1"/>
      <p:bldP spid="24" grpId="0" animBg="1"/>
      <p:bldP spid="25" grpId="0" animBg="1"/>
      <p:bldP spid="26" grpId="0" animBg="1"/>
      <p:bldP spid="2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Learning over the graph</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Honest numbers: the baseline is hard to beat</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model/</a:t>
            </a:r>
            <a:endParaRPr lang="en-US" sz="1300" dirty="0"/>
          </a:p>
        </p:txBody>
      </p:sp>
      <p:graphicFrame>
        <p:nvGraphicFramePr>
          <p:cNvPr id="5" name="a1_chart"/>
          <p:cNvGraphicFramePr/>
          <p:nvPr/>
        </p:nvGraphicFramePr>
        <p:xfrm>
          <a:off x="548640" y="1554480"/>
          <a:ext cx="65836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6" name="a2_sp"/>
          <p:cNvSpPr/>
          <p:nvPr/>
        </p:nvSpPr>
        <p:spPr>
          <a:xfrm>
            <a:off x="7406640" y="1645920"/>
            <a:ext cx="4233672" cy="1463040"/>
          </a:xfrm>
          <a:prstGeom prst="roundRect">
            <a:avLst>
              <a:gd name="adj" fmla="val 8750"/>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7" name="a2_sph"/>
          <p:cNvSpPr txBox="1"/>
          <p:nvPr/>
        </p:nvSpPr>
        <p:spPr>
          <a:xfrm>
            <a:off x="7635240" y="1737360"/>
            <a:ext cx="3840480" cy="347472"/>
          </a:xfrm>
          <a:prstGeom prst="rect">
            <a:avLst/>
          </a:prstGeom>
          <a:noFill/>
          <a:ln/>
        </p:spPr>
        <p:txBody>
          <a:bodyPr wrap="square" lIns="0" tIns="0" rIns="0" bIns="0" rtlCol="0" anchor="t"/>
          <a:lstStyle/>
          <a:p>
            <a:pPr marL="0" indent="0">
              <a:buNone/>
            </a:pPr>
            <a:r>
              <a:rPr lang="en-US" sz="1700" b="1" dirty="0">
                <a:solidFill>
                  <a:schemeClr val="accent1"/>
                </a:solidFill>
              </a:rPr>
              <a:t>Split by category</a:t>
            </a:r>
            <a:endParaRPr lang="en-US" sz="1700" dirty="0"/>
          </a:p>
        </p:txBody>
      </p:sp>
      <p:sp>
        <p:nvSpPr>
          <p:cNvPr id="8" name="a2_spt"/>
          <p:cNvSpPr txBox="1"/>
          <p:nvPr/>
        </p:nvSpPr>
        <p:spPr>
          <a:xfrm>
            <a:off x="7635240" y="2121408"/>
            <a:ext cx="3840480" cy="914400"/>
          </a:xfrm>
          <a:prstGeom prst="rect">
            <a:avLst/>
          </a:prstGeom>
          <a:noFill/>
          <a:ln/>
        </p:spPr>
        <p:txBody>
          <a:bodyPr wrap="square" lIns="0" tIns="0" rIns="0" bIns="0" rtlCol="0" anchor="t"/>
          <a:lstStyle/>
          <a:p>
            <a:pPr marL="0" indent="0">
              <a:buNone/>
            </a:pPr>
            <a:r>
              <a:rPr lang="en-US" sz="1400" dirty="0">
                <a:solidFill>
                  <a:schemeClr val="tx2"/>
                </a:solidFill>
              </a:rPr>
              <a:t>No category on both sides. Guessing scores 0.158. Seed 2 has no high-fat food to test.</a:t>
            </a:r>
            <a:endParaRPr lang="en-US" sz="1400" dirty="0"/>
          </a:p>
        </p:txBody>
      </p:sp>
      <p:sp>
        <p:nvSpPr>
          <p:cNvPr id="9" name="a3_lp"/>
          <p:cNvSpPr/>
          <p:nvPr/>
        </p:nvSpPr>
        <p:spPr>
          <a:xfrm>
            <a:off x="7406640" y="3291840"/>
            <a:ext cx="4233672" cy="1554480"/>
          </a:xfrm>
          <a:prstGeom prst="roundRect">
            <a:avLst>
              <a:gd name="adj" fmla="val 8235"/>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0" name="a3_lph"/>
          <p:cNvSpPr txBox="1"/>
          <p:nvPr/>
        </p:nvSpPr>
        <p:spPr>
          <a:xfrm>
            <a:off x="7635240" y="3383280"/>
            <a:ext cx="3840480" cy="347472"/>
          </a:xfrm>
          <a:prstGeom prst="rect">
            <a:avLst/>
          </a:prstGeom>
          <a:noFill/>
          <a:ln/>
        </p:spPr>
        <p:txBody>
          <a:bodyPr wrap="square" lIns="0" tIns="0" rIns="0" bIns="0" rtlCol="0" anchor="t"/>
          <a:lstStyle/>
          <a:p>
            <a:pPr marL="0" indent="0">
              <a:buNone/>
            </a:pPr>
            <a:r>
              <a:rPr lang="en-US" sz="1700" b="1" dirty="0">
                <a:solidFill>
                  <a:schemeClr val="accent1"/>
                </a:solidFill>
              </a:rPr>
              <a:t>Link prediction (MRR)</a:t>
            </a:r>
            <a:endParaRPr lang="en-US" sz="1700" dirty="0"/>
          </a:p>
        </p:txBody>
      </p:sp>
      <p:sp>
        <p:nvSpPr>
          <p:cNvPr id="11" name="a4_l1_n"/>
          <p:cNvSpPr txBox="1"/>
          <p:nvPr/>
        </p:nvSpPr>
        <p:spPr>
          <a:xfrm>
            <a:off x="7635240" y="3611880"/>
            <a:ext cx="1828800" cy="594360"/>
          </a:xfrm>
          <a:prstGeom prst="rect">
            <a:avLst/>
          </a:prstGeom>
          <a:noFill/>
          <a:ln/>
        </p:spPr>
        <p:txBody>
          <a:bodyPr wrap="square" lIns="0" tIns="0" rIns="0" bIns="0" rtlCol="0" anchor="b"/>
          <a:lstStyle/>
          <a:p>
            <a:pPr marL="0" indent="0">
              <a:buNone/>
            </a:pPr>
            <a:r>
              <a:rPr lang="en-US" sz="3200" b="1" dirty="0">
                <a:solidFill>
                  <a:schemeClr val="accent5"/>
                </a:solidFill>
              </a:rPr>
              <a:t>0.339</a:t>
            </a:r>
            <a:endParaRPr lang="en-US" sz="3200" dirty="0"/>
          </a:p>
        </p:txBody>
      </p:sp>
      <p:sp>
        <p:nvSpPr>
          <p:cNvPr id="12" name="a4_l1_l"/>
          <p:cNvSpPr txBox="1"/>
          <p:nvPr/>
        </p:nvSpPr>
        <p:spPr>
          <a:xfrm>
            <a:off x="7635240" y="4251960"/>
            <a:ext cx="1828800" cy="411480"/>
          </a:xfrm>
          <a:prstGeom prst="rect">
            <a:avLst/>
          </a:prstGeom>
          <a:noFill/>
          <a:ln/>
        </p:spPr>
        <p:txBody>
          <a:bodyPr wrap="square" lIns="0" tIns="0" rIns="0" bIns="0" rtlCol="0" anchor="t"/>
          <a:lstStyle/>
          <a:p>
            <a:pPr marL="0" indent="0">
              <a:buNone/>
            </a:pPr>
            <a:r>
              <a:rPr lang="en-US" sz="1400" dirty="0">
                <a:solidFill>
                  <a:schemeClr val="accent5"/>
                </a:solidFill>
              </a:rPr>
              <a:t>TransE</a:t>
            </a:r>
            <a:endParaRPr lang="en-US" sz="1400" dirty="0"/>
          </a:p>
        </p:txBody>
      </p:sp>
      <p:sp>
        <p:nvSpPr>
          <p:cNvPr id="13" name="a4_l2_n"/>
          <p:cNvSpPr txBox="1"/>
          <p:nvPr/>
        </p:nvSpPr>
        <p:spPr>
          <a:xfrm>
            <a:off x="9601200" y="3611880"/>
            <a:ext cx="1828800" cy="594360"/>
          </a:xfrm>
          <a:prstGeom prst="rect">
            <a:avLst/>
          </a:prstGeom>
          <a:noFill/>
          <a:ln/>
        </p:spPr>
        <p:txBody>
          <a:bodyPr wrap="square" lIns="0" tIns="0" rIns="0" bIns="0" rtlCol="0" anchor="b"/>
          <a:lstStyle/>
          <a:p>
            <a:pPr marL="0" indent="0">
              <a:buNone/>
            </a:pPr>
            <a:r>
              <a:rPr lang="en-US" sz="3200" b="1" dirty="0">
                <a:solidFill>
                  <a:schemeClr val="accent2"/>
                </a:solidFill>
              </a:rPr>
              <a:t>0.448</a:t>
            </a:r>
            <a:endParaRPr lang="en-US" sz="3200" dirty="0"/>
          </a:p>
        </p:txBody>
      </p:sp>
      <p:sp>
        <p:nvSpPr>
          <p:cNvPr id="14" name="a4_l2_l"/>
          <p:cNvSpPr txBox="1"/>
          <p:nvPr/>
        </p:nvSpPr>
        <p:spPr>
          <a:xfrm>
            <a:off x="9601200" y="4251960"/>
            <a:ext cx="1828800" cy="411480"/>
          </a:xfrm>
          <a:prstGeom prst="rect">
            <a:avLst/>
          </a:prstGeom>
          <a:noFill/>
          <a:ln/>
        </p:spPr>
        <p:txBody>
          <a:bodyPr wrap="square" lIns="0" tIns="0" rIns="0" bIns="0" rtlCol="0" anchor="t"/>
          <a:lstStyle/>
          <a:p>
            <a:pPr marL="0" indent="0">
              <a:buNone/>
            </a:pPr>
            <a:r>
              <a:rPr lang="en-US" sz="1400" dirty="0">
                <a:solidFill>
                  <a:schemeClr val="accent5"/>
                </a:solidFill>
              </a:rPr>
              <a:t>popularity count</a:t>
            </a:r>
            <a:endParaRPr lang="en-US" sz="1400" dirty="0"/>
          </a:p>
        </p:txBody>
      </p:sp>
      <p:pic>
        <p:nvPicPr>
          <p:cNvPr id="15" name="a5_desc_bg" descr="preencoded.png"/>
          <p:cNvPicPr>
            <a:picLocks noChangeAspect="1"/>
          </p:cNvPicPr>
          <p:nvPr/>
        </p:nvPicPr>
        <p:blipFill>
          <a:blip r:embed="rId4"/>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16" name="a5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We ran three experiments: </a:t>
            </a:r>
            <a:r>
              <a:rPr lang="en-US" sz="1400" b="1" dirty="0">
                <a:solidFill>
                  <a:schemeClr val="bg1"/>
                </a:solidFill>
              </a:rPr>
              <a:t>logistic regression</a:t>
            </a:r>
            <a:r>
              <a:rPr lang="en-US" sz="1400" dirty="0">
                <a:solidFill>
                  <a:schemeClr val="bg1"/>
                </a:solidFill>
              </a:rPr>
              <a:t>, a simple model that predicts whether a food is high in fat from its nutrient information; </a:t>
            </a:r>
            <a:r>
              <a:rPr lang="en-US" sz="1400" b="1" dirty="0" err="1">
                <a:solidFill>
                  <a:schemeClr val="bg1"/>
                </a:solidFill>
              </a:rPr>
              <a:t>GraphSAGE</a:t>
            </a:r>
            <a:r>
              <a:rPr lang="en-US" sz="1400" dirty="0">
                <a:solidFill>
                  <a:schemeClr val="bg1"/>
                </a:solidFill>
              </a:rPr>
              <a:t>, which uses food features and graph connections for the same prediction; and </a:t>
            </a:r>
            <a:r>
              <a:rPr lang="en-US" sz="1400" b="1" dirty="0">
                <a:solidFill>
                  <a:schemeClr val="bg1"/>
                </a:solidFill>
              </a:rPr>
              <a:t>TransE</a:t>
            </a:r>
            <a:r>
              <a:rPr lang="en-US" sz="1400" dirty="0">
                <a:solidFill>
                  <a:schemeClr val="bg1"/>
                </a:solidFill>
              </a:rPr>
              <a:t>, which predicts missing links between foods and categories. We hid fat amounts from the classification inputs and used separate categories for training and testing. </a:t>
            </a:r>
            <a:r>
              <a:rPr lang="en-US" sz="1400" dirty="0" err="1">
                <a:solidFill>
                  <a:schemeClr val="bg1"/>
                </a:solidFill>
              </a:rPr>
              <a:t>GraphSAGE</a:t>
            </a:r>
            <a:r>
              <a:rPr lang="en-US" sz="1400" dirty="0">
                <a:solidFill>
                  <a:schemeClr val="bg1"/>
                </a:solidFill>
              </a:rPr>
              <a:t> showed no consistent advantage over logistic regression, while TransE performed worse than a simple popularity-based method.</a:t>
            </a:r>
          </a:p>
        </p:txBody>
      </p:sp>
      <p:sp>
        <p:nvSpPr>
          <p:cNvPr id="17"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6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6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par>
                          <p:cTn id="35" fill="hold">
                            <p:stCondLst>
                              <p:cond delay="28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60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Graphic spid="5" grpId="0">
        <p:bldAsOne/>
      </p:bldGraphic>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Access layer</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Ask in English, get checked SPARQL, or a clear “no”</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access-layer/</a:t>
            </a:r>
            <a:endParaRPr lang="en-US" sz="1300" dirty="0"/>
          </a:p>
        </p:txBody>
      </p:sp>
      <p:sp>
        <p:nvSpPr>
          <p:cNvPr id="5" name="a1_f0_c"/>
          <p:cNvSpPr/>
          <p:nvPr/>
        </p:nvSpPr>
        <p:spPr>
          <a:xfrm>
            <a:off x="1156716" y="1600200"/>
            <a:ext cx="749808" cy="749808"/>
          </a:xfrm>
          <a:prstGeom prst="ellipse">
            <a:avLst/>
          </a:prstGeom>
          <a:solidFill>
            <a:schemeClr val="accent4"/>
          </a:solidFill>
          <a:ln/>
          <a:effectLst>
            <a:outerShdw blurRad="101600" dist="25400" dir="5400000" algn="bl" rotWithShape="0">
              <a:srgbClr val="1B2A22">
                <a:alpha val="18000"/>
              </a:srgbClr>
            </a:outerShdw>
          </a:effectLst>
        </p:spPr>
        <p:txBody>
          <a:bodyPr/>
          <a:lstStyle/>
          <a:p>
            <a:endParaRPr lang="en-US"/>
          </a:p>
        </p:txBody>
      </p:sp>
      <p:pic>
        <p:nvPicPr>
          <p:cNvPr id="6" name="a1_f0_i" descr="preencoded.png"/>
          <p:cNvPicPr>
            <a:picLocks noChangeAspect="1"/>
          </p:cNvPicPr>
          <p:nvPr/>
        </p:nvPicPr>
        <p:blipFill>
          <a:blip r:embed="rId3"/>
          <a:stretch>
            <a:fillRect/>
          </a:stretch>
        </p:blipFill>
        <p:spPr>
          <a:xfrm>
            <a:off x="1344168" y="1787652"/>
            <a:ext cx="374904" cy="374904"/>
          </a:xfrm>
          <a:prstGeom prst="rect">
            <a:avLst/>
          </a:prstGeom>
        </p:spPr>
      </p:pic>
      <p:sp>
        <p:nvSpPr>
          <p:cNvPr id="7" name="a1_fl0"/>
          <p:cNvSpPr txBox="1"/>
          <p:nvPr/>
        </p:nvSpPr>
        <p:spPr>
          <a:xfrm>
            <a:off x="548640"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Question</a:t>
            </a:r>
            <a:endParaRPr lang="en-US" sz="1700" dirty="0"/>
          </a:p>
        </p:txBody>
      </p:sp>
      <p:sp>
        <p:nvSpPr>
          <p:cNvPr id="8" name="a1_fd0"/>
          <p:cNvSpPr txBox="1"/>
          <p:nvPr/>
        </p:nvSpPr>
        <p:spPr>
          <a:xfrm>
            <a:off x="548640"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in plain English</a:t>
            </a:r>
            <a:endParaRPr lang="en-US" sz="1400" dirty="0"/>
          </a:p>
        </p:txBody>
      </p:sp>
      <p:sp>
        <p:nvSpPr>
          <p:cNvPr id="9" name="a2_fa0"/>
          <p:cNvSpPr/>
          <p:nvPr/>
        </p:nvSpPr>
        <p:spPr>
          <a:xfrm>
            <a:off x="2011680" y="1975104"/>
            <a:ext cx="1344168" cy="0"/>
          </a:xfrm>
          <a:prstGeom prst="line">
            <a:avLst/>
          </a:prstGeom>
          <a:noFill/>
          <a:ln w="25400">
            <a:solidFill>
              <a:schemeClr val="accent5"/>
            </a:solidFill>
            <a:prstDash val="solid"/>
            <a:tailEnd type="triangle"/>
          </a:ln>
        </p:spPr>
        <p:txBody>
          <a:bodyPr/>
          <a:lstStyle/>
          <a:p>
            <a:endParaRPr lang="en-US"/>
          </a:p>
        </p:txBody>
      </p:sp>
      <p:sp>
        <p:nvSpPr>
          <p:cNvPr id="10" name="a2_f1_c"/>
          <p:cNvSpPr/>
          <p:nvPr/>
        </p:nvSpPr>
        <p:spPr>
          <a:xfrm>
            <a:off x="3438144" y="1600200"/>
            <a:ext cx="749808" cy="749808"/>
          </a:xfrm>
          <a:prstGeom prst="ellipse">
            <a:avLst/>
          </a:prstGeom>
          <a:solidFill>
            <a:schemeClr val="accent2"/>
          </a:solidFill>
          <a:ln/>
          <a:effectLst>
            <a:outerShdw blurRad="101600" dist="25400" dir="5400000" algn="bl" rotWithShape="0">
              <a:srgbClr val="1B2A22">
                <a:alpha val="18000"/>
              </a:srgbClr>
            </a:outerShdw>
          </a:effectLst>
        </p:spPr>
        <p:txBody>
          <a:bodyPr/>
          <a:lstStyle/>
          <a:p>
            <a:endParaRPr lang="en-US"/>
          </a:p>
        </p:txBody>
      </p:sp>
      <p:pic>
        <p:nvPicPr>
          <p:cNvPr id="11" name="a2_f1_i" descr="preencoded.png"/>
          <p:cNvPicPr>
            <a:picLocks noChangeAspect="1"/>
          </p:cNvPicPr>
          <p:nvPr/>
        </p:nvPicPr>
        <p:blipFill>
          <a:blip r:embed="rId4"/>
          <a:stretch>
            <a:fillRect/>
          </a:stretch>
        </p:blipFill>
        <p:spPr>
          <a:xfrm>
            <a:off x="3625596" y="1787652"/>
            <a:ext cx="374904" cy="374904"/>
          </a:xfrm>
          <a:prstGeom prst="rect">
            <a:avLst/>
          </a:prstGeom>
        </p:spPr>
      </p:pic>
      <p:sp>
        <p:nvSpPr>
          <p:cNvPr id="12" name="a2_fl1"/>
          <p:cNvSpPr txBox="1"/>
          <p:nvPr/>
        </p:nvSpPr>
        <p:spPr>
          <a:xfrm>
            <a:off x="2830068"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Prompt</a:t>
            </a:r>
            <a:endParaRPr lang="en-US" sz="1700" dirty="0"/>
          </a:p>
        </p:txBody>
      </p:sp>
      <p:sp>
        <p:nvSpPr>
          <p:cNvPr id="13" name="a2_fd1"/>
          <p:cNvSpPr txBox="1"/>
          <p:nvPr/>
        </p:nvSpPr>
        <p:spPr>
          <a:xfrm>
            <a:off x="2830068"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VoID, rules, 3 examples</a:t>
            </a:r>
            <a:endParaRPr lang="en-US" sz="1400" dirty="0"/>
          </a:p>
        </p:txBody>
      </p:sp>
      <p:sp>
        <p:nvSpPr>
          <p:cNvPr id="14" name="a3_fa1"/>
          <p:cNvSpPr/>
          <p:nvPr/>
        </p:nvSpPr>
        <p:spPr>
          <a:xfrm>
            <a:off x="4293108" y="1975104"/>
            <a:ext cx="1344168" cy="0"/>
          </a:xfrm>
          <a:prstGeom prst="line">
            <a:avLst/>
          </a:prstGeom>
          <a:noFill/>
          <a:ln w="25400">
            <a:solidFill>
              <a:schemeClr val="accent5"/>
            </a:solidFill>
            <a:prstDash val="solid"/>
            <a:tailEnd type="triangle"/>
          </a:ln>
        </p:spPr>
        <p:txBody>
          <a:bodyPr/>
          <a:lstStyle/>
          <a:p>
            <a:endParaRPr lang="en-US"/>
          </a:p>
        </p:txBody>
      </p:sp>
      <p:sp>
        <p:nvSpPr>
          <p:cNvPr id="15" name="a3_f2_c"/>
          <p:cNvSpPr/>
          <p:nvPr/>
        </p:nvSpPr>
        <p:spPr>
          <a:xfrm>
            <a:off x="5719572" y="1600200"/>
            <a:ext cx="749808" cy="749808"/>
          </a:xfrm>
          <a:prstGeom prst="ellipse">
            <a:avLst/>
          </a:prstGeom>
          <a:solidFill>
            <a:schemeClr val="tx2"/>
          </a:solidFill>
          <a:ln/>
          <a:effectLst>
            <a:outerShdw blurRad="101600" dist="25400" dir="5400000" algn="bl" rotWithShape="0">
              <a:srgbClr val="1B2A22">
                <a:alpha val="18000"/>
              </a:srgbClr>
            </a:outerShdw>
          </a:effectLst>
        </p:spPr>
        <p:txBody>
          <a:bodyPr/>
          <a:lstStyle/>
          <a:p>
            <a:endParaRPr lang="en-US"/>
          </a:p>
        </p:txBody>
      </p:sp>
      <p:pic>
        <p:nvPicPr>
          <p:cNvPr id="16" name="a3_f2_i" descr="preencoded.png"/>
          <p:cNvPicPr>
            <a:picLocks noChangeAspect="1"/>
          </p:cNvPicPr>
          <p:nvPr/>
        </p:nvPicPr>
        <p:blipFill>
          <a:blip r:embed="rId5"/>
          <a:stretch>
            <a:fillRect/>
          </a:stretch>
        </p:blipFill>
        <p:spPr>
          <a:xfrm>
            <a:off x="5907024" y="1787652"/>
            <a:ext cx="374904" cy="374904"/>
          </a:xfrm>
          <a:prstGeom prst="rect">
            <a:avLst/>
          </a:prstGeom>
        </p:spPr>
      </p:pic>
      <p:sp>
        <p:nvSpPr>
          <p:cNvPr id="17" name="a3_fl2"/>
          <p:cNvSpPr txBox="1"/>
          <p:nvPr/>
        </p:nvSpPr>
        <p:spPr>
          <a:xfrm>
            <a:off x="5111496"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Gemini</a:t>
            </a:r>
            <a:endParaRPr lang="en-US" sz="1700" dirty="0"/>
          </a:p>
        </p:txBody>
      </p:sp>
      <p:sp>
        <p:nvSpPr>
          <p:cNvPr id="18" name="a3_fd2"/>
          <p:cNvSpPr txBox="1"/>
          <p:nvPr/>
        </p:nvSpPr>
        <p:spPr>
          <a:xfrm>
            <a:off x="5111496"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writes one query</a:t>
            </a:r>
            <a:endParaRPr lang="en-US" sz="1400" dirty="0"/>
          </a:p>
        </p:txBody>
      </p:sp>
      <p:sp>
        <p:nvSpPr>
          <p:cNvPr id="19" name="a4_fa2"/>
          <p:cNvSpPr/>
          <p:nvPr/>
        </p:nvSpPr>
        <p:spPr>
          <a:xfrm>
            <a:off x="6574536" y="1975104"/>
            <a:ext cx="1344168" cy="0"/>
          </a:xfrm>
          <a:prstGeom prst="line">
            <a:avLst/>
          </a:prstGeom>
          <a:noFill/>
          <a:ln w="25400">
            <a:solidFill>
              <a:schemeClr val="accent5"/>
            </a:solidFill>
            <a:prstDash val="solid"/>
            <a:tailEnd type="triangle"/>
          </a:ln>
        </p:spPr>
        <p:txBody>
          <a:bodyPr/>
          <a:lstStyle/>
          <a:p>
            <a:endParaRPr lang="en-US"/>
          </a:p>
        </p:txBody>
      </p:sp>
      <p:sp>
        <p:nvSpPr>
          <p:cNvPr id="20" name="a4_f3_c"/>
          <p:cNvSpPr/>
          <p:nvPr/>
        </p:nvSpPr>
        <p:spPr>
          <a:xfrm>
            <a:off x="8001000" y="1600200"/>
            <a:ext cx="749808" cy="749808"/>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1" name="a4_f3_i" descr="preencoded.png"/>
          <p:cNvPicPr>
            <a:picLocks noChangeAspect="1"/>
          </p:cNvPicPr>
          <p:nvPr/>
        </p:nvPicPr>
        <p:blipFill>
          <a:blip r:embed="rId6"/>
          <a:stretch>
            <a:fillRect/>
          </a:stretch>
        </p:blipFill>
        <p:spPr>
          <a:xfrm>
            <a:off x="8188452" y="1787652"/>
            <a:ext cx="374904" cy="374904"/>
          </a:xfrm>
          <a:prstGeom prst="rect">
            <a:avLst/>
          </a:prstGeom>
        </p:spPr>
      </p:pic>
      <p:sp>
        <p:nvSpPr>
          <p:cNvPr id="22" name="a4_fl3"/>
          <p:cNvSpPr txBox="1"/>
          <p:nvPr/>
        </p:nvSpPr>
        <p:spPr>
          <a:xfrm>
            <a:off x="7392924"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Check</a:t>
            </a:r>
            <a:endParaRPr lang="en-US" sz="1700" dirty="0"/>
          </a:p>
        </p:txBody>
      </p:sp>
      <p:sp>
        <p:nvSpPr>
          <p:cNvPr id="23" name="a4_fd3"/>
          <p:cNvSpPr txBox="1"/>
          <p:nvPr/>
        </p:nvSpPr>
        <p:spPr>
          <a:xfrm>
            <a:off x="7392924"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real terms; repair ≤ 2</a:t>
            </a:r>
            <a:endParaRPr lang="en-US" sz="1400" dirty="0"/>
          </a:p>
        </p:txBody>
      </p:sp>
      <p:sp>
        <p:nvSpPr>
          <p:cNvPr id="24" name="a5_fa3"/>
          <p:cNvSpPr/>
          <p:nvPr/>
        </p:nvSpPr>
        <p:spPr>
          <a:xfrm>
            <a:off x="8855964" y="1975104"/>
            <a:ext cx="1344168" cy="0"/>
          </a:xfrm>
          <a:prstGeom prst="line">
            <a:avLst/>
          </a:prstGeom>
          <a:noFill/>
          <a:ln w="25400">
            <a:solidFill>
              <a:schemeClr val="accent5"/>
            </a:solidFill>
            <a:prstDash val="solid"/>
            <a:tailEnd type="triangle"/>
          </a:ln>
        </p:spPr>
        <p:txBody>
          <a:bodyPr/>
          <a:lstStyle/>
          <a:p>
            <a:endParaRPr lang="en-US"/>
          </a:p>
        </p:txBody>
      </p:sp>
      <p:sp>
        <p:nvSpPr>
          <p:cNvPr id="25" name="a5_f4_c"/>
          <p:cNvSpPr/>
          <p:nvPr/>
        </p:nvSpPr>
        <p:spPr>
          <a:xfrm>
            <a:off x="10282428" y="1600200"/>
            <a:ext cx="749808" cy="749808"/>
          </a:xfrm>
          <a:prstGeom prst="ellipse">
            <a:avLst/>
          </a:prstGeom>
          <a:solidFill>
            <a:schemeClr val="accent3"/>
          </a:solidFill>
          <a:ln/>
          <a:effectLst>
            <a:outerShdw blurRad="101600" dist="25400" dir="5400000" algn="bl" rotWithShape="0">
              <a:srgbClr val="1B2A22">
                <a:alpha val="18000"/>
              </a:srgbClr>
            </a:outerShdw>
          </a:effectLst>
        </p:spPr>
        <p:txBody>
          <a:bodyPr/>
          <a:lstStyle/>
          <a:p>
            <a:endParaRPr lang="en-US"/>
          </a:p>
        </p:txBody>
      </p:sp>
      <p:pic>
        <p:nvPicPr>
          <p:cNvPr id="26" name="a5_f4_i" descr="preencoded.png"/>
          <p:cNvPicPr>
            <a:picLocks noChangeAspect="1"/>
          </p:cNvPicPr>
          <p:nvPr/>
        </p:nvPicPr>
        <p:blipFill>
          <a:blip r:embed="rId7"/>
          <a:stretch>
            <a:fillRect/>
          </a:stretch>
        </p:blipFill>
        <p:spPr>
          <a:xfrm>
            <a:off x="10469880" y="1787652"/>
            <a:ext cx="374904" cy="374904"/>
          </a:xfrm>
          <a:prstGeom prst="rect">
            <a:avLst/>
          </a:prstGeom>
        </p:spPr>
      </p:pic>
      <p:sp>
        <p:nvSpPr>
          <p:cNvPr id="27" name="a5_fl4"/>
          <p:cNvSpPr txBox="1"/>
          <p:nvPr/>
        </p:nvSpPr>
        <p:spPr>
          <a:xfrm>
            <a:off x="9674352" y="2423160"/>
            <a:ext cx="1965960" cy="365760"/>
          </a:xfrm>
          <a:prstGeom prst="rect">
            <a:avLst/>
          </a:prstGeom>
          <a:noFill/>
          <a:ln/>
        </p:spPr>
        <p:txBody>
          <a:bodyPr wrap="square" lIns="0" tIns="0" rIns="0" bIns="0" rtlCol="0" anchor="t"/>
          <a:lstStyle/>
          <a:p>
            <a:pPr marL="0" indent="0" algn="ctr">
              <a:buNone/>
            </a:pPr>
            <a:r>
              <a:rPr lang="en-US" sz="1700" b="1" dirty="0">
                <a:solidFill>
                  <a:schemeClr val="tx2"/>
                </a:solidFill>
              </a:rPr>
              <a:t>Answer or refuse</a:t>
            </a:r>
            <a:endParaRPr lang="en-US" sz="1700" dirty="0"/>
          </a:p>
        </p:txBody>
      </p:sp>
      <p:sp>
        <p:nvSpPr>
          <p:cNvPr id="28" name="a5_fd4"/>
          <p:cNvSpPr txBox="1"/>
          <p:nvPr/>
        </p:nvSpPr>
        <p:spPr>
          <a:xfrm>
            <a:off x="9674352" y="2788920"/>
            <a:ext cx="1965960" cy="365760"/>
          </a:xfrm>
          <a:prstGeom prst="rect">
            <a:avLst/>
          </a:prstGeom>
          <a:noFill/>
          <a:ln/>
        </p:spPr>
        <p:txBody>
          <a:bodyPr wrap="square" lIns="0" tIns="0" rIns="0" bIns="0" rtlCol="0" anchor="t"/>
          <a:lstStyle/>
          <a:p>
            <a:pPr marL="0" indent="0" algn="ctr">
              <a:buNone/>
            </a:pPr>
            <a:r>
              <a:rPr lang="en-US" sz="1400" dirty="0">
                <a:solidFill>
                  <a:schemeClr val="accent5"/>
                </a:solidFill>
              </a:rPr>
              <a:t>run it, or say why not</a:t>
            </a:r>
            <a:endParaRPr lang="en-US" sz="1400" dirty="0"/>
          </a:p>
        </p:txBody>
      </p:sp>
      <p:sp>
        <p:nvSpPr>
          <p:cNvPr id="29" name="a6_x1"/>
          <p:cNvSpPr/>
          <p:nvPr/>
        </p:nvSpPr>
        <p:spPr>
          <a:xfrm>
            <a:off x="548640" y="3429000"/>
            <a:ext cx="356616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30" name="a6_x1s_n"/>
          <p:cNvSpPr txBox="1"/>
          <p:nvPr/>
        </p:nvSpPr>
        <p:spPr>
          <a:xfrm>
            <a:off x="777240" y="3474720"/>
            <a:ext cx="3200400" cy="594360"/>
          </a:xfrm>
          <a:prstGeom prst="rect">
            <a:avLst/>
          </a:prstGeom>
          <a:noFill/>
          <a:ln/>
        </p:spPr>
        <p:txBody>
          <a:bodyPr wrap="square" lIns="0" tIns="0" rIns="0" bIns="0" rtlCol="0" anchor="b"/>
          <a:lstStyle/>
          <a:p>
            <a:pPr marL="0" indent="0">
              <a:buNone/>
            </a:pPr>
            <a:r>
              <a:rPr lang="en-US" sz="3000" b="1" dirty="0">
                <a:solidFill>
                  <a:schemeClr val="accent1"/>
                </a:solidFill>
              </a:rPr>
              <a:t>0.856 → 0.954</a:t>
            </a:r>
            <a:endParaRPr lang="en-US" sz="3000" dirty="0"/>
          </a:p>
        </p:txBody>
      </p:sp>
      <p:sp>
        <p:nvSpPr>
          <p:cNvPr id="31" name="a6_x1s_l"/>
          <p:cNvSpPr txBox="1"/>
          <p:nvPr/>
        </p:nvSpPr>
        <p:spPr>
          <a:xfrm>
            <a:off x="777240" y="4114800"/>
            <a:ext cx="3200400" cy="411480"/>
          </a:xfrm>
          <a:prstGeom prst="rect">
            <a:avLst/>
          </a:prstGeom>
          <a:noFill/>
          <a:ln/>
        </p:spPr>
        <p:txBody>
          <a:bodyPr wrap="square" lIns="0" tIns="0" rIns="0" bIns="0" rtlCol="0" anchor="t"/>
          <a:lstStyle/>
          <a:p>
            <a:pPr marL="0" indent="0">
              <a:buNone/>
            </a:pPr>
            <a:r>
              <a:rPr lang="en-US" sz="1400" dirty="0">
                <a:solidFill>
                  <a:schemeClr val="accent5"/>
                </a:solidFill>
              </a:rPr>
              <a:t>mean F1 on 8 questions</a:t>
            </a:r>
            <a:endParaRPr lang="en-US" sz="1400" dirty="0"/>
          </a:p>
        </p:txBody>
      </p:sp>
      <p:sp>
        <p:nvSpPr>
          <p:cNvPr id="32" name="a7_x2"/>
          <p:cNvSpPr/>
          <p:nvPr/>
        </p:nvSpPr>
        <p:spPr>
          <a:xfrm>
            <a:off x="4297680" y="3429000"/>
            <a:ext cx="3108960" cy="1417320"/>
          </a:xfrm>
          <a:prstGeom prst="roundRect">
            <a:avLst>
              <a:gd name="adj" fmla="val 9032"/>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33" name="a7_x2s_n"/>
          <p:cNvSpPr txBox="1"/>
          <p:nvPr/>
        </p:nvSpPr>
        <p:spPr>
          <a:xfrm>
            <a:off x="4526280" y="3474720"/>
            <a:ext cx="2743200" cy="594360"/>
          </a:xfrm>
          <a:prstGeom prst="rect">
            <a:avLst/>
          </a:prstGeom>
          <a:noFill/>
          <a:ln/>
        </p:spPr>
        <p:txBody>
          <a:bodyPr wrap="square" lIns="0" tIns="0" rIns="0" bIns="0" rtlCol="0" anchor="b"/>
          <a:lstStyle/>
          <a:p>
            <a:pPr marL="0" indent="0">
              <a:buNone/>
            </a:pPr>
            <a:r>
              <a:rPr lang="en-US" sz="3000" b="1" dirty="0">
                <a:solidFill>
                  <a:schemeClr val="accent1"/>
                </a:solidFill>
              </a:rPr>
              <a:t>3 of 3</a:t>
            </a:r>
            <a:endParaRPr lang="en-US" sz="3000" dirty="0"/>
          </a:p>
        </p:txBody>
      </p:sp>
      <p:sp>
        <p:nvSpPr>
          <p:cNvPr id="34" name="a7_x2s_l"/>
          <p:cNvSpPr txBox="1"/>
          <p:nvPr/>
        </p:nvSpPr>
        <p:spPr>
          <a:xfrm>
            <a:off x="4526280" y="4114800"/>
            <a:ext cx="2743200" cy="411480"/>
          </a:xfrm>
          <a:prstGeom prst="rect">
            <a:avLst/>
          </a:prstGeom>
          <a:noFill/>
          <a:ln/>
        </p:spPr>
        <p:txBody>
          <a:bodyPr wrap="square" lIns="0" tIns="0" rIns="0" bIns="0" rtlCol="0" anchor="t"/>
          <a:lstStyle/>
          <a:p>
            <a:pPr marL="0" indent="0">
              <a:buNone/>
            </a:pPr>
            <a:r>
              <a:rPr lang="en-US" sz="1400" dirty="0">
                <a:solidFill>
                  <a:schemeClr val="accent5"/>
                </a:solidFill>
              </a:rPr>
              <a:t>unanswerable questions refused</a:t>
            </a:r>
            <a:endParaRPr lang="en-US" sz="1400" dirty="0"/>
          </a:p>
        </p:txBody>
      </p:sp>
      <p:sp>
        <p:nvSpPr>
          <p:cNvPr id="35" name="a8_x3"/>
          <p:cNvSpPr/>
          <p:nvPr/>
        </p:nvSpPr>
        <p:spPr>
          <a:xfrm>
            <a:off x="7589520" y="3429000"/>
            <a:ext cx="4050792" cy="1417320"/>
          </a:xfrm>
          <a:prstGeom prst="roundRect">
            <a:avLst>
              <a:gd name="adj" fmla="val 9032"/>
            </a:avLst>
          </a:prstGeom>
          <a:solidFill>
            <a:schemeClr val="accent3">
              <a:alpha val="12000"/>
            </a:schemeClr>
          </a:solidFill>
          <a:ln/>
        </p:spPr>
        <p:txBody>
          <a:bodyPr/>
          <a:lstStyle/>
          <a:p>
            <a:endParaRPr lang="en-US"/>
          </a:p>
        </p:txBody>
      </p:sp>
      <p:sp>
        <p:nvSpPr>
          <p:cNvPr id="36" name="a8_x3q"/>
          <p:cNvSpPr txBox="1"/>
          <p:nvPr/>
        </p:nvSpPr>
        <p:spPr>
          <a:xfrm>
            <a:off x="7818120" y="3566160"/>
            <a:ext cx="3657600" cy="457200"/>
          </a:xfrm>
          <a:prstGeom prst="rect">
            <a:avLst/>
          </a:prstGeom>
          <a:noFill/>
          <a:ln/>
        </p:spPr>
        <p:txBody>
          <a:bodyPr wrap="square" lIns="0" tIns="0" rIns="0" bIns="0" rtlCol="0" anchor="t"/>
          <a:lstStyle/>
          <a:p>
            <a:pPr marL="0" indent="0">
              <a:buNone/>
            </a:pPr>
            <a:r>
              <a:rPr lang="en-US" sz="1600" b="1" dirty="0">
                <a:solidFill>
                  <a:schemeClr val="tx2"/>
                </a:solidFill>
              </a:rPr>
              <a:t>“What is the price of each food?”</a:t>
            </a:r>
            <a:endParaRPr lang="en-US" sz="1600" dirty="0"/>
          </a:p>
        </p:txBody>
      </p:sp>
      <p:sp>
        <p:nvSpPr>
          <p:cNvPr id="37" name="a8_x3a"/>
          <p:cNvSpPr txBox="1"/>
          <p:nvPr/>
        </p:nvSpPr>
        <p:spPr>
          <a:xfrm>
            <a:off x="7818120" y="4114800"/>
            <a:ext cx="3657600" cy="502920"/>
          </a:xfrm>
          <a:prstGeom prst="rect">
            <a:avLst/>
          </a:prstGeom>
          <a:noFill/>
          <a:ln/>
        </p:spPr>
        <p:txBody>
          <a:bodyPr wrap="square" lIns="0" tIns="0" rIns="0" bIns="0" rtlCol="0" anchor="t"/>
          <a:lstStyle/>
          <a:p>
            <a:pPr marL="0" indent="0">
              <a:buNone/>
            </a:pPr>
            <a:r>
              <a:rPr lang="en-US" sz="2000" b="1" dirty="0">
                <a:solidFill>
                  <a:schemeClr val="accent3"/>
                </a:solidFill>
                <a:latin typeface="Consolas" pitchFamily="34" charset="0"/>
                <a:ea typeface="Consolas" pitchFamily="34" charset="-122"/>
                <a:cs typeface="Consolas" pitchFamily="34" charset="-120"/>
              </a:rPr>
              <a:t>→ REFUSE: price</a:t>
            </a:r>
            <a:endParaRPr lang="en-US" sz="2000" dirty="0"/>
          </a:p>
        </p:txBody>
      </p:sp>
      <p:pic>
        <p:nvPicPr>
          <p:cNvPr id="38" name="a9_desc_bg" descr="preencoded.png"/>
          <p:cNvPicPr>
            <a:picLocks noChangeAspect="1"/>
          </p:cNvPicPr>
          <p:nvPr/>
        </p:nvPicPr>
        <p:blipFill>
          <a:blip r:embed="rId8"/>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39" name="a9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Users ask questions in English, and </a:t>
            </a:r>
            <a:r>
              <a:rPr lang="en-US" sz="1400" b="1" dirty="0">
                <a:solidFill>
                  <a:schemeClr val="bg1"/>
                </a:solidFill>
              </a:rPr>
              <a:t>Gemini turns them into SPARQL queries</a:t>
            </a:r>
            <a:r>
              <a:rPr lang="en-US" sz="1400" dirty="0">
                <a:solidFill>
                  <a:schemeClr val="bg1"/>
                </a:solidFill>
              </a:rPr>
              <a:t> using the graph’s description, naming rules, and three similar examples. The system checks each query and allows up to two corrections before returning results or explaining why it cannot answer. Adding examples improved the average </a:t>
            </a:r>
            <a:r>
              <a:rPr lang="en-US" sz="1400" b="1" dirty="0">
                <a:solidFill>
                  <a:schemeClr val="bg1"/>
                </a:solidFill>
              </a:rPr>
              <a:t>F1 score from 0.856 to 0.954 across eight answerable questions</a:t>
            </a:r>
            <a:r>
              <a:rPr lang="en-US" sz="1400" dirty="0">
                <a:solidFill>
                  <a:schemeClr val="bg1"/>
                </a:solidFill>
              </a:rPr>
              <a:t>. All three questions about unavailable data were refused with a clear reason.</a:t>
            </a:r>
          </a:p>
        </p:txBody>
      </p:sp>
      <p:sp>
        <p:nvSpPr>
          <p:cNvPr id="40"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childTnLst>
                          </p:cTn>
                        </p:par>
                        <p:par>
                          <p:cTn id="25" fill="hold">
                            <p:stCondLst>
                              <p:cond delay="280"/>
                            </p:stCondLst>
                            <p:childTnLst>
                              <p:par>
                                <p:cTn id="26" presetID="22" presetClass="entr" presetSubtype="8" fill="hold" grpId="0" nodeType="after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6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par>
                          <p:cTn id="41" fill="hold">
                            <p:stCondLst>
                              <p:cond delay="560"/>
                            </p:stCondLst>
                            <p:childTnLst>
                              <p:par>
                                <p:cTn id="42" presetID="22" presetClass="entr" presetSubtype="8"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600"/>
                                        <p:tgtEl>
                                          <p:spTgt spid="1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childTnLst>
                          </p:cTn>
                        </p:par>
                        <p:par>
                          <p:cTn id="57" fill="hold">
                            <p:stCondLst>
                              <p:cond delay="840"/>
                            </p:stCondLst>
                            <p:childTnLst>
                              <p:par>
                                <p:cTn id="58" presetID="22" presetClass="entr" presetSubtype="8" fill="hold" grpId="0" nodeType="after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6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childTnLst>
                          </p:cTn>
                        </p:par>
                        <p:par>
                          <p:cTn id="73" fill="hold">
                            <p:stCondLst>
                              <p:cond delay="1120"/>
                            </p:stCondLst>
                            <p:childTnLst>
                              <p:par>
                                <p:cTn id="74" presetID="22" presetClass="entr" presetSubtype="8" fill="hold" grpId="0" nodeType="after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wipe(left)">
                                      <p:cBhvr>
                                        <p:cTn id="76" dur="600"/>
                                        <p:tgtEl>
                                          <p:spTgt spid="2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500"/>
                                        <p:tgtEl>
                                          <p:spTgt spid="25"/>
                                        </p:tgtEl>
                                      </p:cBhvr>
                                    </p:animEffect>
                                  </p:childTnLst>
                                </p:cTn>
                              </p:par>
                              <p:par>
                                <p:cTn id="80" presetID="10" presetClass="entr" presetSubtype="0" fill="hold" nodeType="with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5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500"/>
                                        <p:tgtEl>
                                          <p:spTgt spid="28"/>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wipe(left)">
                                      <p:cBhvr>
                                        <p:cTn id="93" dur="600"/>
                                        <p:tgtEl>
                                          <p:spTgt spid="2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500"/>
                                        <p:tgtEl>
                                          <p:spTgt spid="31"/>
                                        </p:tgtEl>
                                      </p:cBhvr>
                                    </p:animEffect>
                                  </p:childTnLst>
                                </p:cTn>
                              </p:par>
                            </p:childTnLst>
                          </p:cTn>
                        </p:par>
                        <p:par>
                          <p:cTn id="100" fill="hold">
                            <p:stCondLst>
                              <p:cond delay="280"/>
                            </p:stCondLst>
                            <p:childTnLst>
                              <p:par>
                                <p:cTn id="101" presetID="22" presetClass="entr" presetSubtype="8" fill="hold" grpId="0" nodeType="after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wipe(left)">
                                      <p:cBhvr>
                                        <p:cTn id="103" dur="600"/>
                                        <p:tgtEl>
                                          <p:spTgt spid="3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500"/>
                                        <p:tgtEl>
                                          <p:spTgt spid="3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childTnLst>
                          </p:cTn>
                        </p:par>
                        <p:par>
                          <p:cTn id="110" fill="hold">
                            <p:stCondLst>
                              <p:cond delay="560"/>
                            </p:stCondLst>
                            <p:childTnLst>
                              <p:par>
                                <p:cTn id="111" presetID="22" presetClass="entr" presetSubtype="8" fill="hold" grpId="0" nodeType="afterEffect">
                                  <p:stCondLst>
                                    <p:cond delay="0"/>
                                  </p:stCondLst>
                                  <p:childTnLst>
                                    <p:set>
                                      <p:cBhvr>
                                        <p:cTn id="112" dur="1" fill="hold">
                                          <p:stCondLst>
                                            <p:cond delay="0"/>
                                          </p:stCondLst>
                                        </p:cTn>
                                        <p:tgtEl>
                                          <p:spTgt spid="35"/>
                                        </p:tgtEl>
                                        <p:attrNameLst>
                                          <p:attrName>style.visibility</p:attrName>
                                        </p:attrNameLst>
                                      </p:cBhvr>
                                      <p:to>
                                        <p:strVal val="visible"/>
                                      </p:to>
                                    </p:set>
                                    <p:animEffect transition="in" filter="wipe(left)">
                                      <p:cBhvr>
                                        <p:cTn id="113" dur="600"/>
                                        <p:tgtEl>
                                          <p:spTgt spid="3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500"/>
                                        <p:tgtEl>
                                          <p:spTgt spid="36"/>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childTnLst>
                          </p:cTn>
                        </p:par>
                      </p:childTnLst>
                    </p:cTn>
                  </p:par>
                  <p:par>
                    <p:cTn id="120" fill="hold">
                      <p:stCondLst>
                        <p:cond delay="indefinite"/>
                      </p:stCondLst>
                      <p:childTnLst>
                        <p:par>
                          <p:cTn id="121" fill="hold">
                            <p:stCondLst>
                              <p:cond delay="0"/>
                            </p:stCondLst>
                            <p:childTnLst>
                              <p:par>
                                <p:cTn id="122" presetID="22" presetClass="entr" presetSubtype="8" fill="hold" nodeType="clickEffect">
                                  <p:stCondLst>
                                    <p:cond delay="0"/>
                                  </p:stCondLst>
                                  <p:childTnLst>
                                    <p:set>
                                      <p:cBhvr>
                                        <p:cTn id="123" dur="1" fill="hold">
                                          <p:stCondLst>
                                            <p:cond delay="0"/>
                                          </p:stCondLst>
                                        </p:cTn>
                                        <p:tgtEl>
                                          <p:spTgt spid="38"/>
                                        </p:tgtEl>
                                        <p:attrNameLst>
                                          <p:attrName>style.visibility</p:attrName>
                                        </p:attrNameLst>
                                      </p:cBhvr>
                                      <p:to>
                                        <p:strVal val="visible"/>
                                      </p:to>
                                    </p:set>
                                    <p:animEffect transition="in" filter="wipe(left)">
                                      <p:cBhvr>
                                        <p:cTn id="124" dur="600"/>
                                        <p:tgtEl>
                                          <p:spTgt spid="38"/>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39"/>
                                        </p:tgtEl>
                                        <p:attrNameLst>
                                          <p:attrName>style.visibility</p:attrName>
                                        </p:attrNameLst>
                                      </p:cBhvr>
                                      <p:to>
                                        <p:strVal val="visible"/>
                                      </p:to>
                                    </p:set>
                                    <p:animEffect transition="in" filter="fade">
                                      <p:cBhvr>
                                        <p:cTn id="12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47472"/>
            <a:ext cx="9052560" cy="640080"/>
          </a:xfrm>
          <a:prstGeom prst="rect">
            <a:avLst/>
          </a:prstGeom>
          <a:noFill/>
          <a:ln/>
        </p:spPr>
        <p:txBody>
          <a:bodyPr wrap="square" lIns="0" tIns="0" rIns="0" bIns="0" rtlCol="0" anchor="t"/>
          <a:lstStyle/>
          <a:p>
            <a:pPr marL="0" indent="0" algn="l">
              <a:buNone/>
            </a:pPr>
            <a:r>
              <a:rPr lang="en-US" sz="3400" b="1" dirty="0">
                <a:solidFill>
                  <a:schemeClr val="tx2"/>
                </a:solidFill>
              </a:rPr>
              <a:t>Deployment and reproducibility</a:t>
            </a:r>
            <a:endParaRPr lang="en-US" sz="3400" dirty="0"/>
          </a:p>
        </p:txBody>
      </p:sp>
      <p:sp>
        <p:nvSpPr>
          <p:cNvPr id="3" name="Text 0"/>
          <p:cNvSpPr>
            <a:spLocks noGrp="1"/>
          </p:cNvSpPr>
          <p:nvPr>
            <p:ph type="body" idx="101" hasCustomPrompt="1"/>
          </p:nvPr>
        </p:nvSpPr>
        <p:spPr>
          <a:xfrm>
            <a:off x="548640" y="987552"/>
            <a:ext cx="9326880" cy="411480"/>
          </a:xfrm>
          <a:prstGeom prst="rect">
            <a:avLst/>
          </a:prstGeom>
          <a:noFill/>
          <a:ln/>
        </p:spPr>
        <p:txBody>
          <a:bodyPr wrap="square" lIns="0" tIns="0" rIns="0" bIns="0" rtlCol="0" anchor="t"/>
          <a:lstStyle/>
          <a:p>
            <a:pPr marL="0" indent="0">
              <a:buNone/>
            </a:pPr>
            <a:r>
              <a:rPr lang="en-US" sz="1900" dirty="0">
                <a:solidFill>
                  <a:schemeClr val="accent2"/>
                </a:solidFill>
              </a:rPr>
              <a:t>One command, from a clean checkout</a:t>
            </a:r>
            <a:endParaRPr lang="en-US" sz="1900" dirty="0"/>
          </a:p>
        </p:txBody>
      </p:sp>
      <p:sp>
        <p:nvSpPr>
          <p:cNvPr id="4" name="a0_chip"/>
          <p:cNvSpPr txBox="1"/>
          <p:nvPr/>
        </p:nvSpPr>
        <p:spPr>
          <a:xfrm>
            <a:off x="9720072" y="411480"/>
            <a:ext cx="1920240" cy="384048"/>
          </a:xfrm>
          <a:prstGeom prst="roundRect">
            <a:avLst>
              <a:gd name="adj" fmla="val 50000"/>
            </a:avLst>
          </a:prstGeom>
          <a:solidFill>
            <a:schemeClr val="bg1"/>
          </a:solidFill>
          <a:ln w="12700">
            <a:solidFill>
              <a:schemeClr val="accent4"/>
            </a:solidFill>
          </a:ln>
        </p:spPr>
        <p:txBody>
          <a:bodyPr wrap="square" lIns="0" tIns="0" rIns="0" bIns="0" rtlCol="0" anchor="ctr"/>
          <a:lstStyle/>
          <a:p>
            <a:pPr marL="0" indent="0" algn="ctr">
              <a:buNone/>
            </a:pPr>
            <a:r>
              <a:rPr lang="en-US" sz="1300" b="1" dirty="0">
                <a:solidFill>
                  <a:schemeClr val="accent1"/>
                </a:solidFill>
                <a:latin typeface="Consolas" pitchFamily="34" charset="0"/>
                <a:ea typeface="Consolas" pitchFamily="34" charset="-122"/>
                <a:cs typeface="Consolas" pitchFamily="34" charset="-120"/>
              </a:rPr>
              <a:t>docker-compose</a:t>
            </a:r>
            <a:endParaRPr lang="en-US" sz="1300" dirty="0"/>
          </a:p>
        </p:txBody>
      </p:sp>
      <p:sp>
        <p:nvSpPr>
          <p:cNvPr id="5" name="a1_cmd_bg"/>
          <p:cNvSpPr/>
          <p:nvPr/>
        </p:nvSpPr>
        <p:spPr>
          <a:xfrm>
            <a:off x="548640" y="1645920"/>
            <a:ext cx="5852160" cy="685800"/>
          </a:xfrm>
          <a:prstGeom prst="roundRect">
            <a:avLst>
              <a:gd name="adj" fmla="val 18667"/>
            </a:avLst>
          </a:prstGeom>
          <a:solidFill>
            <a:schemeClr val="tx1"/>
          </a:solidFill>
          <a:ln/>
          <a:effectLst>
            <a:outerShdw blurRad="127000" dist="25400" dir="5400000" algn="bl" rotWithShape="0">
              <a:srgbClr val="1B2A22">
                <a:alpha val="14000"/>
              </a:srgbClr>
            </a:outerShdw>
          </a:effectLst>
        </p:spPr>
        <p:txBody>
          <a:bodyPr/>
          <a:lstStyle/>
          <a:p>
            <a:endParaRPr lang="en-US"/>
          </a:p>
        </p:txBody>
      </p:sp>
      <p:sp>
        <p:nvSpPr>
          <p:cNvPr id="6" name="a1_cmd_tx"/>
          <p:cNvSpPr txBox="1"/>
          <p:nvPr/>
        </p:nvSpPr>
        <p:spPr>
          <a:xfrm>
            <a:off x="868680" y="1645920"/>
            <a:ext cx="5212080" cy="685800"/>
          </a:xfrm>
          <a:prstGeom prst="rect">
            <a:avLst/>
          </a:prstGeom>
          <a:noFill/>
          <a:ln/>
        </p:spPr>
        <p:txBody>
          <a:bodyPr wrap="square" lIns="0" tIns="0" rIns="0" bIns="0" rtlCol="0" anchor="ctr"/>
          <a:lstStyle/>
          <a:p>
            <a:pPr marL="0" indent="0">
              <a:buNone/>
            </a:pPr>
            <a:r>
              <a:rPr lang="en-US" sz="2200" b="1" dirty="0">
                <a:solidFill>
                  <a:schemeClr val="accent4"/>
                </a:solidFill>
                <a:latin typeface="Consolas" pitchFamily="34" charset="0"/>
                <a:ea typeface="Consolas" pitchFamily="34" charset="-122"/>
                <a:cs typeface="Consolas" pitchFamily="34" charset="-120"/>
              </a:rPr>
              <a:t>docker compose up --build</a:t>
            </a:r>
            <a:endParaRPr lang="en-US" sz="2200" dirty="0"/>
          </a:p>
        </p:txBody>
      </p:sp>
      <p:sp>
        <p:nvSpPr>
          <p:cNvPr id="7" name="a2_sv0"/>
          <p:cNvSpPr/>
          <p:nvPr/>
        </p:nvSpPr>
        <p:spPr>
          <a:xfrm>
            <a:off x="548640" y="2514600"/>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8" name="a2_svb0_c"/>
          <p:cNvSpPr/>
          <p:nvPr/>
        </p:nvSpPr>
        <p:spPr>
          <a:xfrm>
            <a:off x="685800" y="2587752"/>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9" name="a2_svb0_i" descr="preencoded.png"/>
          <p:cNvPicPr>
            <a:picLocks noChangeAspect="1"/>
          </p:cNvPicPr>
          <p:nvPr/>
        </p:nvPicPr>
        <p:blipFill>
          <a:blip r:embed="rId3"/>
          <a:stretch>
            <a:fillRect/>
          </a:stretch>
        </p:blipFill>
        <p:spPr>
          <a:xfrm>
            <a:off x="813816" y="2715768"/>
            <a:ext cx="256032" cy="256032"/>
          </a:xfrm>
          <a:prstGeom prst="rect">
            <a:avLst/>
          </a:prstGeom>
        </p:spPr>
      </p:pic>
      <p:sp>
        <p:nvSpPr>
          <p:cNvPr id="10" name="a2_svt0"/>
          <p:cNvSpPr txBox="1"/>
          <p:nvPr/>
        </p:nvSpPr>
        <p:spPr>
          <a:xfrm>
            <a:off x="1371600" y="2514600"/>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fuseki   </a:t>
            </a:r>
            <a:r>
              <a:rPr lang="en-US" sz="1500" dirty="0">
                <a:solidFill>
                  <a:schemeClr val="accent5"/>
                </a:solidFill>
              </a:rPr>
              <a:t>SPARQL endpoint on 127.0.0.1:3030</a:t>
            </a:r>
            <a:endParaRPr lang="en-US" sz="1500" dirty="0"/>
          </a:p>
        </p:txBody>
      </p:sp>
      <p:sp>
        <p:nvSpPr>
          <p:cNvPr id="11" name="a3_sv1"/>
          <p:cNvSpPr/>
          <p:nvPr/>
        </p:nvSpPr>
        <p:spPr>
          <a:xfrm>
            <a:off x="548640" y="3300984"/>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2" name="a3_svb1_c"/>
          <p:cNvSpPr/>
          <p:nvPr/>
        </p:nvSpPr>
        <p:spPr>
          <a:xfrm>
            <a:off x="685800" y="3374136"/>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3" name="a3_svb1_i" descr="preencoded.png"/>
          <p:cNvPicPr>
            <a:picLocks noChangeAspect="1"/>
          </p:cNvPicPr>
          <p:nvPr/>
        </p:nvPicPr>
        <p:blipFill>
          <a:blip r:embed="rId4"/>
          <a:stretch>
            <a:fillRect/>
          </a:stretch>
        </p:blipFill>
        <p:spPr>
          <a:xfrm>
            <a:off x="813816" y="3502152"/>
            <a:ext cx="256032" cy="256032"/>
          </a:xfrm>
          <a:prstGeom prst="rect">
            <a:avLst/>
          </a:prstGeom>
        </p:spPr>
      </p:pic>
      <p:sp>
        <p:nvSpPr>
          <p:cNvPr id="14" name="a3_svt1"/>
          <p:cNvSpPr txBox="1"/>
          <p:nvPr/>
        </p:nvSpPr>
        <p:spPr>
          <a:xfrm>
            <a:off x="1371600" y="3300984"/>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pipeline   </a:t>
            </a:r>
            <a:r>
              <a:rPr lang="en-US" sz="1500" dirty="0">
                <a:solidFill>
                  <a:schemeClr val="accent5"/>
                </a:solidFill>
              </a:rPr>
              <a:t>runs once; stops the stack on a Violation</a:t>
            </a:r>
            <a:endParaRPr lang="en-US" sz="1500" dirty="0"/>
          </a:p>
        </p:txBody>
      </p:sp>
      <p:sp>
        <p:nvSpPr>
          <p:cNvPr id="15" name="a4_sv2"/>
          <p:cNvSpPr/>
          <p:nvPr/>
        </p:nvSpPr>
        <p:spPr>
          <a:xfrm>
            <a:off x="548640" y="4087368"/>
            <a:ext cx="5852160" cy="658368"/>
          </a:xfrm>
          <a:prstGeom prst="roundRect">
            <a:avLst>
              <a:gd name="adj" fmla="val 19444"/>
            </a:avLst>
          </a:prstGeom>
          <a:solidFill>
            <a:schemeClr val="bg1"/>
          </a:solidFill>
          <a:ln w="9525">
            <a:solidFill>
              <a:srgbClr val="DCE8DF"/>
            </a:solidFill>
            <a:prstDash val="solid"/>
          </a:ln>
          <a:effectLst>
            <a:outerShdw blurRad="127000" dist="25400" dir="5400000" algn="bl" rotWithShape="0">
              <a:srgbClr val="1B2A22">
                <a:alpha val="14000"/>
              </a:srgbClr>
            </a:outerShdw>
          </a:effectLst>
        </p:spPr>
        <p:txBody>
          <a:bodyPr/>
          <a:lstStyle/>
          <a:p>
            <a:endParaRPr lang="en-US"/>
          </a:p>
        </p:txBody>
      </p:sp>
      <p:sp>
        <p:nvSpPr>
          <p:cNvPr id="16" name="a4_svb2_c"/>
          <p:cNvSpPr/>
          <p:nvPr/>
        </p:nvSpPr>
        <p:spPr>
          <a:xfrm>
            <a:off x="685800" y="4160520"/>
            <a:ext cx="512064" cy="512064"/>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17" name="a4_svb2_i" descr="preencoded.png"/>
          <p:cNvPicPr>
            <a:picLocks noChangeAspect="1"/>
          </p:cNvPicPr>
          <p:nvPr/>
        </p:nvPicPr>
        <p:blipFill>
          <a:blip r:embed="rId5"/>
          <a:stretch>
            <a:fillRect/>
          </a:stretch>
        </p:blipFill>
        <p:spPr>
          <a:xfrm>
            <a:off x="813816" y="4288536"/>
            <a:ext cx="256032" cy="256032"/>
          </a:xfrm>
          <a:prstGeom prst="rect">
            <a:avLst/>
          </a:prstGeom>
        </p:spPr>
      </p:pic>
      <p:sp>
        <p:nvSpPr>
          <p:cNvPr id="18" name="a4_svt2"/>
          <p:cNvSpPr txBox="1"/>
          <p:nvPr/>
        </p:nvSpPr>
        <p:spPr>
          <a:xfrm>
            <a:off x="1371600" y="4087368"/>
            <a:ext cx="4892040" cy="658368"/>
          </a:xfrm>
          <a:prstGeom prst="rect">
            <a:avLst/>
          </a:prstGeom>
          <a:noFill/>
          <a:ln/>
        </p:spPr>
        <p:txBody>
          <a:bodyPr wrap="square" lIns="0" tIns="0" rIns="0" bIns="0" rtlCol="0" anchor="ctr"/>
          <a:lstStyle/>
          <a:p>
            <a:pPr marL="0" indent="0">
              <a:buNone/>
            </a:pPr>
            <a:r>
              <a:rPr lang="en-US" sz="1500" b="1" dirty="0">
                <a:solidFill>
                  <a:schemeClr val="tx2"/>
                </a:solidFill>
              </a:rPr>
              <a:t>access-layer   </a:t>
            </a:r>
            <a:r>
              <a:rPr lang="en-US" sz="1500" dirty="0">
                <a:solidFill>
                  <a:schemeClr val="accent5"/>
                </a:solidFill>
              </a:rPr>
              <a:t>questions and web page on 127.0.0.1:8000</a:t>
            </a:r>
            <a:endParaRPr lang="en-US" sz="1500" dirty="0"/>
          </a:p>
        </p:txBody>
      </p:sp>
      <p:sp>
        <p:nvSpPr>
          <p:cNvPr id="19" name="a5_ck0_c"/>
          <p:cNvSpPr/>
          <p:nvPr/>
        </p:nvSpPr>
        <p:spPr>
          <a:xfrm>
            <a:off x="6858000" y="16459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0" name="a5_ck0_i" descr="preencoded.png"/>
          <p:cNvPicPr>
            <a:picLocks noChangeAspect="1"/>
          </p:cNvPicPr>
          <p:nvPr/>
        </p:nvPicPr>
        <p:blipFill>
          <a:blip r:embed="rId6"/>
          <a:stretch>
            <a:fillRect/>
          </a:stretch>
        </p:blipFill>
        <p:spPr>
          <a:xfrm>
            <a:off x="6944868" y="1732788"/>
            <a:ext cx="173736" cy="173736"/>
          </a:xfrm>
          <a:prstGeom prst="rect">
            <a:avLst/>
          </a:prstGeom>
        </p:spPr>
      </p:pic>
      <p:sp>
        <p:nvSpPr>
          <p:cNvPr id="21" name="a5_ckt0"/>
          <p:cNvSpPr txBox="1"/>
          <p:nvPr/>
        </p:nvSpPr>
        <p:spPr>
          <a:xfrm>
            <a:off x="7360920" y="1609344"/>
            <a:ext cx="4251960" cy="420624"/>
          </a:xfrm>
          <a:prstGeom prst="rect">
            <a:avLst/>
          </a:prstGeom>
          <a:noFill/>
          <a:ln/>
        </p:spPr>
        <p:txBody>
          <a:bodyPr wrap="square" lIns="0" tIns="0" rIns="0" bIns="0" rtlCol="0" anchor="ctr"/>
          <a:lstStyle/>
          <a:p>
            <a:pPr marL="0" indent="0">
              <a:buNone/>
            </a:pPr>
            <a:r>
              <a:rPr lang="en-US" sz="1500" dirty="0">
                <a:solidFill>
                  <a:schemeClr val="tx2"/>
                </a:solidFill>
              </a:rPr>
              <a:t>One command from a clean checkout</a:t>
            </a:r>
            <a:endParaRPr lang="en-US" sz="1500" dirty="0"/>
          </a:p>
        </p:txBody>
      </p:sp>
      <p:sp>
        <p:nvSpPr>
          <p:cNvPr id="22" name="a5_ck1_c"/>
          <p:cNvSpPr/>
          <p:nvPr/>
        </p:nvSpPr>
        <p:spPr>
          <a:xfrm>
            <a:off x="6858000" y="21031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3" name="a5_ck1_i" descr="preencoded.png"/>
          <p:cNvPicPr>
            <a:picLocks noChangeAspect="1"/>
          </p:cNvPicPr>
          <p:nvPr/>
        </p:nvPicPr>
        <p:blipFill>
          <a:blip r:embed="rId6"/>
          <a:stretch>
            <a:fillRect/>
          </a:stretch>
        </p:blipFill>
        <p:spPr>
          <a:xfrm>
            <a:off x="6944868" y="2189988"/>
            <a:ext cx="173736" cy="173736"/>
          </a:xfrm>
          <a:prstGeom prst="rect">
            <a:avLst/>
          </a:prstGeom>
        </p:spPr>
      </p:pic>
      <p:sp>
        <p:nvSpPr>
          <p:cNvPr id="24" name="a5_ckt1"/>
          <p:cNvSpPr txBox="1"/>
          <p:nvPr/>
        </p:nvSpPr>
        <p:spPr>
          <a:xfrm>
            <a:off x="7360920" y="2066544"/>
            <a:ext cx="4251960" cy="420624"/>
          </a:xfrm>
          <a:prstGeom prst="rect">
            <a:avLst/>
          </a:prstGeom>
          <a:noFill/>
          <a:ln/>
        </p:spPr>
        <p:txBody>
          <a:bodyPr wrap="square" lIns="0" tIns="0" rIns="0" bIns="0" rtlCol="0" anchor="ctr"/>
          <a:lstStyle/>
          <a:p>
            <a:pPr marL="0" indent="0">
              <a:buNone/>
            </a:pPr>
            <a:r>
              <a:rPr lang="en-US" sz="1500" dirty="0">
                <a:solidFill>
                  <a:schemeClr val="tx2"/>
                </a:solidFill>
              </a:rPr>
              <a:t>Ports on 127.0.0.1 only</a:t>
            </a:r>
            <a:endParaRPr lang="en-US" sz="1500" dirty="0"/>
          </a:p>
        </p:txBody>
      </p:sp>
      <p:sp>
        <p:nvSpPr>
          <p:cNvPr id="25" name="a6_ck2_c"/>
          <p:cNvSpPr/>
          <p:nvPr/>
        </p:nvSpPr>
        <p:spPr>
          <a:xfrm>
            <a:off x="6858000" y="25603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6" name="a6_ck2_i" descr="preencoded.png"/>
          <p:cNvPicPr>
            <a:picLocks noChangeAspect="1"/>
          </p:cNvPicPr>
          <p:nvPr/>
        </p:nvPicPr>
        <p:blipFill>
          <a:blip r:embed="rId6"/>
          <a:stretch>
            <a:fillRect/>
          </a:stretch>
        </p:blipFill>
        <p:spPr>
          <a:xfrm>
            <a:off x="6944868" y="2647188"/>
            <a:ext cx="173736" cy="173736"/>
          </a:xfrm>
          <a:prstGeom prst="rect">
            <a:avLst/>
          </a:prstGeom>
        </p:spPr>
      </p:pic>
      <p:sp>
        <p:nvSpPr>
          <p:cNvPr id="27" name="a6_ckt2"/>
          <p:cNvSpPr txBox="1"/>
          <p:nvPr/>
        </p:nvSpPr>
        <p:spPr>
          <a:xfrm>
            <a:off x="7360920" y="2523744"/>
            <a:ext cx="4251960" cy="420624"/>
          </a:xfrm>
          <a:prstGeom prst="rect">
            <a:avLst/>
          </a:prstGeom>
          <a:noFill/>
          <a:ln/>
        </p:spPr>
        <p:txBody>
          <a:bodyPr wrap="square" lIns="0" tIns="0" rIns="0" bIns="0" rtlCol="0" anchor="ctr"/>
          <a:lstStyle/>
          <a:p>
            <a:pPr marL="0" indent="0">
              <a:buNone/>
            </a:pPr>
            <a:r>
              <a:rPr lang="en-US" sz="1500" dirty="0">
                <a:solidFill>
                  <a:schemeClr val="tx2"/>
                </a:solidFill>
              </a:rPr>
              <a:t>Keys only in .env, never committed</a:t>
            </a:r>
            <a:endParaRPr lang="en-US" sz="1500" dirty="0"/>
          </a:p>
        </p:txBody>
      </p:sp>
      <p:sp>
        <p:nvSpPr>
          <p:cNvPr id="28" name="a6_ck3_c"/>
          <p:cNvSpPr/>
          <p:nvPr/>
        </p:nvSpPr>
        <p:spPr>
          <a:xfrm>
            <a:off x="6858000" y="30175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29" name="a6_ck3_i" descr="preencoded.png"/>
          <p:cNvPicPr>
            <a:picLocks noChangeAspect="1"/>
          </p:cNvPicPr>
          <p:nvPr/>
        </p:nvPicPr>
        <p:blipFill>
          <a:blip r:embed="rId6"/>
          <a:stretch>
            <a:fillRect/>
          </a:stretch>
        </p:blipFill>
        <p:spPr>
          <a:xfrm>
            <a:off x="6944868" y="3104388"/>
            <a:ext cx="173736" cy="173736"/>
          </a:xfrm>
          <a:prstGeom prst="rect">
            <a:avLst/>
          </a:prstGeom>
        </p:spPr>
      </p:pic>
      <p:sp>
        <p:nvSpPr>
          <p:cNvPr id="30" name="a6_ckt3"/>
          <p:cNvSpPr txBox="1"/>
          <p:nvPr/>
        </p:nvSpPr>
        <p:spPr>
          <a:xfrm>
            <a:off x="7360920" y="2980944"/>
            <a:ext cx="4251960" cy="420624"/>
          </a:xfrm>
          <a:prstGeom prst="rect">
            <a:avLst/>
          </a:prstGeom>
          <a:noFill/>
          <a:ln/>
        </p:spPr>
        <p:txBody>
          <a:bodyPr wrap="square" lIns="0" tIns="0" rIns="0" bIns="0" rtlCol="0" anchor="ctr"/>
          <a:lstStyle/>
          <a:p>
            <a:pPr marL="0" indent="0">
              <a:buNone/>
            </a:pPr>
            <a:r>
              <a:rPr lang="en-US" sz="1500" dirty="0">
                <a:solidFill>
                  <a:schemeClr val="tx2"/>
                </a:solidFill>
              </a:rPr>
              <a:t>SHACL gate before the endpoint and in CI</a:t>
            </a:r>
            <a:endParaRPr lang="en-US" sz="1500" dirty="0"/>
          </a:p>
        </p:txBody>
      </p:sp>
      <p:sp>
        <p:nvSpPr>
          <p:cNvPr id="31" name="a7_ck4_c"/>
          <p:cNvSpPr/>
          <p:nvPr/>
        </p:nvSpPr>
        <p:spPr>
          <a:xfrm>
            <a:off x="6858000" y="34747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2" name="a7_ck4_i" descr="preencoded.png"/>
          <p:cNvPicPr>
            <a:picLocks noChangeAspect="1"/>
          </p:cNvPicPr>
          <p:nvPr/>
        </p:nvPicPr>
        <p:blipFill>
          <a:blip r:embed="rId6"/>
          <a:stretch>
            <a:fillRect/>
          </a:stretch>
        </p:blipFill>
        <p:spPr>
          <a:xfrm>
            <a:off x="6944868" y="3561588"/>
            <a:ext cx="173736" cy="173736"/>
          </a:xfrm>
          <a:prstGeom prst="rect">
            <a:avLst/>
          </a:prstGeom>
        </p:spPr>
      </p:pic>
      <p:sp>
        <p:nvSpPr>
          <p:cNvPr id="33" name="a7_ckt4"/>
          <p:cNvSpPr txBox="1"/>
          <p:nvPr/>
        </p:nvSpPr>
        <p:spPr>
          <a:xfrm>
            <a:off x="7360920" y="3438144"/>
            <a:ext cx="4251960" cy="420624"/>
          </a:xfrm>
          <a:prstGeom prst="rect">
            <a:avLst/>
          </a:prstGeom>
          <a:noFill/>
          <a:ln/>
        </p:spPr>
        <p:txBody>
          <a:bodyPr wrap="square" lIns="0" tIns="0" rIns="0" bIns="0" rtlCol="0" anchor="ctr"/>
          <a:lstStyle/>
          <a:p>
            <a:pPr marL="0" indent="0">
              <a:buNone/>
            </a:pPr>
            <a:r>
              <a:rPr lang="en-US" sz="1500" dirty="0">
                <a:solidFill>
                  <a:schemeClr val="tx2"/>
                </a:solidFill>
              </a:rPr>
              <a:t>Score recorded with model and date</a:t>
            </a:r>
            <a:endParaRPr lang="en-US" sz="1500" dirty="0"/>
          </a:p>
        </p:txBody>
      </p:sp>
      <p:sp>
        <p:nvSpPr>
          <p:cNvPr id="34" name="a7_ck5_c"/>
          <p:cNvSpPr/>
          <p:nvPr/>
        </p:nvSpPr>
        <p:spPr>
          <a:xfrm>
            <a:off x="6858000" y="39319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5" name="a7_ck5_i" descr="preencoded.png"/>
          <p:cNvPicPr>
            <a:picLocks noChangeAspect="1"/>
          </p:cNvPicPr>
          <p:nvPr/>
        </p:nvPicPr>
        <p:blipFill>
          <a:blip r:embed="rId6"/>
          <a:stretch>
            <a:fillRect/>
          </a:stretch>
        </p:blipFill>
        <p:spPr>
          <a:xfrm>
            <a:off x="6944868" y="4018788"/>
            <a:ext cx="173736" cy="173736"/>
          </a:xfrm>
          <a:prstGeom prst="rect">
            <a:avLst/>
          </a:prstGeom>
        </p:spPr>
      </p:pic>
      <p:sp>
        <p:nvSpPr>
          <p:cNvPr id="36" name="a7_ckt5"/>
          <p:cNvSpPr txBox="1"/>
          <p:nvPr/>
        </p:nvSpPr>
        <p:spPr>
          <a:xfrm>
            <a:off x="7360920" y="3895344"/>
            <a:ext cx="4251960" cy="420624"/>
          </a:xfrm>
          <a:prstGeom prst="rect">
            <a:avLst/>
          </a:prstGeom>
          <a:noFill/>
          <a:ln/>
        </p:spPr>
        <p:txBody>
          <a:bodyPr wrap="square" lIns="0" tIns="0" rIns="0" bIns="0" rtlCol="0" anchor="ctr"/>
          <a:lstStyle/>
          <a:p>
            <a:pPr marL="0" indent="0">
              <a:buNone/>
            </a:pPr>
            <a:r>
              <a:rPr lang="en-US" sz="1500" dirty="0">
                <a:solidFill>
                  <a:schemeClr val="tx2"/>
                </a:solidFill>
              </a:rPr>
              <a:t>A real question refused, with a reason</a:t>
            </a:r>
            <a:endParaRPr lang="en-US" sz="1500" dirty="0"/>
          </a:p>
        </p:txBody>
      </p:sp>
      <p:sp>
        <p:nvSpPr>
          <p:cNvPr id="37" name="a8_ck6_c"/>
          <p:cNvSpPr/>
          <p:nvPr/>
        </p:nvSpPr>
        <p:spPr>
          <a:xfrm>
            <a:off x="6858000" y="4389120"/>
            <a:ext cx="347472" cy="347472"/>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38" name="a8_ck6_i" descr="preencoded.png"/>
          <p:cNvPicPr>
            <a:picLocks noChangeAspect="1"/>
          </p:cNvPicPr>
          <p:nvPr/>
        </p:nvPicPr>
        <p:blipFill>
          <a:blip r:embed="rId6"/>
          <a:stretch>
            <a:fillRect/>
          </a:stretch>
        </p:blipFill>
        <p:spPr>
          <a:xfrm>
            <a:off x="6944868" y="4475988"/>
            <a:ext cx="173736" cy="173736"/>
          </a:xfrm>
          <a:prstGeom prst="rect">
            <a:avLst/>
          </a:prstGeom>
        </p:spPr>
      </p:pic>
      <p:sp>
        <p:nvSpPr>
          <p:cNvPr id="39" name="a8_ckt6"/>
          <p:cNvSpPr txBox="1"/>
          <p:nvPr/>
        </p:nvSpPr>
        <p:spPr>
          <a:xfrm>
            <a:off x="7360920" y="4352544"/>
            <a:ext cx="4251960" cy="420624"/>
          </a:xfrm>
          <a:prstGeom prst="rect">
            <a:avLst/>
          </a:prstGeom>
          <a:noFill/>
          <a:ln/>
        </p:spPr>
        <p:txBody>
          <a:bodyPr wrap="square" lIns="0" tIns="0" rIns="0" bIns="0" rtlCol="0" anchor="ctr"/>
          <a:lstStyle/>
          <a:p>
            <a:pPr marL="0" indent="0">
              <a:buNone/>
            </a:pPr>
            <a:r>
              <a:rPr lang="en-US" sz="1500" dirty="0">
                <a:solidFill>
                  <a:schemeClr val="tx2"/>
                </a:solidFill>
              </a:rPr>
              <a:t>Provenance: source hashes in PROV-O</a:t>
            </a:r>
            <a:endParaRPr lang="en-US" sz="1500" dirty="0"/>
          </a:p>
        </p:txBody>
      </p:sp>
      <p:pic>
        <p:nvPicPr>
          <p:cNvPr id="40" name="a9_desc_bg" descr="preencoded.png"/>
          <p:cNvPicPr>
            <a:picLocks noChangeAspect="1"/>
          </p:cNvPicPr>
          <p:nvPr/>
        </p:nvPicPr>
        <p:blipFill>
          <a:blip r:embed="rId7"/>
          <a:stretch>
            <a:fillRect/>
          </a:stretch>
        </p:blipFill>
        <p:spPr>
          <a:xfrm>
            <a:off x="548640" y="5029200"/>
            <a:ext cx="11091672" cy="1261872"/>
          </a:xfrm>
          <a:prstGeom prst="rect">
            <a:avLst/>
          </a:prstGeom>
          <a:effectLst>
            <a:outerShdw blurRad="152400" dist="25400" dir="5400000" algn="bl" rotWithShape="0">
              <a:srgbClr val="1B2A22">
                <a:alpha val="25000"/>
              </a:srgbClr>
            </a:outerShdw>
          </a:effectLst>
        </p:spPr>
      </p:pic>
      <p:sp>
        <p:nvSpPr>
          <p:cNvPr id="41" name="a9_desc_tx"/>
          <p:cNvSpPr txBox="1"/>
          <p:nvPr/>
        </p:nvSpPr>
        <p:spPr>
          <a:xfrm>
            <a:off x="914400" y="5029200"/>
            <a:ext cx="10360152" cy="1261872"/>
          </a:xfrm>
          <a:prstGeom prst="rect">
            <a:avLst/>
          </a:prstGeom>
          <a:noFill/>
          <a:ln/>
        </p:spPr>
        <p:txBody>
          <a:bodyPr wrap="square" lIns="0" tIns="0" rIns="0" bIns="0" rtlCol="0" anchor="ctr"/>
          <a:lstStyle/>
          <a:p>
            <a:r>
              <a:rPr lang="en-US" sz="1400" dirty="0">
                <a:solidFill>
                  <a:schemeClr val="bg1"/>
                </a:solidFill>
              </a:rPr>
              <a:t>We start the system with </a:t>
            </a:r>
            <a:r>
              <a:rPr lang="en-US" b="1" dirty="0">
                <a:solidFill>
                  <a:schemeClr val="bg1"/>
                </a:solidFill>
              </a:rPr>
              <a:t>docker compose up --build</a:t>
            </a:r>
            <a:r>
              <a:rPr lang="en-US" sz="1400" dirty="0">
                <a:solidFill>
                  <a:schemeClr val="bg1"/>
                </a:solidFill>
              </a:rPr>
              <a:t>. </a:t>
            </a:r>
            <a:r>
              <a:rPr lang="en-US" sz="1400" b="1" dirty="0" err="1">
                <a:solidFill>
                  <a:schemeClr val="bg1"/>
                </a:solidFill>
              </a:rPr>
              <a:t>Fuseki</a:t>
            </a:r>
            <a:r>
              <a:rPr lang="en-US" sz="1400" dirty="0">
                <a:solidFill>
                  <a:schemeClr val="bg1"/>
                </a:solidFill>
              </a:rPr>
              <a:t> hosts the knowledge graph and answers SPARQL queries. The </a:t>
            </a:r>
            <a:r>
              <a:rPr lang="en-US" sz="1400" b="1" dirty="0">
                <a:solidFill>
                  <a:schemeClr val="bg1"/>
                </a:solidFill>
              </a:rPr>
              <a:t>pipeline</a:t>
            </a:r>
            <a:r>
              <a:rPr lang="en-US" sz="1400" dirty="0">
                <a:solidFill>
                  <a:schemeClr val="bg1"/>
                </a:solidFill>
              </a:rPr>
              <a:t> builds and validates the graph, stopping processing if a blocking SHACL violation is found. The </a:t>
            </a:r>
            <a:r>
              <a:rPr lang="en-US" sz="1400" b="1" dirty="0">
                <a:solidFill>
                  <a:schemeClr val="bg1"/>
                </a:solidFill>
              </a:rPr>
              <a:t>access layer</a:t>
            </a:r>
            <a:r>
              <a:rPr lang="en-US" sz="1400" dirty="0">
                <a:solidFill>
                  <a:schemeClr val="bg1"/>
                </a:solidFill>
              </a:rPr>
              <a:t> provides the web page and natural-language questions. Services are accessible only from this computer, and API keys are stored in </a:t>
            </a:r>
            <a:r>
              <a:rPr lang="en-US" dirty="0">
                <a:solidFill>
                  <a:schemeClr val="bg1"/>
                </a:solidFill>
              </a:rPr>
              <a:t>.env</a:t>
            </a:r>
            <a:r>
              <a:rPr lang="en-US" sz="1400" dirty="0">
                <a:solidFill>
                  <a:schemeClr val="bg1"/>
                </a:solidFill>
              </a:rPr>
              <a:t>. After fixing a Docker configuration issue, our clean-checkout test passed all eight pipeline steps.</a:t>
            </a:r>
          </a:p>
        </p:txBody>
      </p:sp>
      <p:sp>
        <p:nvSpPr>
          <p:cNvPr id="42" name="Slide Number Placeholder 0"/>
          <p:cNvSpPr>
            <a:spLocks noGrp="1"/>
          </p:cNvSpPr>
          <p:nvPr>
            <p:ph type="sldNum" sz="quarter" idx="4294967295"/>
          </p:nvPr>
        </p:nvSpPr>
        <p:spPr>
          <a:xfrm>
            <a:off x="11183112" y="6446520"/>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6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par>
                          <p:cTn id="19" fill="hold">
                            <p:stCondLst>
                              <p:cond delay="280"/>
                            </p:stCondLst>
                            <p:childTnLst>
                              <p:par>
                                <p:cTn id="20" presetID="22" presetClass="entr" presetSubtype="8"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6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par>
                          <p:cTn id="32" fill="hold">
                            <p:stCondLst>
                              <p:cond delay="560"/>
                            </p:stCondLst>
                            <p:childTnLst>
                              <p:par>
                                <p:cTn id="33" presetID="22" presetClass="entr" presetSubtype="8" fill="hold" grpId="0" nodeType="after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600"/>
                                        <p:tgtEl>
                                          <p:spTgt spid="1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par>
                          <p:cTn id="45" fill="hold">
                            <p:stCondLst>
                              <p:cond delay="840"/>
                            </p:stCondLst>
                            <p:childTnLst>
                              <p:par>
                                <p:cTn id="46" presetID="22" presetClass="entr" presetSubtype="8" fill="hold" grpId="0" nodeType="after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left)">
                                      <p:cBhvr>
                                        <p:cTn id="48" dur="600"/>
                                        <p:tgtEl>
                                          <p:spTgt spid="1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2" presetID="10" presetClass="entr" presetSubtype="0" fill="hold"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500"/>
                                        <p:tgtEl>
                                          <p:spTgt spid="1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2" presetID="10" presetClass="entr" presetSubtype="0" fill="hold"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childTnLst>
                          </p:cTn>
                        </p:par>
                        <p:par>
                          <p:cTn id="78" fill="hold">
                            <p:stCondLst>
                              <p:cond delay="280"/>
                            </p:stCondLst>
                            <p:childTnLst>
                              <p:par>
                                <p:cTn id="79" presetID="10" presetClass="entr" presetSubtype="0" fill="hold" grpId="0" nodeType="after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nodeType="with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par>
                                <p:cTn id="91" presetID="10" presetClass="entr" presetSubtype="0" fill="hold"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500"/>
                                        <p:tgtEl>
                                          <p:spTgt spid="2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childTnLst>
                          </p:cTn>
                        </p:par>
                        <p:par>
                          <p:cTn id="97" fill="hold">
                            <p:stCondLst>
                              <p:cond delay="560"/>
                            </p:stCondLst>
                            <p:childTnLst>
                              <p:par>
                                <p:cTn id="98" presetID="10" presetClass="entr" presetSubtype="0" fill="hold" grpId="0" nodeType="afterEffect">
                                  <p:stCondLst>
                                    <p:cond delay="0"/>
                                  </p:stCondLst>
                                  <p:childTnLst>
                                    <p:set>
                                      <p:cBhvr>
                                        <p:cTn id="99" dur="1" fill="hold">
                                          <p:stCondLst>
                                            <p:cond delay="0"/>
                                          </p:stCondLst>
                                        </p:cTn>
                                        <p:tgtEl>
                                          <p:spTgt spid="31"/>
                                        </p:tgtEl>
                                        <p:attrNameLst>
                                          <p:attrName>style.visibility</p:attrName>
                                        </p:attrNameLst>
                                      </p:cBhvr>
                                      <p:to>
                                        <p:strVal val="visible"/>
                                      </p:to>
                                    </p:set>
                                    <p:animEffect transition="in" filter="fade">
                                      <p:cBhvr>
                                        <p:cTn id="100" dur="500"/>
                                        <p:tgtEl>
                                          <p:spTgt spid="31"/>
                                        </p:tgtEl>
                                      </p:cBhvr>
                                    </p:animEffect>
                                  </p:childTnLst>
                                </p:cTn>
                              </p:par>
                              <p:par>
                                <p:cTn id="101" presetID="10" presetClass="entr" presetSubtype="0" fill="hold"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500"/>
                                        <p:tgtEl>
                                          <p:spTgt spid="3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500"/>
                                        <p:tgtEl>
                                          <p:spTgt spid="3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par>
                                <p:cTn id="110" presetID="10" presetClass="entr" presetSubtype="0" fill="hold"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childTnLst>
                          </p:cTn>
                        </p:par>
                        <p:par>
                          <p:cTn id="116" fill="hold">
                            <p:stCondLst>
                              <p:cond delay="840"/>
                            </p:stCondLst>
                            <p:childTnLst>
                              <p:par>
                                <p:cTn id="117" presetID="10" presetClass="entr" presetSubtype="0" fill="hold" grpId="0" nodeType="afterEffect">
                                  <p:stCondLst>
                                    <p:cond delay="0"/>
                                  </p:stCondLst>
                                  <p:childTnLst>
                                    <p:set>
                                      <p:cBhvr>
                                        <p:cTn id="118" dur="1" fill="hold">
                                          <p:stCondLst>
                                            <p:cond delay="0"/>
                                          </p:stCondLst>
                                        </p:cTn>
                                        <p:tgtEl>
                                          <p:spTgt spid="37"/>
                                        </p:tgtEl>
                                        <p:attrNameLst>
                                          <p:attrName>style.visibility</p:attrName>
                                        </p:attrNameLst>
                                      </p:cBhvr>
                                      <p:to>
                                        <p:strVal val="visible"/>
                                      </p:to>
                                    </p:set>
                                    <p:animEffect transition="in" filter="fade">
                                      <p:cBhvr>
                                        <p:cTn id="119" dur="500"/>
                                        <p:tgtEl>
                                          <p:spTgt spid="37"/>
                                        </p:tgtEl>
                                      </p:cBhvr>
                                    </p:animEffect>
                                  </p:childTnLst>
                                </p:cTn>
                              </p:par>
                              <p:par>
                                <p:cTn id="120" presetID="10" presetClass="entr" presetSubtype="0" fill="hold" nodeType="withEffect">
                                  <p:stCondLst>
                                    <p:cond delay="0"/>
                                  </p:stCondLst>
                                  <p:childTnLst>
                                    <p:set>
                                      <p:cBhvr>
                                        <p:cTn id="121" dur="1" fill="hold">
                                          <p:stCondLst>
                                            <p:cond delay="0"/>
                                          </p:stCondLst>
                                        </p:cTn>
                                        <p:tgtEl>
                                          <p:spTgt spid="38"/>
                                        </p:tgtEl>
                                        <p:attrNameLst>
                                          <p:attrName>style.visibility</p:attrName>
                                        </p:attrNameLst>
                                      </p:cBhvr>
                                      <p:to>
                                        <p:strVal val="visible"/>
                                      </p:to>
                                    </p:set>
                                    <p:animEffect transition="in" filter="fade">
                                      <p:cBhvr>
                                        <p:cTn id="122" dur="500"/>
                                        <p:tgtEl>
                                          <p:spTgt spid="3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Effect transition="in" filter="fade">
                                      <p:cBhvr>
                                        <p:cTn id="125" dur="500"/>
                                        <p:tgtEl>
                                          <p:spTgt spid="39"/>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nodeType="clickEffect">
                                  <p:stCondLst>
                                    <p:cond delay="0"/>
                                  </p:stCondLst>
                                  <p:childTnLst>
                                    <p:set>
                                      <p:cBhvr>
                                        <p:cTn id="129" dur="1" fill="hold">
                                          <p:stCondLst>
                                            <p:cond delay="0"/>
                                          </p:stCondLst>
                                        </p:cTn>
                                        <p:tgtEl>
                                          <p:spTgt spid="40"/>
                                        </p:tgtEl>
                                        <p:attrNameLst>
                                          <p:attrName>style.visibility</p:attrName>
                                        </p:attrNameLst>
                                      </p:cBhvr>
                                      <p:to>
                                        <p:strVal val="visible"/>
                                      </p:to>
                                    </p:set>
                                    <p:animEffect transition="in" filter="wipe(left)">
                                      <p:cBhvr>
                                        <p:cTn id="130" dur="600"/>
                                        <p:tgtEl>
                                          <p:spTgt spid="40"/>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Effect transition="in" filter="fade">
                                      <p:cBhvr>
                                        <p:cTn id="13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3" grpId="0" animBg="1"/>
      <p:bldP spid="34" grpId="0" animBg="1"/>
      <p:bldP spid="36" grpId="0" animBg="1"/>
      <p:bldP spid="37" grpId="0" animBg="1"/>
      <p:bldP spid="39" grpId="0" animBg="1"/>
      <p:bldP spid="4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325880"/>
            <a:ext cx="7863840" cy="1600200"/>
          </a:xfrm>
          <a:prstGeom prst="rect">
            <a:avLst/>
          </a:prstGeom>
          <a:noFill/>
          <a:ln/>
        </p:spPr>
        <p:txBody>
          <a:bodyPr wrap="square" lIns="0" tIns="0" rIns="0" bIns="0" rtlCol="0" anchor="b"/>
          <a:lstStyle/>
          <a:p>
            <a:pPr marL="0" indent="0" algn="l">
              <a:buNone/>
            </a:pPr>
            <a:r>
              <a:rPr lang="en-US" sz="4400" b="1" dirty="0">
                <a:solidFill>
                  <a:schemeClr val="bg1"/>
                </a:solidFill>
              </a:rPr>
              <a:t>Thank you</a:t>
            </a:r>
            <a:endParaRPr lang="en-US" sz="4400" dirty="0"/>
          </a:p>
        </p:txBody>
      </p:sp>
      <p:sp>
        <p:nvSpPr>
          <p:cNvPr id="3" name="a1_demo"/>
          <p:cNvSpPr txBox="1"/>
          <p:nvPr/>
        </p:nvSpPr>
        <p:spPr>
          <a:xfrm>
            <a:off x="731520" y="3108960"/>
            <a:ext cx="7498080" cy="502920"/>
          </a:xfrm>
          <a:prstGeom prst="rect">
            <a:avLst/>
          </a:prstGeom>
          <a:noFill/>
          <a:ln/>
        </p:spPr>
        <p:txBody>
          <a:bodyPr wrap="square" lIns="0" tIns="0" rIns="0" bIns="0" rtlCol="0" anchor="t"/>
          <a:lstStyle/>
          <a:p>
            <a:pPr marL="0" indent="0">
              <a:buNone/>
            </a:pPr>
            <a:r>
              <a:rPr lang="en-US" sz="2400" dirty="0">
                <a:solidFill>
                  <a:schemeClr val="bg2"/>
                </a:solidFill>
              </a:rPr>
              <a:t>Live demo: one question answered, one refused</a:t>
            </a:r>
            <a:endParaRPr lang="en-US" sz="2400" dirty="0"/>
          </a:p>
        </p:txBody>
      </p:sp>
      <p:sp>
        <p:nvSpPr>
          <p:cNvPr id="4" name="a2_q"/>
          <p:cNvSpPr txBox="1"/>
          <p:nvPr/>
        </p:nvSpPr>
        <p:spPr>
          <a:xfrm>
            <a:off x="731520" y="3840480"/>
            <a:ext cx="7498080" cy="548640"/>
          </a:xfrm>
          <a:prstGeom prst="rect">
            <a:avLst/>
          </a:prstGeom>
          <a:noFill/>
          <a:ln/>
        </p:spPr>
        <p:txBody>
          <a:bodyPr wrap="square" lIns="0" tIns="0" rIns="0" bIns="0" rtlCol="0" anchor="t"/>
          <a:lstStyle/>
          <a:p>
            <a:pPr marL="0" indent="0">
              <a:buNone/>
            </a:pPr>
            <a:r>
              <a:rPr lang="en-US" sz="2600" b="1" dirty="0">
                <a:solidFill>
                  <a:schemeClr val="accent2"/>
                </a:solidFill>
              </a:rPr>
              <a:t>Questions?</a:t>
            </a:r>
            <a:endParaRPr lang="en-US" sz="2600" dirty="0"/>
          </a:p>
        </p:txBody>
      </p:sp>
      <p:sp>
        <p:nvSpPr>
          <p:cNvPr id="5" name="a3_names"/>
          <p:cNvSpPr txBox="1"/>
          <p:nvPr/>
        </p:nvSpPr>
        <p:spPr>
          <a:xfrm>
            <a:off x="731520" y="4846320"/>
            <a:ext cx="7498080" cy="457200"/>
          </a:xfrm>
          <a:prstGeom prst="rect">
            <a:avLst/>
          </a:prstGeom>
          <a:noFill/>
          <a:ln/>
        </p:spPr>
        <p:txBody>
          <a:bodyPr wrap="square" lIns="0" tIns="0" rIns="0" bIns="0" rtlCol="0" anchor="t"/>
          <a:lstStyle/>
          <a:p>
            <a:pPr marL="0" indent="0">
              <a:buNone/>
            </a:pPr>
            <a:r>
              <a:rPr lang="en-US" sz="2000" b="1" dirty="0">
                <a:solidFill>
                  <a:schemeClr val="bg1"/>
                </a:solidFill>
              </a:rPr>
              <a:t>Mohammed Zaiter   ·   Ali Tarhini</a:t>
            </a:r>
            <a:endParaRPr lang="en-US" sz="2000" dirty="0"/>
          </a:p>
        </p:txBody>
      </p:sp>
      <p:sp>
        <p:nvSpPr>
          <p:cNvPr id="6" name="a1_leaf_c"/>
          <p:cNvSpPr/>
          <p:nvPr/>
        </p:nvSpPr>
        <p:spPr>
          <a:xfrm>
            <a:off x="8778240" y="1920240"/>
            <a:ext cx="2377440" cy="2377440"/>
          </a:xfrm>
          <a:prstGeom prst="ellipse">
            <a:avLst/>
          </a:prstGeom>
          <a:solidFill>
            <a:schemeClr val="accent1"/>
          </a:solidFill>
          <a:ln/>
          <a:effectLst>
            <a:outerShdw blurRad="101600" dist="25400" dir="5400000" algn="bl" rotWithShape="0">
              <a:srgbClr val="1B2A22">
                <a:alpha val="18000"/>
              </a:srgbClr>
            </a:outerShdw>
          </a:effectLst>
        </p:spPr>
        <p:txBody>
          <a:bodyPr/>
          <a:lstStyle/>
          <a:p>
            <a:endParaRPr lang="en-US"/>
          </a:p>
        </p:txBody>
      </p:sp>
      <p:pic>
        <p:nvPicPr>
          <p:cNvPr id="7" name="a1_leaf_i" descr="preencoded.png"/>
          <p:cNvPicPr>
            <a:picLocks noChangeAspect="1"/>
          </p:cNvPicPr>
          <p:nvPr/>
        </p:nvPicPr>
        <p:blipFill>
          <a:blip r:embed="rId3"/>
          <a:stretch>
            <a:fillRect/>
          </a:stretch>
        </p:blipFill>
        <p:spPr>
          <a:xfrm>
            <a:off x="9372600" y="2514600"/>
            <a:ext cx="1188720" cy="11887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28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par>
                          <p:cTn id="18" fill="hold">
                            <p:stCondLst>
                              <p:cond delay="560"/>
                            </p:stCondLst>
                            <p:childTnLst>
                              <p:par>
                                <p:cTn id="19" presetID="10"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par>
                          <p:cTn id="22" fill="hold">
                            <p:stCondLst>
                              <p:cond delay="840"/>
                            </p:stCondLst>
                            <p:childTnLst>
                              <p:par>
                                <p:cTn id="23" presetID="10" presetClass="entr" presetSubtype="0" fill="hold" grpId="0"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Lst>
  </p:timing>
</p:sld>
</file>

<file path=ppt/theme/theme1.xml><?xml version="1.0" encoding="utf-8"?>
<a:theme xmlns:a="http://schemas.openxmlformats.org/drawingml/2006/main" name="FoodScope">
  <a:themeElements>
    <a:clrScheme name="FoodScope">
      <a:dk1>
        <a:srgbClr val="1B2A22"/>
      </a:dk1>
      <a:lt1>
        <a:srgbClr val="FFFFFF"/>
      </a:lt1>
      <a:dk2>
        <a:srgbClr val="1F4D3A"/>
      </a:dk2>
      <a:lt2>
        <a:srgbClr val="EDF4EE"/>
      </a:lt2>
      <a:accent1>
        <a:srgbClr val="2E7D57"/>
      </a:accent1>
      <a:accent2>
        <a:srgbClr val="F2994A"/>
      </a:accent2>
      <a:accent3>
        <a:srgbClr val="D9534F"/>
      </a:accent3>
      <a:accent4>
        <a:srgbClr val="7FB77E"/>
      </a:accent4>
      <a:accent5>
        <a:srgbClr val="5E6E66"/>
      </a:accent5>
      <a:accent6>
        <a:srgbClr val="F6C85F"/>
      </a:accent6>
      <a:hlink>
        <a:srgbClr val="2E7D57"/>
      </a:hlink>
      <a:folHlink>
        <a:srgbClr val="1F4D3A"/>
      </a:folHlink>
    </a:clrScheme>
    <a:fontScheme name="FoodScop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1377</Words>
  <Application>Microsoft Office PowerPoint</Application>
  <PresentationFormat>Widescreen</PresentationFormat>
  <Paragraphs>184</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Consolas</vt:lpstr>
      <vt:lpstr>Segoe UI</vt:lpstr>
      <vt:lpstr>FoodScope</vt:lpstr>
      <vt:lpstr>Knowledge Representation and Reasoning</vt:lpstr>
      <vt:lpstr>FoodScope</vt:lpstr>
      <vt:lpstr>Problem and scope</vt:lpstr>
      <vt:lpstr>Data and constraints</vt:lpstr>
      <vt:lpstr>Ontology</vt:lpstr>
      <vt:lpstr>Validation with SHACL</vt:lpstr>
      <vt:lpstr>Data integration</vt:lpstr>
      <vt:lpstr>Learning over the graph</vt:lpstr>
      <vt:lpstr>Access layer</vt:lpstr>
      <vt:lpstr>Deployment and reproducibility</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FoodScope</dc:title>
  <dc:subject>PptxGenJS Presentation</dc:subject>
  <dc:creator>Mohammed Zaiter, Ali Tarhini</dc:creator>
  <cp:lastModifiedBy>Mohammed Zaiter</cp:lastModifiedBy>
  <cp:revision>13</cp:revision>
  <dcterms:created xsi:type="dcterms:W3CDTF">2026-10-18T18:57:01Z</dcterms:created>
  <dcterms:modified xsi:type="dcterms:W3CDTF">2026-10-20T09:42:47Z</dcterms:modified>
</cp:coreProperties>
</file>